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0" r:id="rId1"/>
    <p:sldMasterId id="2147483692" r:id="rId2"/>
  </p:sldMasterIdLst>
  <p:notesMasterIdLst>
    <p:notesMasterId r:id="rId12"/>
  </p:notesMasterIdLst>
  <p:sldIdLst>
    <p:sldId id="408" r:id="rId3"/>
    <p:sldId id="382" r:id="rId4"/>
    <p:sldId id="260" r:id="rId5"/>
    <p:sldId id="262" r:id="rId6"/>
    <p:sldId id="281" r:id="rId7"/>
    <p:sldId id="410" r:id="rId8"/>
    <p:sldId id="409" r:id="rId9"/>
    <p:sldId id="411" r:id="rId10"/>
    <p:sldId id="41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B986D2-E8C1-4D0A-990C-749DED7ABA5E}">
          <p14:sldIdLst>
            <p14:sldId id="408"/>
            <p14:sldId id="382"/>
            <p14:sldId id="260"/>
            <p14:sldId id="262"/>
            <p14:sldId id="281"/>
            <p14:sldId id="410"/>
            <p14:sldId id="409"/>
            <p14:sldId id="411"/>
            <p14:sldId id="412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34EB0B-E988-8150-0281-4755A9995831}" name="Cunha, Ester EMLI:EX" initials="EC" userId="S::Ester.Cunha@gov.bc.ca::43210c9d-d226-4927-97d5-4cc5fd043397" providerId="AD"/>
  <p188:author id="{879A7216-BEF8-9AA7-2DAF-F33553B25571}" name="Patel, Radha" initials="RP" userId="S::Radha.Patel@aecom.com::ceaa0764-2662-4ab6-a9aa-6a0e6cc4efe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1B3E8"/>
    <a:srgbClr val="3392E7"/>
    <a:srgbClr val="318DDE"/>
    <a:srgbClr val="5EBA47"/>
    <a:srgbClr val="17486A"/>
    <a:srgbClr val="3E8EDE"/>
    <a:srgbClr val="036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7" autoAdjust="0"/>
    <p:restoredTop sz="88382" autoAdjust="0"/>
  </p:normalViewPr>
  <p:slideViewPr>
    <p:cSldViewPr snapToGrid="0">
      <p:cViewPr varScale="1">
        <p:scale>
          <a:sx n="99" d="100"/>
          <a:sy n="99" d="100"/>
        </p:scale>
        <p:origin x="208" y="42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45" d="100"/>
        <a:sy n="4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FDE8E-C9EA-4A43-8789-DFF19C510078}" type="datetimeFigureOut">
              <a:rPr lang="en-US" smtClean="0"/>
              <a:t>5/27/25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56F99-1514-4F4B-89CD-D1870C008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F5108-A04B-D54A-6BB4-DFFDDC2BB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A6C52-FFFA-31D7-49F3-2A4E953B4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DB654-0AE3-D836-8AFD-274564DA9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Climate change, biodiversity, water consumption, modern slavery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Carbon tariffs, due diligence directive, etc – 16 regs just in EU plus US IRA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80 Euro/ton tariff , market access, access to capital, consumer price uplift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60% of claims have no evidence and 40% are false or misleading – will get worse.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Sunlight is the best auditor – transparency – fair for legitimate traders, un-sustainable behaviour nowhere to hide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364A2-EE02-CEF5-A80D-7297FC199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4847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068C3-8F6A-812F-CBF5-7E618964D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EAB25-49DF-4D60-7177-5EC2594EB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E3EEA7-B6DC-99AC-D5E3-DBBE9B2A1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B016E-DD92-7E55-69FB-C177D1BD9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470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1C7B9-C6FB-C04E-BE95-D90F4CF3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262884-83FE-F37E-648D-0B6BCE376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F24FF-A524-3DC0-737E-629EF5D89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B6377-1D78-A9CF-B1CB-89E53A1E3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7A552B-6A50-9E42-A11A-CDDB958DC79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7561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43B57-B862-6A37-6859-66DA1372A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C10901-AD5A-6A94-A073-0440FA698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2A794-2760-780C-E8D7-EC19B2D32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7F284-3780-8672-D623-B585CD86D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7A552B-6A50-9E42-A11A-CDDB958DC79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0479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Traceability events link the data.  Credentials means you can trust the data. Entry point at any product /passport. </a:t>
            </a:r>
          </a:p>
          <a:p>
            <a:r>
              <a:rPr lang="en-AU" dirty="0"/>
              <a:t>Product linking adds robustness – chain doesn’t break when some parties aren’t connected.</a:t>
            </a:r>
          </a:p>
          <a:p>
            <a:r>
              <a:rPr lang="en-AU" dirty="0"/>
              <a:t>Did this in AU in a matter of weeks – which verifies that this is indeed cheap and easy.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734552-1ECE-3F4E-885C-0196F83BD32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2977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EE418-5C46-C679-BADE-C255FED65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AABE5-B6CF-CA6C-517C-EB2F17DDE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77320-658C-A0EE-F61D-5EAFAC961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A6DA0-8778-1940-1E5A-0BE8E64BE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7A552B-6A50-9E42-A11A-CDDB958DC79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354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727AB-25EF-B309-6127-9F035D133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ECC9E-8B15-CC79-50AC-9582205AA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0B098-5BEA-9FBF-5BAD-0B90E5C28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875CB-ACE8-F2D4-B9DB-9E6464E19B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7A552B-6A50-9E42-A11A-CDDB958DC79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869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7E770-B9B1-BAC0-50B2-EA81DFAF7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EDB62-4A1E-A8BB-A14A-A2AC4BE70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2257FE-FFF2-7545-2173-EC2F7A2D9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73F0D-5BCB-8382-6FEE-BD7749749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7A552B-6A50-9E42-A11A-CDDB958DC79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0337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867BE-61A6-4B6E-19B9-EB4422656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D46F1-ECEF-D037-38CA-FC3D50201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91876D-6DE9-4441-896C-9CEEEBAC6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2689D-8D99-0101-7904-A3D8407A4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7A552B-6A50-9E42-A11A-CDDB958DC79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450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F160B-3A44-4C3B-BCEA-BD19AB6803E9}" type="datetime1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09506-28EA-4C19-A061-02E7C9DE017B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A4A9B5-7A37-EB74-653F-000671432CFE}"/>
              </a:ext>
            </a:extLst>
          </p:cNvPr>
          <p:cNvGrpSpPr/>
          <p:nvPr userDrawn="1"/>
        </p:nvGrpSpPr>
        <p:grpSpPr>
          <a:xfrm>
            <a:off x="7841743" y="193893"/>
            <a:ext cx="4110378" cy="6665283"/>
            <a:chOff x="6371416" y="193892"/>
            <a:chExt cx="3339682" cy="666528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7468F0F-755F-76A9-F7CF-B730EAC5DC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7259247" y="193892"/>
              <a:ext cx="1564020" cy="3695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B16796D-9429-3C0B-65EB-AA13A0EE8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71416" y="636953"/>
              <a:ext cx="3339682" cy="6222222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9A46A2A-D903-03FB-8396-8121CD2210D0}"/>
              </a:ext>
            </a:extLst>
          </p:cNvPr>
          <p:cNvSpPr/>
          <p:nvPr userDrawn="1"/>
        </p:nvSpPr>
        <p:spPr>
          <a:xfrm>
            <a:off x="0" y="0"/>
            <a:ext cx="382641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3148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05E0-37E7-4BCD-BA8D-3C81CE89C100}" type="datetime1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09506-28EA-4C19-A061-02E7C9DE01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21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2340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245A-2362-40A2-9432-11E173A2FE35}" type="datetime1">
              <a:rPr lang="en-US" smtClean="0"/>
              <a:t>5/27/25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09506-28EA-4C19-A061-02E7C9DE0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2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86519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389D0-0F06-4052-931B-BC5D7EEFC8E9}" type="datetime1">
              <a:rPr lang="en-US" smtClean="0"/>
              <a:t>5/27/25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09506-28EA-4C19-A061-02E7C9DE0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2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C4FA-4788-483E-AD3A-36A4714E3E4D}" type="datetime1">
              <a:rPr lang="en-US" smtClean="0"/>
              <a:t>5/27/25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09506-28EA-4C19-A061-02E7C9DE0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37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58153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86578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10292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88213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61989" y="1223889"/>
            <a:ext cx="4781737" cy="4953074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2064" y="1223889"/>
            <a:ext cx="4781737" cy="4953074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/>
          <a:lstStyle/>
          <a:p>
            <a:fld id="{9A38245A-2362-40A2-9432-11E173A2FE35}" type="datetime1">
              <a:rPr lang="en-US" smtClean="0"/>
              <a:t>5/27/25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1" y="635635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/>
          <a:lstStyle/>
          <a:p>
            <a:fld id="{FEB09506-28EA-4C19-A061-02E7C9DE017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461989" y="365128"/>
            <a:ext cx="9891812" cy="704018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320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1429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1989" y="1248536"/>
            <a:ext cx="4781737" cy="41195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3392E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72064" y="1251521"/>
            <a:ext cx="4783326" cy="41195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3392E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/>
          <a:lstStyle/>
          <a:p>
            <a:fld id="{6FB96879-471E-46C8-A813-F70B84DA637C}" type="datetime1">
              <a:rPr lang="en-US" smtClean="0"/>
              <a:t>5/27/25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1" y="635635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/>
          <a:lstStyle/>
          <a:p>
            <a:fld id="{FEB09506-28EA-4C19-A061-02E7C9DE017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461989" y="365128"/>
            <a:ext cx="9891812" cy="704018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320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3"/>
          </p:nvPr>
        </p:nvSpPr>
        <p:spPr>
          <a:xfrm>
            <a:off x="1461989" y="1842868"/>
            <a:ext cx="4781737" cy="433409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6572064" y="1842868"/>
            <a:ext cx="4781738" cy="433409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358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/>
          <a:lstStyle/>
          <a:p>
            <a:fld id="{81A389D0-0F06-4052-931B-BC5D7EEFC8E9}" type="datetime1">
              <a:rPr lang="en-US" smtClean="0"/>
              <a:t>5/27/25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1" y="635635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/>
          <a:lstStyle/>
          <a:p>
            <a:fld id="{FEB09506-28EA-4C19-A061-02E7C9DE017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461989" y="365128"/>
            <a:ext cx="9891812" cy="704018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320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941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9" indent="0" algn="ctr">
              <a:buNone/>
              <a:defRPr sz="2000"/>
            </a:lvl2pPr>
            <a:lvl3pPr marL="914418" indent="0" algn="ctr">
              <a:buNone/>
              <a:defRPr sz="1800"/>
            </a:lvl3pPr>
            <a:lvl4pPr marL="1371627" indent="0" algn="ctr">
              <a:buNone/>
              <a:defRPr sz="1600"/>
            </a:lvl4pPr>
            <a:lvl5pPr marL="1828837" indent="0" algn="ctr">
              <a:buNone/>
              <a:defRPr sz="1600"/>
            </a:lvl5pPr>
            <a:lvl6pPr marL="2286046" indent="0" algn="ctr">
              <a:buNone/>
              <a:defRPr sz="1600"/>
            </a:lvl6pPr>
            <a:lvl7pPr marL="2743255" indent="0" algn="ctr">
              <a:buNone/>
              <a:defRPr sz="1600"/>
            </a:lvl7pPr>
            <a:lvl8pPr marL="3200464" indent="0" algn="ctr">
              <a:buNone/>
              <a:defRPr sz="1600"/>
            </a:lvl8pPr>
            <a:lvl9pPr marL="3657673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B0F8-5D2D-CC4F-86C0-479A81AB0558}" type="datetimeFigureOut">
              <a:rPr lang="en-AU" smtClean="0"/>
              <a:t>27/5/2025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3DE3C-D6AA-C547-9D71-D163B7D9BD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60387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B0F8-5D2D-CC4F-86C0-479A81AB0558}" type="datetimeFigureOut">
              <a:rPr lang="en-AU" smtClean="0"/>
              <a:t>27/5/2025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3DE3C-D6AA-C547-9D71-D163B7D9BD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50552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8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3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5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6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7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B0F8-5D2D-CC4F-86C0-479A81AB0558}" type="datetimeFigureOut">
              <a:rPr lang="en-AU" smtClean="0"/>
              <a:t>27/5/2025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3DE3C-D6AA-C547-9D71-D163B7D9BD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32892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B0F8-5D2D-CC4F-86C0-479A81AB0558}" type="datetimeFigureOut">
              <a:rPr lang="en-AU" smtClean="0"/>
              <a:t>27/5/2025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3DE3C-D6AA-C547-9D71-D163B7D9BD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40196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B0F8-5D2D-CC4F-86C0-479A81AB0558}" type="datetimeFigureOut">
              <a:rPr lang="en-AU" smtClean="0"/>
              <a:t>27/5/2025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3DE3C-D6AA-C547-9D71-D163B7D9BD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13170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B0F8-5D2D-CC4F-86C0-479A81AB0558}" type="datetimeFigureOut">
              <a:rPr lang="en-AU" smtClean="0"/>
              <a:t>27/5/2025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3DE3C-D6AA-C547-9D71-D163B7D9BD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99375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B0F8-5D2D-CC4F-86C0-479A81AB0558}" type="datetimeFigureOut">
              <a:rPr lang="en-AU" smtClean="0"/>
              <a:t>27/5/2025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3DE3C-D6AA-C547-9D71-D163B7D9BD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429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B0F8-5D2D-CC4F-86C0-479A81AB0558}" type="datetimeFigureOut">
              <a:rPr lang="en-AU" smtClean="0"/>
              <a:t>27/5/2025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3DE3C-D6AA-C547-9D71-D163B7D9BD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65826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9" indent="0">
              <a:buNone/>
              <a:defRPr sz="2800"/>
            </a:lvl2pPr>
            <a:lvl3pPr marL="914418" indent="0">
              <a:buNone/>
              <a:defRPr sz="2400"/>
            </a:lvl3pPr>
            <a:lvl4pPr marL="1371627" indent="0">
              <a:buNone/>
              <a:defRPr sz="2000"/>
            </a:lvl4pPr>
            <a:lvl5pPr marL="1828837" indent="0">
              <a:buNone/>
              <a:defRPr sz="2000"/>
            </a:lvl5pPr>
            <a:lvl6pPr marL="2286046" indent="0">
              <a:buNone/>
              <a:defRPr sz="2000"/>
            </a:lvl6pPr>
            <a:lvl7pPr marL="2743255" indent="0">
              <a:buNone/>
              <a:defRPr sz="2000"/>
            </a:lvl7pPr>
            <a:lvl8pPr marL="3200464" indent="0">
              <a:buNone/>
              <a:defRPr sz="2000"/>
            </a:lvl8pPr>
            <a:lvl9pPr marL="3657673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B0F8-5D2D-CC4F-86C0-479A81AB0558}" type="datetimeFigureOut">
              <a:rPr lang="en-AU" smtClean="0"/>
              <a:t>27/5/2025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3DE3C-D6AA-C547-9D71-D163B7D9BD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7706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B0F8-5D2D-CC4F-86C0-479A81AB0558}" type="datetimeFigureOut">
              <a:rPr lang="en-AU" smtClean="0"/>
              <a:t>27/5/2025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3DE3C-D6AA-C547-9D71-D163B7D9BD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5301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B0F8-5D2D-CC4F-86C0-479A81AB0558}" type="datetimeFigureOut">
              <a:rPr lang="en-AU" smtClean="0"/>
              <a:t>27/5/2025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3DE3C-D6AA-C547-9D71-D163B7D9BD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1070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20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76" r:id="rId12"/>
    <p:sldLayoutId id="2147483677" r:id="rId13"/>
    <p:sldLayoutId id="2147483678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7B0F8-5D2D-CC4F-86C0-479A81AB0558}" type="datetimeFigureOut">
              <a:rPr lang="en-AU" smtClean="0"/>
              <a:t>27/5/2025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E3DE3C-D6AA-C547-9D71-D163B7D9BD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1367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defTabSz="91441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1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4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3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32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41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50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5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6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78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8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6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5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4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3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5.jpeg"/><Relationship Id="rId3" Type="http://schemas.openxmlformats.org/officeDocument/2006/relationships/image" Target="../media/image20.png"/><Relationship Id="rId7" Type="http://schemas.openxmlformats.org/officeDocument/2006/relationships/image" Target="../media/image11.png"/><Relationship Id="rId12" Type="http://schemas.openxmlformats.org/officeDocument/2006/relationships/image" Target="../media/image24.jpe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11" Type="http://schemas.openxmlformats.org/officeDocument/2006/relationships/image" Target="../media/image23.png"/><Relationship Id="rId5" Type="http://schemas.openxmlformats.org/officeDocument/2006/relationships/image" Target="../media/image6.png"/><Relationship Id="rId15" Type="http://schemas.openxmlformats.org/officeDocument/2006/relationships/image" Target="../media/image27.jpeg"/><Relationship Id="rId10" Type="http://schemas.openxmlformats.org/officeDocument/2006/relationships/image" Target="../media/image22.png"/><Relationship Id="rId4" Type="http://schemas.openxmlformats.org/officeDocument/2006/relationships/image" Target="../media/image5.png"/><Relationship Id="rId9" Type="http://schemas.openxmlformats.org/officeDocument/2006/relationships/image" Target="../media/image21.jpeg"/><Relationship Id="rId1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5.jpeg"/><Relationship Id="rId18" Type="http://schemas.openxmlformats.org/officeDocument/2006/relationships/image" Target="../media/image4.png"/><Relationship Id="rId3" Type="http://schemas.openxmlformats.org/officeDocument/2006/relationships/image" Target="../media/image20.png"/><Relationship Id="rId7" Type="http://schemas.openxmlformats.org/officeDocument/2006/relationships/image" Target="../media/image11.png"/><Relationship Id="rId12" Type="http://schemas.openxmlformats.org/officeDocument/2006/relationships/image" Target="../media/image24.jpe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11" Type="http://schemas.openxmlformats.org/officeDocument/2006/relationships/image" Target="../media/image23.png"/><Relationship Id="rId5" Type="http://schemas.openxmlformats.org/officeDocument/2006/relationships/image" Target="../media/image6.png"/><Relationship Id="rId15" Type="http://schemas.openxmlformats.org/officeDocument/2006/relationships/image" Target="../media/image27.jpeg"/><Relationship Id="rId10" Type="http://schemas.openxmlformats.org/officeDocument/2006/relationships/image" Target="../media/image22.png"/><Relationship Id="rId4" Type="http://schemas.openxmlformats.org/officeDocument/2006/relationships/image" Target="../media/image5.png"/><Relationship Id="rId9" Type="http://schemas.openxmlformats.org/officeDocument/2006/relationships/image" Target="../media/image21.jpeg"/><Relationship Id="rId1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5.jpeg"/><Relationship Id="rId18" Type="http://schemas.openxmlformats.org/officeDocument/2006/relationships/image" Target="../media/image29.png"/><Relationship Id="rId3" Type="http://schemas.openxmlformats.org/officeDocument/2006/relationships/image" Target="../media/image20.png"/><Relationship Id="rId7" Type="http://schemas.openxmlformats.org/officeDocument/2006/relationships/image" Target="../media/image11.png"/><Relationship Id="rId12" Type="http://schemas.openxmlformats.org/officeDocument/2006/relationships/image" Target="../media/image24.jpe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11" Type="http://schemas.openxmlformats.org/officeDocument/2006/relationships/image" Target="../media/image23.png"/><Relationship Id="rId5" Type="http://schemas.openxmlformats.org/officeDocument/2006/relationships/image" Target="../media/image6.png"/><Relationship Id="rId15" Type="http://schemas.openxmlformats.org/officeDocument/2006/relationships/image" Target="../media/image27.jpeg"/><Relationship Id="rId10" Type="http://schemas.openxmlformats.org/officeDocument/2006/relationships/image" Target="../media/image22.png"/><Relationship Id="rId19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21.jpeg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11.png"/><Relationship Id="rId12" Type="http://schemas.openxmlformats.org/officeDocument/2006/relationships/image" Target="../media/image4.png"/><Relationship Id="rId17" Type="http://schemas.openxmlformats.org/officeDocument/2006/relationships/image" Target="../media/image27.jpe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11" Type="http://schemas.openxmlformats.org/officeDocument/2006/relationships/image" Target="../media/image29.png"/><Relationship Id="rId5" Type="http://schemas.openxmlformats.org/officeDocument/2006/relationships/image" Target="../media/image6.png"/><Relationship Id="rId15" Type="http://schemas.openxmlformats.org/officeDocument/2006/relationships/image" Target="../media/image25.jpeg"/><Relationship Id="rId10" Type="http://schemas.openxmlformats.org/officeDocument/2006/relationships/image" Target="../media/image22.png"/><Relationship Id="rId19" Type="http://schemas.openxmlformats.org/officeDocument/2006/relationships/image" Target="../media/image28.png"/><Relationship Id="rId4" Type="http://schemas.openxmlformats.org/officeDocument/2006/relationships/image" Target="../media/image5.png"/><Relationship Id="rId9" Type="http://schemas.openxmlformats.org/officeDocument/2006/relationships/image" Target="../media/image21.jpeg"/><Relationship Id="rId1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2DCD56-D87D-738D-0430-9F114C7AA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7F5BD1-3FB7-9A35-E4AD-AFF770449472}"/>
              </a:ext>
            </a:extLst>
          </p:cNvPr>
          <p:cNvSpPr txBox="1"/>
          <p:nvPr/>
        </p:nvSpPr>
        <p:spPr>
          <a:xfrm>
            <a:off x="4185590" y="2783741"/>
            <a:ext cx="369998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4800" dirty="0">
                <a:solidFill>
                  <a:schemeClr val="bg1"/>
                </a:solidFill>
              </a:rPr>
              <a:t>Best Practices</a:t>
            </a:r>
          </a:p>
          <a:p>
            <a:pPr algn="ctr"/>
            <a:r>
              <a:rPr lang="en-AU" sz="4000" i="1" dirty="0">
                <a:solidFill>
                  <a:schemeClr val="bg1"/>
                </a:solidFill>
              </a:rPr>
              <a:t>Source Diagrams</a:t>
            </a:r>
          </a:p>
        </p:txBody>
      </p:sp>
    </p:spTree>
    <p:extLst>
      <p:ext uri="{BB962C8B-B14F-4D97-AF65-F5344CB8AC3E}">
        <p14:creationId xmlns:p14="http://schemas.microsoft.com/office/powerpoint/2010/main" val="3831268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335F3-86F4-B651-5149-257F8CC4A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6D01C2-F55A-83D1-F640-3F12FB5E78CD}"/>
              </a:ext>
            </a:extLst>
          </p:cNvPr>
          <p:cNvSpPr txBox="1"/>
          <p:nvPr/>
        </p:nvSpPr>
        <p:spPr>
          <a:xfrm>
            <a:off x="641157" y="378092"/>
            <a:ext cx="8243154" cy="6424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575" b="1" dirty="0">
                <a:solidFill>
                  <a:schemeClr val="accent1">
                    <a:lumMod val="50000"/>
                  </a:schemeClr>
                </a:solidFill>
              </a:rPr>
              <a:t>Conceptual model of a transparency graph</a:t>
            </a:r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8B03B5D5-61D0-5A3A-3B1C-F3AFB6708634}"/>
              </a:ext>
            </a:extLst>
          </p:cNvPr>
          <p:cNvCxnSpPr>
            <a:cxnSpLocks/>
            <a:stCxn id="26" idx="7"/>
            <a:endCxn id="28" idx="2"/>
          </p:cNvCxnSpPr>
          <p:nvPr/>
        </p:nvCxnSpPr>
        <p:spPr>
          <a:xfrm rot="5400000" flipH="1" flipV="1">
            <a:off x="6782396" y="1102110"/>
            <a:ext cx="337409" cy="1409495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1164B31-4A5F-84D4-0402-7E32487FC9D0}"/>
              </a:ext>
            </a:extLst>
          </p:cNvPr>
          <p:cNvSpPr/>
          <p:nvPr/>
        </p:nvSpPr>
        <p:spPr>
          <a:xfrm>
            <a:off x="7609127" y="5251810"/>
            <a:ext cx="1306286" cy="547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AU" sz="1200" dirty="0"/>
              <a:t>Facility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798CEB-4ADB-D613-7185-5A3DBBD0AAD8}"/>
              </a:ext>
            </a:extLst>
          </p:cNvPr>
          <p:cNvSpPr/>
          <p:nvPr/>
        </p:nvSpPr>
        <p:spPr>
          <a:xfrm>
            <a:off x="8182717" y="3419982"/>
            <a:ext cx="1306286" cy="547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AU" sz="1200" dirty="0"/>
              <a:t>Attestation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EF2C0E9-2C21-443A-8A68-8A9D1C4C554A}"/>
              </a:ext>
            </a:extLst>
          </p:cNvPr>
          <p:cNvSpPr/>
          <p:nvPr/>
        </p:nvSpPr>
        <p:spPr>
          <a:xfrm>
            <a:off x="10239273" y="3077501"/>
            <a:ext cx="1306286" cy="547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AU" sz="1200" dirty="0"/>
              <a:t>Party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F39011D-B0B8-91AF-0F3F-AF26CBDAC2CA}"/>
              </a:ext>
            </a:extLst>
          </p:cNvPr>
          <p:cNvSpPr/>
          <p:nvPr/>
        </p:nvSpPr>
        <p:spPr>
          <a:xfrm>
            <a:off x="4637742" y="4640321"/>
            <a:ext cx="1306286" cy="54784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AU" sz="1200" dirty="0"/>
              <a:t>Product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15F6846-9953-F8D7-3EBB-DE0A50C217DC}"/>
              </a:ext>
            </a:extLst>
          </p:cNvPr>
          <p:cNvSpPr/>
          <p:nvPr/>
        </p:nvSpPr>
        <p:spPr>
          <a:xfrm>
            <a:off x="3237838" y="3861402"/>
            <a:ext cx="1306286" cy="54784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AU" sz="1200" dirty="0"/>
              <a:t>Item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CFAF5E6-BDA3-8D5C-118E-71A04F823250}"/>
              </a:ext>
            </a:extLst>
          </p:cNvPr>
          <p:cNvSpPr/>
          <p:nvPr/>
        </p:nvSpPr>
        <p:spPr>
          <a:xfrm>
            <a:off x="2122853" y="5001194"/>
            <a:ext cx="1306286" cy="54784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AU" sz="1200" dirty="0"/>
              <a:t>Batch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D7DCE79-2263-4EAD-8ADE-003F16AF7A64}"/>
              </a:ext>
            </a:extLst>
          </p:cNvPr>
          <p:cNvSpPr/>
          <p:nvPr/>
        </p:nvSpPr>
        <p:spPr>
          <a:xfrm>
            <a:off x="4201633" y="2803577"/>
            <a:ext cx="1306286" cy="547848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AU" sz="1200" dirty="0"/>
              <a:t>Claim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3E3CA8B-938C-BC66-8E91-ADD1B7486E98}"/>
              </a:ext>
            </a:extLst>
          </p:cNvPr>
          <p:cNvSpPr/>
          <p:nvPr/>
        </p:nvSpPr>
        <p:spPr>
          <a:xfrm>
            <a:off x="6126161" y="3419982"/>
            <a:ext cx="1306286" cy="547848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AU" sz="1200" dirty="0"/>
              <a:t>Assessment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C9E81C5-2850-78D3-C0CC-AF7C06B49C05}"/>
              </a:ext>
            </a:extLst>
          </p:cNvPr>
          <p:cNvSpPr/>
          <p:nvPr/>
        </p:nvSpPr>
        <p:spPr>
          <a:xfrm>
            <a:off x="5131368" y="1895331"/>
            <a:ext cx="1306286" cy="547848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AU" sz="1200" dirty="0"/>
              <a:t>Criteria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EBD74D6-923E-F96F-70ED-48E062DCD074}"/>
              </a:ext>
            </a:extLst>
          </p:cNvPr>
          <p:cNvSpPr/>
          <p:nvPr/>
        </p:nvSpPr>
        <p:spPr>
          <a:xfrm>
            <a:off x="7655848" y="1364228"/>
            <a:ext cx="1306286" cy="547848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AU" sz="1200" dirty="0"/>
              <a:t>Regulation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0DB197D-52E8-8481-7F4C-1832809E25FC}"/>
              </a:ext>
            </a:extLst>
          </p:cNvPr>
          <p:cNvSpPr/>
          <p:nvPr/>
        </p:nvSpPr>
        <p:spPr>
          <a:xfrm>
            <a:off x="7637924" y="2367448"/>
            <a:ext cx="1306286" cy="547848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AU" sz="1200" dirty="0"/>
              <a:t>Standard</a:t>
            </a:r>
          </a:p>
        </p:txBody>
      </p: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2635A85A-27A9-9CDC-2029-E332AB9D35AB}"/>
              </a:ext>
            </a:extLst>
          </p:cNvPr>
          <p:cNvCxnSpPr>
            <a:cxnSpLocks/>
            <a:stCxn id="24" idx="0"/>
            <a:endCxn id="26" idx="2"/>
          </p:cNvCxnSpPr>
          <p:nvPr/>
        </p:nvCxnSpPr>
        <p:spPr>
          <a:xfrm rot="5400000" flipH="1" flipV="1">
            <a:off x="4675911" y="2348120"/>
            <a:ext cx="634322" cy="276592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2DC4710D-E40C-9E0F-AB26-703F11DBC775}"/>
              </a:ext>
            </a:extLst>
          </p:cNvPr>
          <p:cNvCxnSpPr>
            <a:cxnSpLocks/>
            <a:stCxn id="21" idx="0"/>
            <a:endCxn id="24" idx="4"/>
          </p:cNvCxnSpPr>
          <p:nvPr/>
        </p:nvCxnSpPr>
        <p:spPr>
          <a:xfrm rot="16200000" flipV="1">
            <a:off x="4428383" y="3777818"/>
            <a:ext cx="1288896" cy="436109"/>
          </a:xfrm>
          <a:prstGeom prst="curvedConnector3">
            <a:avLst>
              <a:gd name="adj1" fmla="val 50000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7394A45B-558B-FB22-7238-20646C70B973}"/>
              </a:ext>
            </a:extLst>
          </p:cNvPr>
          <p:cNvCxnSpPr>
            <a:cxnSpLocks/>
            <a:stCxn id="25" idx="4"/>
            <a:endCxn id="21" idx="7"/>
          </p:cNvCxnSpPr>
          <p:nvPr/>
        </p:nvCxnSpPr>
        <p:spPr>
          <a:xfrm rot="5400000">
            <a:off x="5889656" y="3830902"/>
            <a:ext cx="752721" cy="1026577"/>
          </a:xfrm>
          <a:prstGeom prst="curvedConnector3">
            <a:avLst>
              <a:gd name="adj1" fmla="val 50000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urved Connector 57">
            <a:extLst>
              <a:ext uri="{FF2B5EF4-FFF2-40B4-BE49-F238E27FC236}">
                <a16:creationId xmlns:a16="http://schemas.microsoft.com/office/drawing/2014/main" id="{86C334FF-7FF6-01FF-65E8-F1120FAB16F3}"/>
              </a:ext>
            </a:extLst>
          </p:cNvPr>
          <p:cNvCxnSpPr>
            <a:cxnSpLocks/>
            <a:stCxn id="25" idx="0"/>
            <a:endCxn id="26" idx="5"/>
          </p:cNvCxnSpPr>
          <p:nvPr/>
        </p:nvCxnSpPr>
        <p:spPr>
          <a:xfrm rot="16200000" flipV="1">
            <a:off x="5984313" y="2624990"/>
            <a:ext cx="1057033" cy="532951"/>
          </a:xfrm>
          <a:prstGeom prst="curvedConnector3">
            <a:avLst>
              <a:gd name="adj1" fmla="val 50000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8" name="Curved Connector 4097">
            <a:extLst>
              <a:ext uri="{FF2B5EF4-FFF2-40B4-BE49-F238E27FC236}">
                <a16:creationId xmlns:a16="http://schemas.microsoft.com/office/drawing/2014/main" id="{05755B25-9A0F-FD5E-B69C-AE5CAC75FEA3}"/>
              </a:ext>
            </a:extLst>
          </p:cNvPr>
          <p:cNvCxnSpPr>
            <a:cxnSpLocks/>
            <a:stCxn id="26" idx="6"/>
            <a:endCxn id="29" idx="2"/>
          </p:cNvCxnSpPr>
          <p:nvPr/>
        </p:nvCxnSpPr>
        <p:spPr>
          <a:xfrm>
            <a:off x="6437654" y="2169255"/>
            <a:ext cx="1200270" cy="472117"/>
          </a:xfrm>
          <a:prstGeom prst="curvedConnector3">
            <a:avLst>
              <a:gd name="adj1" fmla="val 50000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5" name="Curved Connector 4124">
            <a:extLst>
              <a:ext uri="{FF2B5EF4-FFF2-40B4-BE49-F238E27FC236}">
                <a16:creationId xmlns:a16="http://schemas.microsoft.com/office/drawing/2014/main" id="{65EC239F-4C74-EA23-E518-513D2EBE25F3}"/>
              </a:ext>
            </a:extLst>
          </p:cNvPr>
          <p:cNvCxnSpPr>
            <a:cxnSpLocks/>
            <a:stCxn id="25" idx="6"/>
            <a:endCxn id="19" idx="2"/>
          </p:cNvCxnSpPr>
          <p:nvPr/>
        </p:nvCxnSpPr>
        <p:spPr>
          <a:xfrm>
            <a:off x="7432447" y="3693906"/>
            <a:ext cx="750270" cy="12700"/>
          </a:xfrm>
          <a:prstGeom prst="curvedConnector3">
            <a:avLst>
              <a:gd name="adj1" fmla="val 50000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5" name="Curved Connector 4134">
            <a:extLst>
              <a:ext uri="{FF2B5EF4-FFF2-40B4-BE49-F238E27FC236}">
                <a16:creationId xmlns:a16="http://schemas.microsoft.com/office/drawing/2014/main" id="{B2EB960F-BC83-1756-4948-4BD76AFEA5E3}"/>
              </a:ext>
            </a:extLst>
          </p:cNvPr>
          <p:cNvCxnSpPr>
            <a:cxnSpLocks/>
            <a:stCxn id="19" idx="7"/>
            <a:endCxn id="20" idx="2"/>
          </p:cNvCxnSpPr>
          <p:nvPr/>
        </p:nvCxnSpPr>
        <p:spPr>
          <a:xfrm rot="5400000" flipH="1" flipV="1">
            <a:off x="9694094" y="2955034"/>
            <a:ext cx="148787" cy="941571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0" name="Curved Connector 4139">
            <a:extLst>
              <a:ext uri="{FF2B5EF4-FFF2-40B4-BE49-F238E27FC236}">
                <a16:creationId xmlns:a16="http://schemas.microsoft.com/office/drawing/2014/main" id="{2EED4E68-C65C-5579-0890-339E67E2D724}"/>
              </a:ext>
            </a:extLst>
          </p:cNvPr>
          <p:cNvCxnSpPr>
            <a:cxnSpLocks/>
            <a:stCxn id="28" idx="6"/>
            <a:endCxn id="20" idx="0"/>
          </p:cNvCxnSpPr>
          <p:nvPr/>
        </p:nvCxnSpPr>
        <p:spPr>
          <a:xfrm>
            <a:off x="8962134" y="1638152"/>
            <a:ext cx="1930282" cy="1439349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4" name="Curved Connector 4143">
            <a:extLst>
              <a:ext uri="{FF2B5EF4-FFF2-40B4-BE49-F238E27FC236}">
                <a16:creationId xmlns:a16="http://schemas.microsoft.com/office/drawing/2014/main" id="{A335DE5C-E7EC-D121-AB73-301B13E879F5}"/>
              </a:ext>
            </a:extLst>
          </p:cNvPr>
          <p:cNvCxnSpPr>
            <a:cxnSpLocks/>
            <a:stCxn id="29" idx="6"/>
            <a:endCxn id="20" idx="1"/>
          </p:cNvCxnSpPr>
          <p:nvPr/>
        </p:nvCxnSpPr>
        <p:spPr>
          <a:xfrm>
            <a:off x="8944210" y="2641372"/>
            <a:ext cx="1486364" cy="516359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9" name="Curved Connector 4148">
            <a:extLst>
              <a:ext uri="{FF2B5EF4-FFF2-40B4-BE49-F238E27FC236}">
                <a16:creationId xmlns:a16="http://schemas.microsoft.com/office/drawing/2014/main" id="{60FECD6B-5688-E494-3788-D3F9394ED40D}"/>
              </a:ext>
            </a:extLst>
          </p:cNvPr>
          <p:cNvCxnSpPr>
            <a:cxnSpLocks/>
            <a:stCxn id="22" idx="0"/>
            <a:endCxn id="24" idx="3"/>
          </p:cNvCxnSpPr>
          <p:nvPr/>
        </p:nvCxnSpPr>
        <p:spPr>
          <a:xfrm rot="5400000" flipH="1" flipV="1">
            <a:off x="3846854" y="3315323"/>
            <a:ext cx="590207" cy="501953"/>
          </a:xfrm>
          <a:prstGeom prst="curvedConnector3">
            <a:avLst>
              <a:gd name="adj1" fmla="val 50000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4" name="Curved Connector 4153">
            <a:extLst>
              <a:ext uri="{FF2B5EF4-FFF2-40B4-BE49-F238E27FC236}">
                <a16:creationId xmlns:a16="http://schemas.microsoft.com/office/drawing/2014/main" id="{F3E66F7F-DFF2-6DB9-698E-130CB093ABE8}"/>
              </a:ext>
            </a:extLst>
          </p:cNvPr>
          <p:cNvCxnSpPr>
            <a:cxnSpLocks/>
            <a:stCxn id="22" idx="6"/>
            <a:endCxn id="21" idx="1"/>
          </p:cNvCxnSpPr>
          <p:nvPr/>
        </p:nvCxnSpPr>
        <p:spPr>
          <a:xfrm>
            <a:off x="4544124" y="4135326"/>
            <a:ext cx="284919" cy="585225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7" name="Curved Connector 4156">
            <a:extLst>
              <a:ext uri="{FF2B5EF4-FFF2-40B4-BE49-F238E27FC236}">
                <a16:creationId xmlns:a16="http://schemas.microsoft.com/office/drawing/2014/main" id="{B89B47C2-0BE5-8974-B287-214AB481556F}"/>
              </a:ext>
            </a:extLst>
          </p:cNvPr>
          <p:cNvCxnSpPr>
            <a:cxnSpLocks/>
            <a:stCxn id="23" idx="5"/>
            <a:endCxn id="21" idx="3"/>
          </p:cNvCxnSpPr>
          <p:nvPr/>
        </p:nvCxnSpPr>
        <p:spPr>
          <a:xfrm rot="5400000" flipH="1" flipV="1">
            <a:off x="3853003" y="4492773"/>
            <a:ext cx="360873" cy="1591205"/>
          </a:xfrm>
          <a:prstGeom prst="curvedConnector3">
            <a:avLst>
              <a:gd name="adj1" fmla="val -85579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0" name="Curved Connector 4159">
            <a:extLst>
              <a:ext uri="{FF2B5EF4-FFF2-40B4-BE49-F238E27FC236}">
                <a16:creationId xmlns:a16="http://schemas.microsoft.com/office/drawing/2014/main" id="{E52899BA-A5F9-D1B9-BD3D-DFFC9A24F8B5}"/>
              </a:ext>
            </a:extLst>
          </p:cNvPr>
          <p:cNvCxnSpPr>
            <a:cxnSpLocks/>
            <a:stCxn id="23" idx="6"/>
            <a:endCxn id="21" idx="2"/>
          </p:cNvCxnSpPr>
          <p:nvPr/>
        </p:nvCxnSpPr>
        <p:spPr>
          <a:xfrm flipV="1">
            <a:off x="3429139" y="4914245"/>
            <a:ext cx="1208603" cy="360873"/>
          </a:xfrm>
          <a:prstGeom prst="curvedConnector3">
            <a:avLst>
              <a:gd name="adj1" fmla="val 50000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0" name="Curved Connector 4209">
            <a:extLst>
              <a:ext uri="{FF2B5EF4-FFF2-40B4-BE49-F238E27FC236}">
                <a16:creationId xmlns:a16="http://schemas.microsoft.com/office/drawing/2014/main" id="{6C2DFA60-2A29-7AF7-9591-CEE7EB3E059F}"/>
              </a:ext>
            </a:extLst>
          </p:cNvPr>
          <p:cNvCxnSpPr>
            <a:cxnSpLocks/>
            <a:stCxn id="23" idx="2"/>
            <a:endCxn id="22" idx="2"/>
          </p:cNvCxnSpPr>
          <p:nvPr/>
        </p:nvCxnSpPr>
        <p:spPr>
          <a:xfrm rot="10800000" flipH="1">
            <a:off x="2122852" y="4135326"/>
            <a:ext cx="1114985" cy="1139792"/>
          </a:xfrm>
          <a:prstGeom prst="curvedConnector3">
            <a:avLst>
              <a:gd name="adj1" fmla="val -20503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9" name="Curved Connector 4218">
            <a:extLst>
              <a:ext uri="{FF2B5EF4-FFF2-40B4-BE49-F238E27FC236}">
                <a16:creationId xmlns:a16="http://schemas.microsoft.com/office/drawing/2014/main" id="{5DD65C6D-DC01-C5E4-E6A1-21347C90875F}"/>
              </a:ext>
            </a:extLst>
          </p:cNvPr>
          <p:cNvCxnSpPr>
            <a:cxnSpLocks/>
            <a:stCxn id="23" idx="1"/>
            <a:endCxn id="22" idx="3"/>
          </p:cNvCxnSpPr>
          <p:nvPr/>
        </p:nvCxnSpPr>
        <p:spPr>
          <a:xfrm rot="5400000" flipH="1" flipV="1">
            <a:off x="2495444" y="4147730"/>
            <a:ext cx="752404" cy="1114985"/>
          </a:xfrm>
          <a:prstGeom prst="curvedConnector3">
            <a:avLst>
              <a:gd name="adj1" fmla="val 50000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0" name="Curved Connector 4229">
            <a:extLst>
              <a:ext uri="{FF2B5EF4-FFF2-40B4-BE49-F238E27FC236}">
                <a16:creationId xmlns:a16="http://schemas.microsoft.com/office/drawing/2014/main" id="{E2B0AFC1-B06D-558F-EAE5-360796FB0107}"/>
              </a:ext>
            </a:extLst>
          </p:cNvPr>
          <p:cNvCxnSpPr>
            <a:cxnSpLocks/>
            <a:stCxn id="23" idx="4"/>
            <a:endCxn id="16" idx="3"/>
          </p:cNvCxnSpPr>
          <p:nvPr/>
        </p:nvCxnSpPr>
        <p:spPr>
          <a:xfrm rot="16200000" flipH="1">
            <a:off x="5203019" y="3122019"/>
            <a:ext cx="170386" cy="5024432"/>
          </a:xfrm>
          <a:prstGeom prst="curvedConnector3">
            <a:avLst>
              <a:gd name="adj1" fmla="val 281253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0" name="Curved Connector 4239">
            <a:extLst>
              <a:ext uri="{FF2B5EF4-FFF2-40B4-BE49-F238E27FC236}">
                <a16:creationId xmlns:a16="http://schemas.microsoft.com/office/drawing/2014/main" id="{6CA3DF81-798F-18D1-546A-8ECDD27EC7C1}"/>
              </a:ext>
            </a:extLst>
          </p:cNvPr>
          <p:cNvCxnSpPr>
            <a:cxnSpLocks/>
            <a:stCxn id="16" idx="6"/>
            <a:endCxn id="20" idx="4"/>
          </p:cNvCxnSpPr>
          <p:nvPr/>
        </p:nvCxnSpPr>
        <p:spPr>
          <a:xfrm flipV="1">
            <a:off x="8915413" y="3625349"/>
            <a:ext cx="1977003" cy="1900385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5" name="Curved Connector 4244">
            <a:extLst>
              <a:ext uri="{FF2B5EF4-FFF2-40B4-BE49-F238E27FC236}">
                <a16:creationId xmlns:a16="http://schemas.microsoft.com/office/drawing/2014/main" id="{71B653F0-AA64-303C-39D8-D1D14782BCFC}"/>
              </a:ext>
            </a:extLst>
          </p:cNvPr>
          <p:cNvCxnSpPr>
            <a:cxnSpLocks/>
            <a:stCxn id="25" idx="5"/>
            <a:endCxn id="16" idx="0"/>
          </p:cNvCxnSpPr>
          <p:nvPr/>
        </p:nvCxnSpPr>
        <p:spPr>
          <a:xfrm rot="16200000" flipH="1">
            <a:off x="7069603" y="4059143"/>
            <a:ext cx="1364210" cy="1021124"/>
          </a:xfrm>
          <a:prstGeom prst="curvedConnector3">
            <a:avLst>
              <a:gd name="adj1" fmla="val 50000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3" name="Curved Connector 4272">
            <a:extLst>
              <a:ext uri="{FF2B5EF4-FFF2-40B4-BE49-F238E27FC236}">
                <a16:creationId xmlns:a16="http://schemas.microsoft.com/office/drawing/2014/main" id="{14B57212-2949-2CC6-34E1-C07F6608FCE5}"/>
              </a:ext>
            </a:extLst>
          </p:cNvPr>
          <p:cNvCxnSpPr>
            <a:cxnSpLocks/>
            <a:stCxn id="21" idx="6"/>
            <a:endCxn id="20" idx="3"/>
          </p:cNvCxnSpPr>
          <p:nvPr/>
        </p:nvCxnSpPr>
        <p:spPr>
          <a:xfrm flipV="1">
            <a:off x="5944028" y="3545119"/>
            <a:ext cx="4486546" cy="1369126"/>
          </a:xfrm>
          <a:prstGeom prst="curved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8" name="TextBox 4377">
            <a:extLst>
              <a:ext uri="{FF2B5EF4-FFF2-40B4-BE49-F238E27FC236}">
                <a16:creationId xmlns:a16="http://schemas.microsoft.com/office/drawing/2014/main" id="{2E102156-6226-535F-6D6B-E6796953FEA7}"/>
              </a:ext>
            </a:extLst>
          </p:cNvPr>
          <p:cNvSpPr txBox="1"/>
          <p:nvPr/>
        </p:nvSpPr>
        <p:spPr>
          <a:xfrm>
            <a:off x="9927275" y="1950412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 err="1"/>
              <a:t>IssuingBody</a:t>
            </a:r>
            <a:endParaRPr lang="en-AU" sz="1200" dirty="0"/>
          </a:p>
        </p:txBody>
      </p:sp>
      <p:sp>
        <p:nvSpPr>
          <p:cNvPr id="4379" name="TextBox 4378">
            <a:extLst>
              <a:ext uri="{FF2B5EF4-FFF2-40B4-BE49-F238E27FC236}">
                <a16:creationId xmlns:a16="http://schemas.microsoft.com/office/drawing/2014/main" id="{7E0CFE31-7429-48FA-7461-60B3D664DC01}"/>
              </a:ext>
            </a:extLst>
          </p:cNvPr>
          <p:cNvSpPr txBox="1"/>
          <p:nvPr/>
        </p:nvSpPr>
        <p:spPr>
          <a:xfrm>
            <a:off x="9160585" y="3116079"/>
            <a:ext cx="1019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Accreditation</a:t>
            </a:r>
          </a:p>
        </p:txBody>
      </p:sp>
      <p:sp>
        <p:nvSpPr>
          <p:cNvPr id="4380" name="TextBox 4379">
            <a:extLst>
              <a:ext uri="{FF2B5EF4-FFF2-40B4-BE49-F238E27FC236}">
                <a16:creationId xmlns:a16="http://schemas.microsoft.com/office/drawing/2014/main" id="{A34F06E7-F5A4-CC96-9548-4073F474D8A6}"/>
              </a:ext>
            </a:extLst>
          </p:cNvPr>
          <p:cNvSpPr txBox="1"/>
          <p:nvPr/>
        </p:nvSpPr>
        <p:spPr>
          <a:xfrm>
            <a:off x="9325252" y="2484054"/>
            <a:ext cx="865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 err="1"/>
              <a:t>IsuingBody</a:t>
            </a:r>
            <a:endParaRPr lang="en-AU" sz="1200" dirty="0"/>
          </a:p>
        </p:txBody>
      </p:sp>
      <p:sp>
        <p:nvSpPr>
          <p:cNvPr id="4381" name="TextBox 4380">
            <a:extLst>
              <a:ext uri="{FF2B5EF4-FFF2-40B4-BE49-F238E27FC236}">
                <a16:creationId xmlns:a16="http://schemas.microsoft.com/office/drawing/2014/main" id="{F98BA541-5785-EF9A-7749-96FD408379C5}"/>
              </a:ext>
            </a:extLst>
          </p:cNvPr>
          <p:cNvSpPr txBox="1"/>
          <p:nvPr/>
        </p:nvSpPr>
        <p:spPr>
          <a:xfrm>
            <a:off x="8202290" y="4266451"/>
            <a:ext cx="1045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Manufacturer</a:t>
            </a:r>
          </a:p>
        </p:txBody>
      </p:sp>
      <p:sp>
        <p:nvSpPr>
          <p:cNvPr id="4382" name="TextBox 4381">
            <a:extLst>
              <a:ext uri="{FF2B5EF4-FFF2-40B4-BE49-F238E27FC236}">
                <a16:creationId xmlns:a16="http://schemas.microsoft.com/office/drawing/2014/main" id="{3F1872A8-CA86-8D14-7547-E3A161D519E7}"/>
              </a:ext>
            </a:extLst>
          </p:cNvPr>
          <p:cNvSpPr txBox="1"/>
          <p:nvPr/>
        </p:nvSpPr>
        <p:spPr>
          <a:xfrm>
            <a:off x="8964097" y="5081348"/>
            <a:ext cx="7509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Operator</a:t>
            </a:r>
          </a:p>
        </p:txBody>
      </p:sp>
      <p:sp>
        <p:nvSpPr>
          <p:cNvPr id="4383" name="TextBox 4382">
            <a:extLst>
              <a:ext uri="{FF2B5EF4-FFF2-40B4-BE49-F238E27FC236}">
                <a16:creationId xmlns:a16="http://schemas.microsoft.com/office/drawing/2014/main" id="{10242B92-378A-38ED-87CA-9A16397E84C2}"/>
              </a:ext>
            </a:extLst>
          </p:cNvPr>
          <p:cNvSpPr txBox="1"/>
          <p:nvPr/>
        </p:nvSpPr>
        <p:spPr>
          <a:xfrm>
            <a:off x="7876325" y="4815861"/>
            <a:ext cx="1184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 err="1"/>
              <a:t>AssessedFacility</a:t>
            </a:r>
            <a:endParaRPr lang="en-AU" sz="1200" dirty="0"/>
          </a:p>
        </p:txBody>
      </p:sp>
      <p:sp>
        <p:nvSpPr>
          <p:cNvPr id="4384" name="TextBox 4383">
            <a:extLst>
              <a:ext uri="{FF2B5EF4-FFF2-40B4-BE49-F238E27FC236}">
                <a16:creationId xmlns:a16="http://schemas.microsoft.com/office/drawing/2014/main" id="{28DA9728-68E4-3C9E-0F13-B4F286D9A7C9}"/>
              </a:ext>
            </a:extLst>
          </p:cNvPr>
          <p:cNvSpPr txBox="1"/>
          <p:nvPr/>
        </p:nvSpPr>
        <p:spPr>
          <a:xfrm>
            <a:off x="5543568" y="4413553"/>
            <a:ext cx="12417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 err="1"/>
              <a:t>AssessedProduct</a:t>
            </a:r>
            <a:endParaRPr lang="en-AU" sz="1200" dirty="0"/>
          </a:p>
        </p:txBody>
      </p:sp>
      <p:sp>
        <p:nvSpPr>
          <p:cNvPr id="4385" name="TextBox 4384">
            <a:extLst>
              <a:ext uri="{FF2B5EF4-FFF2-40B4-BE49-F238E27FC236}">
                <a16:creationId xmlns:a16="http://schemas.microsoft.com/office/drawing/2014/main" id="{9702FAC6-CB83-945B-61FD-22980AF9E9E3}"/>
              </a:ext>
            </a:extLst>
          </p:cNvPr>
          <p:cNvSpPr txBox="1"/>
          <p:nvPr/>
        </p:nvSpPr>
        <p:spPr>
          <a:xfrm>
            <a:off x="6073759" y="1403854"/>
            <a:ext cx="14770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 err="1"/>
              <a:t>ReferenceRegulation</a:t>
            </a:r>
            <a:endParaRPr lang="en-AU" sz="1200" dirty="0"/>
          </a:p>
        </p:txBody>
      </p:sp>
      <p:sp>
        <p:nvSpPr>
          <p:cNvPr id="4386" name="TextBox 4385">
            <a:extLst>
              <a:ext uri="{FF2B5EF4-FFF2-40B4-BE49-F238E27FC236}">
                <a16:creationId xmlns:a16="http://schemas.microsoft.com/office/drawing/2014/main" id="{8E0E77BD-0428-D23F-B681-E25C02C52641}"/>
              </a:ext>
            </a:extLst>
          </p:cNvPr>
          <p:cNvSpPr txBox="1"/>
          <p:nvPr/>
        </p:nvSpPr>
        <p:spPr>
          <a:xfrm>
            <a:off x="6588609" y="2087488"/>
            <a:ext cx="1369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 err="1"/>
              <a:t>ReferenceStandard</a:t>
            </a:r>
            <a:endParaRPr lang="en-AU" sz="1200" dirty="0"/>
          </a:p>
        </p:txBody>
      </p:sp>
      <p:sp>
        <p:nvSpPr>
          <p:cNvPr id="4387" name="TextBox 4386">
            <a:extLst>
              <a:ext uri="{FF2B5EF4-FFF2-40B4-BE49-F238E27FC236}">
                <a16:creationId xmlns:a16="http://schemas.microsoft.com/office/drawing/2014/main" id="{A77D69C6-4F9F-3167-02D4-B14918908F5F}"/>
              </a:ext>
            </a:extLst>
          </p:cNvPr>
          <p:cNvSpPr txBox="1"/>
          <p:nvPr/>
        </p:nvSpPr>
        <p:spPr>
          <a:xfrm>
            <a:off x="4081449" y="2345554"/>
            <a:ext cx="1269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 err="1"/>
              <a:t>ReferenceCriteria</a:t>
            </a:r>
            <a:endParaRPr lang="en-AU" sz="1200" dirty="0"/>
          </a:p>
        </p:txBody>
      </p:sp>
      <p:sp>
        <p:nvSpPr>
          <p:cNvPr id="4388" name="TextBox 4387">
            <a:extLst>
              <a:ext uri="{FF2B5EF4-FFF2-40B4-BE49-F238E27FC236}">
                <a16:creationId xmlns:a16="http://schemas.microsoft.com/office/drawing/2014/main" id="{A532F25F-DB91-2215-3911-73231807F2D4}"/>
              </a:ext>
            </a:extLst>
          </p:cNvPr>
          <p:cNvSpPr txBox="1"/>
          <p:nvPr/>
        </p:nvSpPr>
        <p:spPr>
          <a:xfrm>
            <a:off x="5944028" y="2894744"/>
            <a:ext cx="1269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 err="1"/>
              <a:t>ReferenceCriteria</a:t>
            </a:r>
            <a:endParaRPr lang="en-AU" sz="1200" dirty="0"/>
          </a:p>
        </p:txBody>
      </p:sp>
      <p:sp>
        <p:nvSpPr>
          <p:cNvPr id="4389" name="TextBox 4388">
            <a:extLst>
              <a:ext uri="{FF2B5EF4-FFF2-40B4-BE49-F238E27FC236}">
                <a16:creationId xmlns:a16="http://schemas.microsoft.com/office/drawing/2014/main" id="{63D2BB5A-C228-2AA0-C918-F51A9968B9BD}"/>
              </a:ext>
            </a:extLst>
          </p:cNvPr>
          <p:cNvSpPr txBox="1"/>
          <p:nvPr/>
        </p:nvSpPr>
        <p:spPr>
          <a:xfrm>
            <a:off x="3655089" y="3414632"/>
            <a:ext cx="8842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Conformity</a:t>
            </a:r>
          </a:p>
        </p:txBody>
      </p:sp>
      <p:sp>
        <p:nvSpPr>
          <p:cNvPr id="4390" name="TextBox 4389">
            <a:extLst>
              <a:ext uri="{FF2B5EF4-FFF2-40B4-BE49-F238E27FC236}">
                <a16:creationId xmlns:a16="http://schemas.microsoft.com/office/drawing/2014/main" id="{EED81FB6-B9EB-460E-7488-8109C44322AC}"/>
              </a:ext>
            </a:extLst>
          </p:cNvPr>
          <p:cNvSpPr txBox="1"/>
          <p:nvPr/>
        </p:nvSpPr>
        <p:spPr>
          <a:xfrm>
            <a:off x="2053246" y="3996826"/>
            <a:ext cx="803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 err="1"/>
              <a:t>InputItem</a:t>
            </a:r>
            <a:endParaRPr lang="en-AU" sz="1200" dirty="0"/>
          </a:p>
        </p:txBody>
      </p:sp>
      <p:sp>
        <p:nvSpPr>
          <p:cNvPr id="4391" name="TextBox 4390">
            <a:extLst>
              <a:ext uri="{FF2B5EF4-FFF2-40B4-BE49-F238E27FC236}">
                <a16:creationId xmlns:a16="http://schemas.microsoft.com/office/drawing/2014/main" id="{8FB67C6E-595A-3D2E-A939-FB1EA1543FDA}"/>
              </a:ext>
            </a:extLst>
          </p:cNvPr>
          <p:cNvSpPr txBox="1"/>
          <p:nvPr/>
        </p:nvSpPr>
        <p:spPr>
          <a:xfrm>
            <a:off x="3431994" y="4767046"/>
            <a:ext cx="1058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 err="1"/>
              <a:t>InputQuantity</a:t>
            </a:r>
            <a:endParaRPr lang="en-AU" sz="1200" dirty="0"/>
          </a:p>
        </p:txBody>
      </p:sp>
      <p:sp>
        <p:nvSpPr>
          <p:cNvPr id="4392" name="TextBox 4391">
            <a:extLst>
              <a:ext uri="{FF2B5EF4-FFF2-40B4-BE49-F238E27FC236}">
                <a16:creationId xmlns:a16="http://schemas.microsoft.com/office/drawing/2014/main" id="{FDF9A95C-D3F3-1BF3-C3E0-8F270C1C6B21}"/>
              </a:ext>
            </a:extLst>
          </p:cNvPr>
          <p:cNvSpPr txBox="1"/>
          <p:nvPr/>
        </p:nvSpPr>
        <p:spPr>
          <a:xfrm>
            <a:off x="2382423" y="4428222"/>
            <a:ext cx="897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 err="1"/>
              <a:t>outputItem</a:t>
            </a:r>
            <a:endParaRPr lang="en-AU" sz="1200" dirty="0"/>
          </a:p>
        </p:txBody>
      </p:sp>
      <p:sp>
        <p:nvSpPr>
          <p:cNvPr id="4393" name="TextBox 4392">
            <a:extLst>
              <a:ext uri="{FF2B5EF4-FFF2-40B4-BE49-F238E27FC236}">
                <a16:creationId xmlns:a16="http://schemas.microsoft.com/office/drawing/2014/main" id="{6F487632-20BE-F0CD-8551-162CF0743F0C}"/>
              </a:ext>
            </a:extLst>
          </p:cNvPr>
          <p:cNvSpPr txBox="1"/>
          <p:nvPr/>
        </p:nvSpPr>
        <p:spPr>
          <a:xfrm>
            <a:off x="3702152" y="5438424"/>
            <a:ext cx="11739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 err="1"/>
              <a:t>OutputQuantity</a:t>
            </a:r>
            <a:endParaRPr lang="en-AU" sz="1200" dirty="0"/>
          </a:p>
        </p:txBody>
      </p:sp>
      <p:sp>
        <p:nvSpPr>
          <p:cNvPr id="4394" name="TextBox 4393">
            <a:extLst>
              <a:ext uri="{FF2B5EF4-FFF2-40B4-BE49-F238E27FC236}">
                <a16:creationId xmlns:a16="http://schemas.microsoft.com/office/drawing/2014/main" id="{F522522E-6E20-DFE2-C997-1D4F63429F11}"/>
              </a:ext>
            </a:extLst>
          </p:cNvPr>
          <p:cNvSpPr txBox="1"/>
          <p:nvPr/>
        </p:nvSpPr>
        <p:spPr>
          <a:xfrm>
            <a:off x="4899848" y="5751734"/>
            <a:ext cx="1209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 err="1"/>
              <a:t>ManufacturedAt</a:t>
            </a:r>
            <a:endParaRPr lang="en-AU" sz="1200" dirty="0"/>
          </a:p>
        </p:txBody>
      </p:sp>
      <p:sp>
        <p:nvSpPr>
          <p:cNvPr id="4395" name="TextBox 4394">
            <a:extLst>
              <a:ext uri="{FF2B5EF4-FFF2-40B4-BE49-F238E27FC236}">
                <a16:creationId xmlns:a16="http://schemas.microsoft.com/office/drawing/2014/main" id="{5EB73C58-A4D5-D601-97B7-5E46287F377E}"/>
              </a:ext>
            </a:extLst>
          </p:cNvPr>
          <p:cNvSpPr txBox="1"/>
          <p:nvPr/>
        </p:nvSpPr>
        <p:spPr>
          <a:xfrm>
            <a:off x="4368431" y="3557489"/>
            <a:ext cx="8842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Conformity</a:t>
            </a:r>
          </a:p>
        </p:txBody>
      </p:sp>
      <p:cxnSp>
        <p:nvCxnSpPr>
          <p:cNvPr id="4405" name="Curved Connector 4404">
            <a:extLst>
              <a:ext uri="{FF2B5EF4-FFF2-40B4-BE49-F238E27FC236}">
                <a16:creationId xmlns:a16="http://schemas.microsoft.com/office/drawing/2014/main" id="{4D70F7FA-1F5E-1B1D-2789-F4FEB2D60E85}"/>
              </a:ext>
            </a:extLst>
          </p:cNvPr>
          <p:cNvCxnSpPr>
            <a:cxnSpLocks/>
            <a:stCxn id="16" idx="1"/>
            <a:endCxn id="24" idx="5"/>
          </p:cNvCxnSpPr>
          <p:nvPr/>
        </p:nvCxnSpPr>
        <p:spPr>
          <a:xfrm rot="16200000" flipV="1">
            <a:off x="5528101" y="3059713"/>
            <a:ext cx="2060845" cy="2483810"/>
          </a:xfrm>
          <a:prstGeom prst="curvedConnector3">
            <a:avLst>
              <a:gd name="adj1" fmla="val 53169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10" name="TextBox 4409">
            <a:extLst>
              <a:ext uri="{FF2B5EF4-FFF2-40B4-BE49-F238E27FC236}">
                <a16:creationId xmlns:a16="http://schemas.microsoft.com/office/drawing/2014/main" id="{419905F4-79C8-03A4-30B5-D10E0057B55F}"/>
              </a:ext>
            </a:extLst>
          </p:cNvPr>
          <p:cNvSpPr txBox="1"/>
          <p:nvPr/>
        </p:nvSpPr>
        <p:spPr>
          <a:xfrm>
            <a:off x="5021616" y="3340489"/>
            <a:ext cx="8842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Conformity</a:t>
            </a:r>
          </a:p>
        </p:txBody>
      </p:sp>
      <p:sp>
        <p:nvSpPr>
          <p:cNvPr id="4414" name="TextBox 4413">
            <a:extLst>
              <a:ext uri="{FF2B5EF4-FFF2-40B4-BE49-F238E27FC236}">
                <a16:creationId xmlns:a16="http://schemas.microsoft.com/office/drawing/2014/main" id="{2226ACC5-098A-526E-722A-E12432D45D8A}"/>
              </a:ext>
            </a:extLst>
          </p:cNvPr>
          <p:cNvSpPr txBox="1"/>
          <p:nvPr/>
        </p:nvSpPr>
        <p:spPr>
          <a:xfrm>
            <a:off x="7462495" y="3432215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Scheme</a:t>
            </a:r>
          </a:p>
        </p:txBody>
      </p:sp>
    </p:spTree>
    <p:extLst>
      <p:ext uri="{BB962C8B-B14F-4D97-AF65-F5344CB8AC3E}">
        <p14:creationId xmlns:p14="http://schemas.microsoft.com/office/powerpoint/2010/main" val="3842909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94259-00AE-1F38-CB61-F70D74237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Rounded Rectangle 782">
            <a:extLst>
              <a:ext uri="{FF2B5EF4-FFF2-40B4-BE49-F238E27FC236}">
                <a16:creationId xmlns:a16="http://schemas.microsoft.com/office/drawing/2014/main" id="{A2D70FA1-71A6-7154-B53A-A30ADAC2D9EB}"/>
              </a:ext>
            </a:extLst>
          </p:cNvPr>
          <p:cNvSpPr/>
          <p:nvPr/>
        </p:nvSpPr>
        <p:spPr>
          <a:xfrm>
            <a:off x="7605643" y="186547"/>
            <a:ext cx="1497479" cy="2283389"/>
          </a:xfrm>
          <a:prstGeom prst="roundRect">
            <a:avLst>
              <a:gd name="adj" fmla="val 7444"/>
            </a:avLst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21" name="Rounded Rectangle 720">
            <a:extLst>
              <a:ext uri="{FF2B5EF4-FFF2-40B4-BE49-F238E27FC236}">
                <a16:creationId xmlns:a16="http://schemas.microsoft.com/office/drawing/2014/main" id="{CA92015D-B197-CB1F-0AD9-761477E77C39}"/>
              </a:ext>
            </a:extLst>
          </p:cNvPr>
          <p:cNvSpPr/>
          <p:nvPr/>
        </p:nvSpPr>
        <p:spPr>
          <a:xfrm>
            <a:off x="7688265" y="372145"/>
            <a:ext cx="521915" cy="203327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27" name="Rounded Rectangle 726">
            <a:extLst>
              <a:ext uri="{FF2B5EF4-FFF2-40B4-BE49-F238E27FC236}">
                <a16:creationId xmlns:a16="http://schemas.microsoft.com/office/drawing/2014/main" id="{62E5122E-4146-FDA0-E108-0ECD68C09B25}"/>
              </a:ext>
            </a:extLst>
          </p:cNvPr>
          <p:cNvSpPr/>
          <p:nvPr/>
        </p:nvSpPr>
        <p:spPr>
          <a:xfrm>
            <a:off x="8275713" y="370841"/>
            <a:ext cx="772015" cy="1136749"/>
          </a:xfrm>
          <a:prstGeom prst="roundRect">
            <a:avLst>
              <a:gd name="adj" fmla="val 14145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32" name="Rounded Rectangle 731">
            <a:extLst>
              <a:ext uri="{FF2B5EF4-FFF2-40B4-BE49-F238E27FC236}">
                <a16:creationId xmlns:a16="http://schemas.microsoft.com/office/drawing/2014/main" id="{E3E6BDD0-6E8E-52CB-8E1F-04277097F411}"/>
              </a:ext>
            </a:extLst>
          </p:cNvPr>
          <p:cNvSpPr/>
          <p:nvPr/>
        </p:nvSpPr>
        <p:spPr>
          <a:xfrm>
            <a:off x="8280829" y="1572871"/>
            <a:ext cx="761781" cy="832546"/>
          </a:xfrm>
          <a:prstGeom prst="roundRect">
            <a:avLst>
              <a:gd name="adj" fmla="val 141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48" name="Rounded Rectangle 747">
            <a:extLst>
              <a:ext uri="{FF2B5EF4-FFF2-40B4-BE49-F238E27FC236}">
                <a16:creationId xmlns:a16="http://schemas.microsoft.com/office/drawing/2014/main" id="{2A62C04B-4242-154A-7EB7-AE246A4A4072}"/>
              </a:ext>
            </a:extLst>
          </p:cNvPr>
          <p:cNvSpPr/>
          <p:nvPr/>
        </p:nvSpPr>
        <p:spPr>
          <a:xfrm>
            <a:off x="6367084" y="3189880"/>
            <a:ext cx="1165399" cy="1944678"/>
          </a:xfrm>
          <a:prstGeom prst="roundRect">
            <a:avLst>
              <a:gd name="adj" fmla="val 7444"/>
            </a:avLst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51" name="Rounded Rectangle 750">
            <a:extLst>
              <a:ext uri="{FF2B5EF4-FFF2-40B4-BE49-F238E27FC236}">
                <a16:creationId xmlns:a16="http://schemas.microsoft.com/office/drawing/2014/main" id="{C03119D8-D9E9-754D-8A98-2341979EACEF}"/>
              </a:ext>
            </a:extLst>
          </p:cNvPr>
          <p:cNvSpPr/>
          <p:nvPr/>
        </p:nvSpPr>
        <p:spPr>
          <a:xfrm>
            <a:off x="6361825" y="1341240"/>
            <a:ext cx="1165399" cy="1779615"/>
          </a:xfrm>
          <a:prstGeom prst="roundRect">
            <a:avLst>
              <a:gd name="adj" fmla="val 7444"/>
            </a:avLst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59" name="Rounded Rectangle 458">
            <a:extLst>
              <a:ext uri="{FF2B5EF4-FFF2-40B4-BE49-F238E27FC236}">
                <a16:creationId xmlns:a16="http://schemas.microsoft.com/office/drawing/2014/main" id="{F179680D-A42B-48F9-4A97-2BB9ACEF90AF}"/>
              </a:ext>
            </a:extLst>
          </p:cNvPr>
          <p:cNvSpPr/>
          <p:nvPr/>
        </p:nvSpPr>
        <p:spPr>
          <a:xfrm>
            <a:off x="6419935" y="1503496"/>
            <a:ext cx="521915" cy="156037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69" name="Rounded Rectangle 468">
            <a:extLst>
              <a:ext uri="{FF2B5EF4-FFF2-40B4-BE49-F238E27FC236}">
                <a16:creationId xmlns:a16="http://schemas.microsoft.com/office/drawing/2014/main" id="{B93BCC46-53DA-AD20-996D-91B3F5E26EAC}"/>
              </a:ext>
            </a:extLst>
          </p:cNvPr>
          <p:cNvSpPr/>
          <p:nvPr/>
        </p:nvSpPr>
        <p:spPr>
          <a:xfrm>
            <a:off x="6993891" y="1496053"/>
            <a:ext cx="456560" cy="156037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14" name="Rounded Rectangle 713">
            <a:extLst>
              <a:ext uri="{FF2B5EF4-FFF2-40B4-BE49-F238E27FC236}">
                <a16:creationId xmlns:a16="http://schemas.microsoft.com/office/drawing/2014/main" id="{2851226E-A1BC-F5FB-5552-78E3CC7249F8}"/>
              </a:ext>
            </a:extLst>
          </p:cNvPr>
          <p:cNvSpPr/>
          <p:nvPr/>
        </p:nvSpPr>
        <p:spPr>
          <a:xfrm>
            <a:off x="6441912" y="4274866"/>
            <a:ext cx="489147" cy="79066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15" name="Rounded Rectangle 714">
            <a:extLst>
              <a:ext uri="{FF2B5EF4-FFF2-40B4-BE49-F238E27FC236}">
                <a16:creationId xmlns:a16="http://schemas.microsoft.com/office/drawing/2014/main" id="{06B469DC-3D90-5F93-F772-8E73F6841889}"/>
              </a:ext>
            </a:extLst>
          </p:cNvPr>
          <p:cNvSpPr/>
          <p:nvPr/>
        </p:nvSpPr>
        <p:spPr>
          <a:xfrm>
            <a:off x="6974829" y="4274867"/>
            <a:ext cx="489147" cy="79179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79" name="Rounded Rectangle 778">
            <a:extLst>
              <a:ext uri="{FF2B5EF4-FFF2-40B4-BE49-F238E27FC236}">
                <a16:creationId xmlns:a16="http://schemas.microsoft.com/office/drawing/2014/main" id="{6E8ADAE9-7596-384A-6599-9ADFAF54BB93}"/>
              </a:ext>
            </a:extLst>
          </p:cNvPr>
          <p:cNvSpPr/>
          <p:nvPr/>
        </p:nvSpPr>
        <p:spPr>
          <a:xfrm>
            <a:off x="6448694" y="3371438"/>
            <a:ext cx="489147" cy="8045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80" name="Rounded Rectangle 779">
            <a:extLst>
              <a:ext uri="{FF2B5EF4-FFF2-40B4-BE49-F238E27FC236}">
                <a16:creationId xmlns:a16="http://schemas.microsoft.com/office/drawing/2014/main" id="{6A5B9CAE-94E0-50B6-3F05-6E6AB5A63170}"/>
              </a:ext>
            </a:extLst>
          </p:cNvPr>
          <p:cNvSpPr/>
          <p:nvPr/>
        </p:nvSpPr>
        <p:spPr>
          <a:xfrm>
            <a:off x="6979199" y="3371438"/>
            <a:ext cx="489147" cy="81870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84" name="Rounded Rectangle 783">
            <a:extLst>
              <a:ext uri="{FF2B5EF4-FFF2-40B4-BE49-F238E27FC236}">
                <a16:creationId xmlns:a16="http://schemas.microsoft.com/office/drawing/2014/main" id="{99C4D9B2-0D5B-9BD8-299A-4BC8C91F4389}"/>
              </a:ext>
            </a:extLst>
          </p:cNvPr>
          <p:cNvSpPr/>
          <p:nvPr/>
        </p:nvSpPr>
        <p:spPr>
          <a:xfrm>
            <a:off x="7607311" y="2535217"/>
            <a:ext cx="1500971" cy="2599340"/>
          </a:xfrm>
          <a:prstGeom prst="roundRect">
            <a:avLst>
              <a:gd name="adj" fmla="val 7444"/>
            </a:avLst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90" name="Rounded Rectangle 789">
            <a:extLst>
              <a:ext uri="{FF2B5EF4-FFF2-40B4-BE49-F238E27FC236}">
                <a16:creationId xmlns:a16="http://schemas.microsoft.com/office/drawing/2014/main" id="{C3E68BD9-34B2-0EE6-651C-99B67E98074B}"/>
              </a:ext>
            </a:extLst>
          </p:cNvPr>
          <p:cNvSpPr/>
          <p:nvPr/>
        </p:nvSpPr>
        <p:spPr>
          <a:xfrm>
            <a:off x="9160323" y="184301"/>
            <a:ext cx="1247853" cy="4950256"/>
          </a:xfrm>
          <a:prstGeom prst="roundRect">
            <a:avLst>
              <a:gd name="adj" fmla="val 7444"/>
            </a:avLst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96" name="Rounded Rectangle 495">
            <a:extLst>
              <a:ext uri="{FF2B5EF4-FFF2-40B4-BE49-F238E27FC236}">
                <a16:creationId xmlns:a16="http://schemas.microsoft.com/office/drawing/2014/main" id="{84CE8911-324E-F9D8-C535-061AF41A0CB4}"/>
              </a:ext>
            </a:extLst>
          </p:cNvPr>
          <p:cNvSpPr/>
          <p:nvPr/>
        </p:nvSpPr>
        <p:spPr>
          <a:xfrm>
            <a:off x="7688265" y="2745284"/>
            <a:ext cx="520896" cy="232024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505" name="Rounded Rectangle 504">
            <a:extLst>
              <a:ext uri="{FF2B5EF4-FFF2-40B4-BE49-F238E27FC236}">
                <a16:creationId xmlns:a16="http://schemas.microsoft.com/office/drawing/2014/main" id="{7FDDEFE2-EF01-61DD-29C1-530BFABC4731}"/>
              </a:ext>
            </a:extLst>
          </p:cNvPr>
          <p:cNvSpPr/>
          <p:nvPr/>
        </p:nvSpPr>
        <p:spPr>
          <a:xfrm>
            <a:off x="8280829" y="2745283"/>
            <a:ext cx="765880" cy="1379576"/>
          </a:xfrm>
          <a:prstGeom prst="roundRect">
            <a:avLst>
              <a:gd name="adj" fmla="val 14145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606" name="Rounded Rectangle 605">
            <a:extLst>
              <a:ext uri="{FF2B5EF4-FFF2-40B4-BE49-F238E27FC236}">
                <a16:creationId xmlns:a16="http://schemas.microsoft.com/office/drawing/2014/main" id="{04929FD2-873E-B1A7-2A98-A13D905E6ED6}"/>
              </a:ext>
            </a:extLst>
          </p:cNvPr>
          <p:cNvSpPr/>
          <p:nvPr/>
        </p:nvSpPr>
        <p:spPr>
          <a:xfrm>
            <a:off x="8304367" y="4190140"/>
            <a:ext cx="732107" cy="875391"/>
          </a:xfrm>
          <a:prstGeom prst="roundRect">
            <a:avLst>
              <a:gd name="adj" fmla="val 9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53" name="Rounded Rectangle 752">
            <a:extLst>
              <a:ext uri="{FF2B5EF4-FFF2-40B4-BE49-F238E27FC236}">
                <a16:creationId xmlns:a16="http://schemas.microsoft.com/office/drawing/2014/main" id="{2D5FA9FF-C8A7-2AFE-6306-79F26FE30009}"/>
              </a:ext>
            </a:extLst>
          </p:cNvPr>
          <p:cNvSpPr/>
          <p:nvPr/>
        </p:nvSpPr>
        <p:spPr>
          <a:xfrm>
            <a:off x="6374936" y="173962"/>
            <a:ext cx="1165399" cy="1098253"/>
          </a:xfrm>
          <a:prstGeom prst="roundRect">
            <a:avLst>
              <a:gd name="adj" fmla="val 7444"/>
            </a:avLst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55" name="Rounded Rectangle 754">
            <a:extLst>
              <a:ext uri="{FF2B5EF4-FFF2-40B4-BE49-F238E27FC236}">
                <a16:creationId xmlns:a16="http://schemas.microsoft.com/office/drawing/2014/main" id="{20FB4C0E-7BDE-3122-CB4B-E362643D30DE}"/>
              </a:ext>
            </a:extLst>
          </p:cNvPr>
          <p:cNvSpPr/>
          <p:nvPr/>
        </p:nvSpPr>
        <p:spPr>
          <a:xfrm>
            <a:off x="5144229" y="168480"/>
            <a:ext cx="1165399" cy="4966077"/>
          </a:xfrm>
          <a:prstGeom prst="roundRect">
            <a:avLst>
              <a:gd name="adj" fmla="val 7444"/>
            </a:avLst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26" name="Rounded Rectangle 425">
            <a:extLst>
              <a:ext uri="{FF2B5EF4-FFF2-40B4-BE49-F238E27FC236}">
                <a16:creationId xmlns:a16="http://schemas.microsoft.com/office/drawing/2014/main" id="{A04EF70C-6626-15D3-6DDE-FC4CE74BFDC7}"/>
              </a:ext>
            </a:extLst>
          </p:cNvPr>
          <p:cNvSpPr/>
          <p:nvPr/>
        </p:nvSpPr>
        <p:spPr>
          <a:xfrm>
            <a:off x="5219958" y="364240"/>
            <a:ext cx="489147" cy="75933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48" name="Rounded Rectangle 447">
            <a:extLst>
              <a:ext uri="{FF2B5EF4-FFF2-40B4-BE49-F238E27FC236}">
                <a16:creationId xmlns:a16="http://schemas.microsoft.com/office/drawing/2014/main" id="{82C10331-F3E6-93ED-3FAE-2E3B77AECE7B}"/>
              </a:ext>
            </a:extLst>
          </p:cNvPr>
          <p:cNvSpPr/>
          <p:nvPr/>
        </p:nvSpPr>
        <p:spPr>
          <a:xfrm>
            <a:off x="5744612" y="372126"/>
            <a:ext cx="489147" cy="75933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57" name="Rounded Rectangle 756">
            <a:extLst>
              <a:ext uri="{FF2B5EF4-FFF2-40B4-BE49-F238E27FC236}">
                <a16:creationId xmlns:a16="http://schemas.microsoft.com/office/drawing/2014/main" id="{4BFBB5FA-FE12-A8A4-34B1-4AACDA9AA413}"/>
              </a:ext>
            </a:extLst>
          </p:cNvPr>
          <p:cNvSpPr/>
          <p:nvPr/>
        </p:nvSpPr>
        <p:spPr>
          <a:xfrm>
            <a:off x="5213487" y="1307311"/>
            <a:ext cx="489147" cy="83778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58" name="Rounded Rectangle 757">
            <a:extLst>
              <a:ext uri="{FF2B5EF4-FFF2-40B4-BE49-F238E27FC236}">
                <a16:creationId xmlns:a16="http://schemas.microsoft.com/office/drawing/2014/main" id="{285D957C-324F-AA50-D066-34FDBB628436}"/>
              </a:ext>
            </a:extLst>
          </p:cNvPr>
          <p:cNvSpPr/>
          <p:nvPr/>
        </p:nvSpPr>
        <p:spPr>
          <a:xfrm>
            <a:off x="5746404" y="1307311"/>
            <a:ext cx="489147" cy="8377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59" name="Rounded Rectangle 758">
            <a:extLst>
              <a:ext uri="{FF2B5EF4-FFF2-40B4-BE49-F238E27FC236}">
                <a16:creationId xmlns:a16="http://schemas.microsoft.com/office/drawing/2014/main" id="{3DAD72BA-952C-CEDF-DE15-F39C7EB33B1A}"/>
              </a:ext>
            </a:extLst>
          </p:cNvPr>
          <p:cNvSpPr/>
          <p:nvPr/>
        </p:nvSpPr>
        <p:spPr>
          <a:xfrm>
            <a:off x="5213487" y="2217145"/>
            <a:ext cx="489147" cy="10107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60" name="Rounded Rectangle 759">
            <a:extLst>
              <a:ext uri="{FF2B5EF4-FFF2-40B4-BE49-F238E27FC236}">
                <a16:creationId xmlns:a16="http://schemas.microsoft.com/office/drawing/2014/main" id="{AC8766D7-2F02-9C65-244D-9C18A1488F21}"/>
              </a:ext>
            </a:extLst>
          </p:cNvPr>
          <p:cNvSpPr/>
          <p:nvPr/>
        </p:nvSpPr>
        <p:spPr>
          <a:xfrm>
            <a:off x="5746404" y="2225678"/>
            <a:ext cx="489147" cy="99011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61" name="Rounded Rectangle 760">
            <a:extLst>
              <a:ext uri="{FF2B5EF4-FFF2-40B4-BE49-F238E27FC236}">
                <a16:creationId xmlns:a16="http://schemas.microsoft.com/office/drawing/2014/main" id="{BBC41662-838B-1D99-0A90-E4B3E29604A2}"/>
              </a:ext>
            </a:extLst>
          </p:cNvPr>
          <p:cNvSpPr/>
          <p:nvPr/>
        </p:nvSpPr>
        <p:spPr>
          <a:xfrm>
            <a:off x="5217573" y="4274867"/>
            <a:ext cx="489147" cy="79179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62" name="Rounded Rectangle 761">
            <a:extLst>
              <a:ext uri="{FF2B5EF4-FFF2-40B4-BE49-F238E27FC236}">
                <a16:creationId xmlns:a16="http://schemas.microsoft.com/office/drawing/2014/main" id="{0AD154DC-0E2B-AC50-2E19-3650B4C9115C}"/>
              </a:ext>
            </a:extLst>
          </p:cNvPr>
          <p:cNvSpPr/>
          <p:nvPr/>
        </p:nvSpPr>
        <p:spPr>
          <a:xfrm>
            <a:off x="5752876" y="4274866"/>
            <a:ext cx="489147" cy="79179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>
              <a:solidFill>
                <a:srgbClr val="156082"/>
              </a:solidFill>
              <a:latin typeface="Aptos" panose="02110004020202020204"/>
            </a:endParaRPr>
          </a:p>
        </p:txBody>
      </p:sp>
      <p:sp>
        <p:nvSpPr>
          <p:cNvPr id="775" name="Rounded Rectangle 774">
            <a:extLst>
              <a:ext uri="{FF2B5EF4-FFF2-40B4-BE49-F238E27FC236}">
                <a16:creationId xmlns:a16="http://schemas.microsoft.com/office/drawing/2014/main" id="{CA7EB155-5DFA-CA39-C853-FB64E2C5F02A}"/>
              </a:ext>
            </a:extLst>
          </p:cNvPr>
          <p:cNvSpPr/>
          <p:nvPr/>
        </p:nvSpPr>
        <p:spPr>
          <a:xfrm>
            <a:off x="5210399" y="3326662"/>
            <a:ext cx="489147" cy="8492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76" name="Rounded Rectangle 775">
            <a:extLst>
              <a:ext uri="{FF2B5EF4-FFF2-40B4-BE49-F238E27FC236}">
                <a16:creationId xmlns:a16="http://schemas.microsoft.com/office/drawing/2014/main" id="{2671EE60-A6B6-8107-228A-0EC736139C0E}"/>
              </a:ext>
            </a:extLst>
          </p:cNvPr>
          <p:cNvSpPr/>
          <p:nvPr/>
        </p:nvSpPr>
        <p:spPr>
          <a:xfrm>
            <a:off x="5743317" y="3335595"/>
            <a:ext cx="489147" cy="82825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42" name="Rounded Rectangle 741">
            <a:extLst>
              <a:ext uri="{FF2B5EF4-FFF2-40B4-BE49-F238E27FC236}">
                <a16:creationId xmlns:a16="http://schemas.microsoft.com/office/drawing/2014/main" id="{1CBB4396-8B92-B37B-A255-B31A177D4D5E}"/>
              </a:ext>
            </a:extLst>
          </p:cNvPr>
          <p:cNvSpPr/>
          <p:nvPr/>
        </p:nvSpPr>
        <p:spPr>
          <a:xfrm>
            <a:off x="1799994" y="1217595"/>
            <a:ext cx="3251924" cy="1782441"/>
          </a:xfrm>
          <a:prstGeom prst="roundRect">
            <a:avLst>
              <a:gd name="adj" fmla="val 2362"/>
            </a:avLst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05" name="Rounded Rectangle 404">
            <a:extLst>
              <a:ext uri="{FF2B5EF4-FFF2-40B4-BE49-F238E27FC236}">
                <a16:creationId xmlns:a16="http://schemas.microsoft.com/office/drawing/2014/main" id="{414B0B0E-BFF6-CE4D-F613-A12AFB0B13EB}"/>
              </a:ext>
            </a:extLst>
          </p:cNvPr>
          <p:cNvSpPr/>
          <p:nvPr/>
        </p:nvSpPr>
        <p:spPr>
          <a:xfrm>
            <a:off x="1849252" y="1381533"/>
            <a:ext cx="489147" cy="158992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11" name="Rounded Rectangle 410">
            <a:extLst>
              <a:ext uri="{FF2B5EF4-FFF2-40B4-BE49-F238E27FC236}">
                <a16:creationId xmlns:a16="http://schemas.microsoft.com/office/drawing/2014/main" id="{B8E58C4F-6807-3BF8-393A-CDAC449E6208}"/>
              </a:ext>
            </a:extLst>
          </p:cNvPr>
          <p:cNvSpPr/>
          <p:nvPr/>
        </p:nvSpPr>
        <p:spPr>
          <a:xfrm>
            <a:off x="2380239" y="1381533"/>
            <a:ext cx="489147" cy="158992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12" name="Rounded Rectangle 411">
            <a:extLst>
              <a:ext uri="{FF2B5EF4-FFF2-40B4-BE49-F238E27FC236}">
                <a16:creationId xmlns:a16="http://schemas.microsoft.com/office/drawing/2014/main" id="{3475110F-F0E4-58A0-029B-06386994B79D}"/>
              </a:ext>
            </a:extLst>
          </p:cNvPr>
          <p:cNvSpPr/>
          <p:nvPr/>
        </p:nvSpPr>
        <p:spPr>
          <a:xfrm>
            <a:off x="2918450" y="1379851"/>
            <a:ext cx="489147" cy="158992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13" name="Rounded Rectangle 412">
            <a:extLst>
              <a:ext uri="{FF2B5EF4-FFF2-40B4-BE49-F238E27FC236}">
                <a16:creationId xmlns:a16="http://schemas.microsoft.com/office/drawing/2014/main" id="{DFACA3E4-7FA9-AA05-7C26-22FF2079603B}"/>
              </a:ext>
            </a:extLst>
          </p:cNvPr>
          <p:cNvSpPr/>
          <p:nvPr/>
        </p:nvSpPr>
        <p:spPr>
          <a:xfrm>
            <a:off x="3456191" y="1383931"/>
            <a:ext cx="489147" cy="158992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24" name="Rounded Rectangle 423">
            <a:extLst>
              <a:ext uri="{FF2B5EF4-FFF2-40B4-BE49-F238E27FC236}">
                <a16:creationId xmlns:a16="http://schemas.microsoft.com/office/drawing/2014/main" id="{E7918F4F-3690-0CAB-9638-10589707627C}"/>
              </a:ext>
            </a:extLst>
          </p:cNvPr>
          <p:cNvSpPr/>
          <p:nvPr/>
        </p:nvSpPr>
        <p:spPr>
          <a:xfrm>
            <a:off x="3978275" y="1379851"/>
            <a:ext cx="489147" cy="158992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25" name="Rounded Rectangle 424">
            <a:extLst>
              <a:ext uri="{FF2B5EF4-FFF2-40B4-BE49-F238E27FC236}">
                <a16:creationId xmlns:a16="http://schemas.microsoft.com/office/drawing/2014/main" id="{6E0A2B25-A62D-25A0-F402-E23C6055BD55}"/>
              </a:ext>
            </a:extLst>
          </p:cNvPr>
          <p:cNvSpPr/>
          <p:nvPr/>
        </p:nvSpPr>
        <p:spPr>
          <a:xfrm>
            <a:off x="4508780" y="1379851"/>
            <a:ext cx="489147" cy="158992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40" name="Rounded Rectangle 739">
            <a:extLst>
              <a:ext uri="{FF2B5EF4-FFF2-40B4-BE49-F238E27FC236}">
                <a16:creationId xmlns:a16="http://schemas.microsoft.com/office/drawing/2014/main" id="{BC7A8233-7093-B42B-7867-9EF00D57F576}"/>
              </a:ext>
            </a:extLst>
          </p:cNvPr>
          <p:cNvSpPr/>
          <p:nvPr/>
        </p:nvSpPr>
        <p:spPr>
          <a:xfrm>
            <a:off x="1799970" y="161367"/>
            <a:ext cx="3268391" cy="1013990"/>
          </a:xfrm>
          <a:prstGeom prst="roundRect">
            <a:avLst>
              <a:gd name="adj" fmla="val 7444"/>
            </a:avLst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A9A55B8-9C24-B878-4D66-241954E49F1E}"/>
              </a:ext>
            </a:extLst>
          </p:cNvPr>
          <p:cNvSpPr/>
          <p:nvPr/>
        </p:nvSpPr>
        <p:spPr>
          <a:xfrm>
            <a:off x="1927957" y="1780521"/>
            <a:ext cx="343844" cy="1788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Mine2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8401E86-F299-F5E5-5D05-235DB1905C8F}"/>
              </a:ext>
            </a:extLst>
          </p:cNvPr>
          <p:cNvSpPr/>
          <p:nvPr/>
        </p:nvSpPr>
        <p:spPr>
          <a:xfrm>
            <a:off x="2960257" y="1923688"/>
            <a:ext cx="408776" cy="178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Smelter2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78F9BE0-250F-95A3-7414-04EE80E10611}"/>
              </a:ext>
            </a:extLst>
          </p:cNvPr>
          <p:cNvSpPr/>
          <p:nvPr/>
        </p:nvSpPr>
        <p:spPr>
          <a:xfrm>
            <a:off x="5289652" y="1686862"/>
            <a:ext cx="344886" cy="164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Fab2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346781D-CDD3-2B52-0552-2BE774437005}"/>
              </a:ext>
            </a:extLst>
          </p:cNvPr>
          <p:cNvSpPr/>
          <p:nvPr/>
        </p:nvSpPr>
        <p:spPr>
          <a:xfrm>
            <a:off x="1938019" y="2109208"/>
            <a:ext cx="343844" cy="1589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Mine3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8E7D26E-B03D-766A-FCE8-1B66606E8365}"/>
              </a:ext>
            </a:extLst>
          </p:cNvPr>
          <p:cNvSpPr/>
          <p:nvPr/>
        </p:nvSpPr>
        <p:spPr>
          <a:xfrm>
            <a:off x="1925548" y="2392059"/>
            <a:ext cx="368785" cy="1589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Mine4</a:t>
            </a:r>
          </a:p>
        </p:txBody>
      </p:sp>
      <p:cxnSp>
        <p:nvCxnSpPr>
          <p:cNvPr id="50" name="Straight Connector 26">
            <a:extLst>
              <a:ext uri="{FF2B5EF4-FFF2-40B4-BE49-F238E27FC236}">
                <a16:creationId xmlns:a16="http://schemas.microsoft.com/office/drawing/2014/main" id="{41199893-BB47-641B-66CF-9FEC4B48F8E7}"/>
              </a:ext>
            </a:extLst>
          </p:cNvPr>
          <p:cNvCxnSpPr>
            <a:cxnSpLocks/>
            <a:stCxn id="5" idx="6"/>
            <a:endCxn id="21" idx="2"/>
          </p:cNvCxnSpPr>
          <p:nvPr/>
        </p:nvCxnSpPr>
        <p:spPr>
          <a:xfrm>
            <a:off x="2271801" y="1869939"/>
            <a:ext cx="688456" cy="14316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8FB4C358-3072-BB5E-8B7E-4414E13C629B}"/>
              </a:ext>
            </a:extLst>
          </p:cNvPr>
          <p:cNvSpPr/>
          <p:nvPr/>
        </p:nvSpPr>
        <p:spPr>
          <a:xfrm>
            <a:off x="2946491" y="2298477"/>
            <a:ext cx="408776" cy="178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Smelter3</a:t>
            </a:r>
          </a:p>
        </p:txBody>
      </p:sp>
      <p:cxnSp>
        <p:nvCxnSpPr>
          <p:cNvPr id="251" name="Straight Connector 26">
            <a:extLst>
              <a:ext uri="{FF2B5EF4-FFF2-40B4-BE49-F238E27FC236}">
                <a16:creationId xmlns:a16="http://schemas.microsoft.com/office/drawing/2014/main" id="{78D90FEE-1476-C6EA-033E-796C34F04BB9}"/>
              </a:ext>
            </a:extLst>
          </p:cNvPr>
          <p:cNvCxnSpPr>
            <a:cxnSpLocks/>
            <a:stCxn id="39" idx="6"/>
            <a:endCxn id="21" idx="2"/>
          </p:cNvCxnSpPr>
          <p:nvPr/>
        </p:nvCxnSpPr>
        <p:spPr>
          <a:xfrm flipV="1">
            <a:off x="2281863" y="2013107"/>
            <a:ext cx="678394" cy="17556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6">
            <a:extLst>
              <a:ext uri="{FF2B5EF4-FFF2-40B4-BE49-F238E27FC236}">
                <a16:creationId xmlns:a16="http://schemas.microsoft.com/office/drawing/2014/main" id="{C004E955-AC19-0382-DE2E-F1EBA2A59296}"/>
              </a:ext>
            </a:extLst>
          </p:cNvPr>
          <p:cNvCxnSpPr>
            <a:cxnSpLocks/>
            <a:stCxn id="5" idx="6"/>
            <a:endCxn id="146" idx="2"/>
          </p:cNvCxnSpPr>
          <p:nvPr/>
        </p:nvCxnSpPr>
        <p:spPr>
          <a:xfrm>
            <a:off x="2271800" y="1869939"/>
            <a:ext cx="674690" cy="51795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6">
            <a:extLst>
              <a:ext uri="{FF2B5EF4-FFF2-40B4-BE49-F238E27FC236}">
                <a16:creationId xmlns:a16="http://schemas.microsoft.com/office/drawing/2014/main" id="{AE8A4341-D285-0794-ADEE-3FA916FF996E}"/>
              </a:ext>
            </a:extLst>
          </p:cNvPr>
          <p:cNvCxnSpPr>
            <a:cxnSpLocks/>
            <a:stCxn id="39" idx="6"/>
            <a:endCxn id="146" idx="2"/>
          </p:cNvCxnSpPr>
          <p:nvPr/>
        </p:nvCxnSpPr>
        <p:spPr>
          <a:xfrm>
            <a:off x="2281863" y="2188672"/>
            <a:ext cx="664627" cy="19922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6">
            <a:extLst>
              <a:ext uri="{FF2B5EF4-FFF2-40B4-BE49-F238E27FC236}">
                <a16:creationId xmlns:a16="http://schemas.microsoft.com/office/drawing/2014/main" id="{EC81D65A-C808-C559-FFD5-BA318831979F}"/>
              </a:ext>
            </a:extLst>
          </p:cNvPr>
          <p:cNvCxnSpPr>
            <a:cxnSpLocks/>
            <a:stCxn id="40" idx="6"/>
            <a:endCxn id="146" idx="2"/>
          </p:cNvCxnSpPr>
          <p:nvPr/>
        </p:nvCxnSpPr>
        <p:spPr>
          <a:xfrm flipV="1">
            <a:off x="2294333" y="2387895"/>
            <a:ext cx="652157" cy="83628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5" name="Oval 334">
            <a:extLst>
              <a:ext uri="{FF2B5EF4-FFF2-40B4-BE49-F238E27FC236}">
                <a16:creationId xmlns:a16="http://schemas.microsoft.com/office/drawing/2014/main" id="{E4A28A62-143A-73FA-D8C2-D8B0E209A6FD}"/>
              </a:ext>
            </a:extLst>
          </p:cNvPr>
          <p:cNvSpPr/>
          <p:nvPr/>
        </p:nvSpPr>
        <p:spPr>
          <a:xfrm>
            <a:off x="3998434" y="1824889"/>
            <a:ext cx="408776" cy="178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Refiner2</a:t>
            </a:r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3EFEE306-7414-19F9-98E1-99B53335D46C}"/>
              </a:ext>
            </a:extLst>
          </p:cNvPr>
          <p:cNvSpPr/>
          <p:nvPr/>
        </p:nvSpPr>
        <p:spPr>
          <a:xfrm>
            <a:off x="3998434" y="2134751"/>
            <a:ext cx="408776" cy="178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Refiner3</a:t>
            </a:r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802FC618-C8ED-6C76-5BCB-E244328F655A}"/>
              </a:ext>
            </a:extLst>
          </p:cNvPr>
          <p:cNvSpPr/>
          <p:nvPr/>
        </p:nvSpPr>
        <p:spPr>
          <a:xfrm>
            <a:off x="4008007" y="2406963"/>
            <a:ext cx="408776" cy="178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Refiner4</a:t>
            </a:r>
          </a:p>
        </p:txBody>
      </p:sp>
      <p:cxnSp>
        <p:nvCxnSpPr>
          <p:cNvPr id="344" name="Straight Connector 26">
            <a:extLst>
              <a:ext uri="{FF2B5EF4-FFF2-40B4-BE49-F238E27FC236}">
                <a16:creationId xmlns:a16="http://schemas.microsoft.com/office/drawing/2014/main" id="{9BDF1CCE-CFB4-32DA-0DB1-5DBB9CAFB8FE}"/>
              </a:ext>
            </a:extLst>
          </p:cNvPr>
          <p:cNvCxnSpPr>
            <a:cxnSpLocks/>
            <a:stCxn id="21" idx="6"/>
            <a:endCxn id="335" idx="2"/>
          </p:cNvCxnSpPr>
          <p:nvPr/>
        </p:nvCxnSpPr>
        <p:spPr>
          <a:xfrm flipV="1">
            <a:off x="3369033" y="1914308"/>
            <a:ext cx="629401" cy="9879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26">
            <a:extLst>
              <a:ext uri="{FF2B5EF4-FFF2-40B4-BE49-F238E27FC236}">
                <a16:creationId xmlns:a16="http://schemas.microsoft.com/office/drawing/2014/main" id="{23B06A93-D225-F115-C88E-BABFC0D0AD99}"/>
              </a:ext>
            </a:extLst>
          </p:cNvPr>
          <p:cNvCxnSpPr>
            <a:cxnSpLocks/>
            <a:stCxn id="21" idx="6"/>
            <a:endCxn id="336" idx="2"/>
          </p:cNvCxnSpPr>
          <p:nvPr/>
        </p:nvCxnSpPr>
        <p:spPr>
          <a:xfrm>
            <a:off x="3369033" y="2013106"/>
            <a:ext cx="629401" cy="21106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26">
            <a:extLst>
              <a:ext uri="{FF2B5EF4-FFF2-40B4-BE49-F238E27FC236}">
                <a16:creationId xmlns:a16="http://schemas.microsoft.com/office/drawing/2014/main" id="{5DB324C4-EE33-432C-D825-0ACF423323AD}"/>
              </a:ext>
            </a:extLst>
          </p:cNvPr>
          <p:cNvCxnSpPr>
            <a:cxnSpLocks/>
            <a:stCxn id="146" idx="6"/>
            <a:endCxn id="337" idx="2"/>
          </p:cNvCxnSpPr>
          <p:nvPr/>
        </p:nvCxnSpPr>
        <p:spPr>
          <a:xfrm>
            <a:off x="3355266" y="2387896"/>
            <a:ext cx="652740" cy="10848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26">
            <a:extLst>
              <a:ext uri="{FF2B5EF4-FFF2-40B4-BE49-F238E27FC236}">
                <a16:creationId xmlns:a16="http://schemas.microsoft.com/office/drawing/2014/main" id="{52FB7C51-7BB7-45C6-BAF4-869C38357EC3}"/>
              </a:ext>
            </a:extLst>
          </p:cNvPr>
          <p:cNvCxnSpPr>
            <a:cxnSpLocks/>
            <a:stCxn id="146" idx="6"/>
            <a:endCxn id="336" idx="2"/>
          </p:cNvCxnSpPr>
          <p:nvPr/>
        </p:nvCxnSpPr>
        <p:spPr>
          <a:xfrm flipV="1">
            <a:off x="3355267" y="2224169"/>
            <a:ext cx="643167" cy="16372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3" name="Oval 362">
            <a:extLst>
              <a:ext uri="{FF2B5EF4-FFF2-40B4-BE49-F238E27FC236}">
                <a16:creationId xmlns:a16="http://schemas.microsoft.com/office/drawing/2014/main" id="{CF408F53-44D0-6CAB-3E31-D04BC095BDBF}"/>
              </a:ext>
            </a:extLst>
          </p:cNvPr>
          <p:cNvSpPr/>
          <p:nvPr/>
        </p:nvSpPr>
        <p:spPr>
          <a:xfrm>
            <a:off x="5306703" y="2533712"/>
            <a:ext cx="325266" cy="164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Fab3</a:t>
            </a:r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4E553728-B70F-16B7-196F-584E85327A39}"/>
              </a:ext>
            </a:extLst>
          </p:cNvPr>
          <p:cNvSpPr/>
          <p:nvPr/>
        </p:nvSpPr>
        <p:spPr>
          <a:xfrm>
            <a:off x="5301898" y="2773798"/>
            <a:ext cx="325266" cy="164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Fab4</a:t>
            </a:r>
          </a:p>
        </p:txBody>
      </p:sp>
      <p:cxnSp>
        <p:nvCxnSpPr>
          <p:cNvPr id="369" name="Straight Connector 26">
            <a:extLst>
              <a:ext uri="{FF2B5EF4-FFF2-40B4-BE49-F238E27FC236}">
                <a16:creationId xmlns:a16="http://schemas.microsoft.com/office/drawing/2014/main" id="{1723E530-DF6E-5E29-16B4-11FBF15B1B40}"/>
              </a:ext>
            </a:extLst>
          </p:cNvPr>
          <p:cNvCxnSpPr>
            <a:cxnSpLocks/>
            <a:stCxn id="337" idx="6"/>
            <a:endCxn id="364" idx="2"/>
          </p:cNvCxnSpPr>
          <p:nvPr/>
        </p:nvCxnSpPr>
        <p:spPr>
          <a:xfrm>
            <a:off x="4416783" y="2496381"/>
            <a:ext cx="885115" cy="35967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26">
            <a:extLst>
              <a:ext uri="{FF2B5EF4-FFF2-40B4-BE49-F238E27FC236}">
                <a16:creationId xmlns:a16="http://schemas.microsoft.com/office/drawing/2014/main" id="{1B39DEEC-552B-6583-9111-9A7CF1F02338}"/>
              </a:ext>
            </a:extLst>
          </p:cNvPr>
          <p:cNvCxnSpPr>
            <a:cxnSpLocks/>
            <a:stCxn id="336" idx="6"/>
            <a:endCxn id="363" idx="2"/>
          </p:cNvCxnSpPr>
          <p:nvPr/>
        </p:nvCxnSpPr>
        <p:spPr>
          <a:xfrm>
            <a:off x="4407210" y="2224170"/>
            <a:ext cx="899492" cy="39180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26">
            <a:extLst>
              <a:ext uri="{FF2B5EF4-FFF2-40B4-BE49-F238E27FC236}">
                <a16:creationId xmlns:a16="http://schemas.microsoft.com/office/drawing/2014/main" id="{7C16397F-0769-F675-088D-888965E03054}"/>
              </a:ext>
            </a:extLst>
          </p:cNvPr>
          <p:cNvCxnSpPr>
            <a:cxnSpLocks/>
            <a:stCxn id="335" idx="6"/>
            <a:endCxn id="363" idx="2"/>
          </p:cNvCxnSpPr>
          <p:nvPr/>
        </p:nvCxnSpPr>
        <p:spPr>
          <a:xfrm>
            <a:off x="4407210" y="1914307"/>
            <a:ext cx="899492" cy="70166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26">
            <a:extLst>
              <a:ext uri="{FF2B5EF4-FFF2-40B4-BE49-F238E27FC236}">
                <a16:creationId xmlns:a16="http://schemas.microsoft.com/office/drawing/2014/main" id="{CC20FCDF-93BD-1E4D-0D10-A0390F3AAF6B}"/>
              </a:ext>
            </a:extLst>
          </p:cNvPr>
          <p:cNvCxnSpPr>
            <a:cxnSpLocks/>
            <a:stCxn id="335" idx="6"/>
            <a:endCxn id="32" idx="2"/>
          </p:cNvCxnSpPr>
          <p:nvPr/>
        </p:nvCxnSpPr>
        <p:spPr>
          <a:xfrm flipV="1">
            <a:off x="4407210" y="1769124"/>
            <a:ext cx="882442" cy="14518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>
            <a:extLst>
              <a:ext uri="{FF2B5EF4-FFF2-40B4-BE49-F238E27FC236}">
                <a16:creationId xmlns:a16="http://schemas.microsoft.com/office/drawing/2014/main" id="{0852FA0C-EE0D-293C-4439-8D525156408D}"/>
              </a:ext>
            </a:extLst>
          </p:cNvPr>
          <p:cNvSpPr txBox="1"/>
          <p:nvPr/>
        </p:nvSpPr>
        <p:spPr>
          <a:xfrm>
            <a:off x="3407597" y="1375494"/>
            <a:ext cx="584716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Blister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09BDA5D0-8854-9FE9-A51C-DF21AAF0FA7E}"/>
              </a:ext>
            </a:extLst>
          </p:cNvPr>
          <p:cNvSpPr txBox="1"/>
          <p:nvPr/>
        </p:nvSpPr>
        <p:spPr>
          <a:xfrm>
            <a:off x="4442607" y="1358426"/>
            <a:ext cx="610289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Cathode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BE68F2AF-5BEE-408C-D8A0-1724980C7481}"/>
              </a:ext>
            </a:extLst>
          </p:cNvPr>
          <p:cNvSpPr txBox="1"/>
          <p:nvPr/>
        </p:nvSpPr>
        <p:spPr>
          <a:xfrm>
            <a:off x="3955417" y="1371676"/>
            <a:ext cx="523578" cy="3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Refiners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RMI ID/ ICA ID</a:t>
            </a:r>
          </a:p>
        </p:txBody>
      </p:sp>
      <p:cxnSp>
        <p:nvCxnSpPr>
          <p:cNvPr id="440" name="Straight Connector 26">
            <a:extLst>
              <a:ext uri="{FF2B5EF4-FFF2-40B4-BE49-F238E27FC236}">
                <a16:creationId xmlns:a16="http://schemas.microsoft.com/office/drawing/2014/main" id="{E8BFA7A9-6DFE-B231-B7AC-3B416EBAF89C}"/>
              </a:ext>
            </a:extLst>
          </p:cNvPr>
          <p:cNvCxnSpPr>
            <a:cxnSpLocks/>
            <a:stCxn id="32" idx="6"/>
            <a:endCxn id="444" idx="1"/>
          </p:cNvCxnSpPr>
          <p:nvPr/>
        </p:nvCxnSpPr>
        <p:spPr>
          <a:xfrm>
            <a:off x="5634538" y="1769124"/>
            <a:ext cx="291358" cy="6262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Straight Connector 26">
            <a:extLst>
              <a:ext uri="{FF2B5EF4-FFF2-40B4-BE49-F238E27FC236}">
                <a16:creationId xmlns:a16="http://schemas.microsoft.com/office/drawing/2014/main" id="{60796EE4-D6D5-010C-ED1D-20D7A72BF164}"/>
              </a:ext>
            </a:extLst>
          </p:cNvPr>
          <p:cNvCxnSpPr>
            <a:cxnSpLocks/>
            <a:stCxn id="32" idx="6"/>
            <a:endCxn id="488" idx="1"/>
          </p:cNvCxnSpPr>
          <p:nvPr/>
        </p:nvCxnSpPr>
        <p:spPr>
          <a:xfrm flipV="1">
            <a:off x="5634538" y="1658994"/>
            <a:ext cx="200024" cy="11013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26">
            <a:extLst>
              <a:ext uri="{FF2B5EF4-FFF2-40B4-BE49-F238E27FC236}">
                <a16:creationId xmlns:a16="http://schemas.microsoft.com/office/drawing/2014/main" id="{C0C0AF48-873A-1A97-892B-9EEB981FA5B9}"/>
              </a:ext>
            </a:extLst>
          </p:cNvPr>
          <p:cNvCxnSpPr>
            <a:cxnSpLocks/>
            <a:stCxn id="363" idx="6"/>
            <a:endCxn id="458" idx="2"/>
          </p:cNvCxnSpPr>
          <p:nvPr/>
        </p:nvCxnSpPr>
        <p:spPr>
          <a:xfrm>
            <a:off x="5631969" y="2615974"/>
            <a:ext cx="890510" cy="11780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Connector 26">
            <a:extLst>
              <a:ext uri="{FF2B5EF4-FFF2-40B4-BE49-F238E27FC236}">
                <a16:creationId xmlns:a16="http://schemas.microsoft.com/office/drawing/2014/main" id="{2E44FEE5-DDED-6390-C06C-02CA33BD4811}"/>
              </a:ext>
            </a:extLst>
          </p:cNvPr>
          <p:cNvCxnSpPr>
            <a:cxnSpLocks/>
            <a:stCxn id="363" idx="6"/>
            <a:endCxn id="446" idx="1"/>
          </p:cNvCxnSpPr>
          <p:nvPr/>
        </p:nvCxnSpPr>
        <p:spPr>
          <a:xfrm flipV="1">
            <a:off x="5631969" y="2547350"/>
            <a:ext cx="206584" cy="6862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6" name="Oval 455">
            <a:extLst>
              <a:ext uri="{FF2B5EF4-FFF2-40B4-BE49-F238E27FC236}">
                <a16:creationId xmlns:a16="http://schemas.microsoft.com/office/drawing/2014/main" id="{53062615-2D5D-B263-7F3E-194E9AA53963}"/>
              </a:ext>
            </a:extLst>
          </p:cNvPr>
          <p:cNvSpPr/>
          <p:nvPr/>
        </p:nvSpPr>
        <p:spPr>
          <a:xfrm>
            <a:off x="6510126" y="1959358"/>
            <a:ext cx="344886" cy="164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Manf2</a:t>
            </a: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E8F81661-2D58-F66B-1F81-0C748AF569B9}"/>
              </a:ext>
            </a:extLst>
          </p:cNvPr>
          <p:cNvSpPr/>
          <p:nvPr/>
        </p:nvSpPr>
        <p:spPr>
          <a:xfrm>
            <a:off x="6523852" y="2296701"/>
            <a:ext cx="325266" cy="164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Manf3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EB45951B-BF62-8FCC-85D6-AF620611F260}"/>
              </a:ext>
            </a:extLst>
          </p:cNvPr>
          <p:cNvSpPr/>
          <p:nvPr/>
        </p:nvSpPr>
        <p:spPr>
          <a:xfrm>
            <a:off x="6522479" y="2651519"/>
            <a:ext cx="325266" cy="164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Manf4</a:t>
            </a: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1CC94460-C2F8-F771-234B-71D3204B0A14}"/>
              </a:ext>
            </a:extLst>
          </p:cNvPr>
          <p:cNvSpPr txBox="1"/>
          <p:nvPr/>
        </p:nvSpPr>
        <p:spPr>
          <a:xfrm>
            <a:off x="6350418" y="1495883"/>
            <a:ext cx="651126" cy="3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Cell Factory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or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Catena-x ID</a:t>
            </a:r>
          </a:p>
        </p:txBody>
      </p:sp>
      <p:cxnSp>
        <p:nvCxnSpPr>
          <p:cNvPr id="461" name="Straight Connector 26">
            <a:extLst>
              <a:ext uri="{FF2B5EF4-FFF2-40B4-BE49-F238E27FC236}">
                <a16:creationId xmlns:a16="http://schemas.microsoft.com/office/drawing/2014/main" id="{538D9D34-572D-F996-B183-42033E8CD220}"/>
              </a:ext>
            </a:extLst>
          </p:cNvPr>
          <p:cNvCxnSpPr>
            <a:cxnSpLocks/>
            <a:stCxn id="456" idx="6"/>
            <a:endCxn id="465" idx="1"/>
          </p:cNvCxnSpPr>
          <p:nvPr/>
        </p:nvCxnSpPr>
        <p:spPr>
          <a:xfrm flipV="1">
            <a:off x="6855012" y="2011156"/>
            <a:ext cx="240201" cy="3046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26">
            <a:extLst>
              <a:ext uri="{FF2B5EF4-FFF2-40B4-BE49-F238E27FC236}">
                <a16:creationId xmlns:a16="http://schemas.microsoft.com/office/drawing/2014/main" id="{D5C74B20-238A-75E2-31C6-B139090AC922}"/>
              </a:ext>
            </a:extLst>
          </p:cNvPr>
          <p:cNvCxnSpPr>
            <a:cxnSpLocks/>
            <a:stCxn id="457" idx="6"/>
            <a:endCxn id="467" idx="1"/>
          </p:cNvCxnSpPr>
          <p:nvPr/>
        </p:nvCxnSpPr>
        <p:spPr>
          <a:xfrm>
            <a:off x="6849118" y="2378964"/>
            <a:ext cx="246095" cy="6956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26">
            <a:extLst>
              <a:ext uri="{FF2B5EF4-FFF2-40B4-BE49-F238E27FC236}">
                <a16:creationId xmlns:a16="http://schemas.microsoft.com/office/drawing/2014/main" id="{C567D13B-5FE2-1B66-5CD1-DDBCD681C183}"/>
              </a:ext>
            </a:extLst>
          </p:cNvPr>
          <p:cNvCxnSpPr>
            <a:cxnSpLocks/>
            <a:stCxn id="458" idx="6"/>
            <a:endCxn id="468" idx="1"/>
          </p:cNvCxnSpPr>
          <p:nvPr/>
        </p:nvCxnSpPr>
        <p:spPr>
          <a:xfrm flipV="1">
            <a:off x="6847745" y="2664217"/>
            <a:ext cx="247468" cy="6956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0" name="TextBox 469">
            <a:extLst>
              <a:ext uri="{FF2B5EF4-FFF2-40B4-BE49-F238E27FC236}">
                <a16:creationId xmlns:a16="http://schemas.microsoft.com/office/drawing/2014/main" id="{94539FFF-D8CB-98F7-9502-DCD70A4C64B2}"/>
              </a:ext>
            </a:extLst>
          </p:cNvPr>
          <p:cNvSpPr txBox="1"/>
          <p:nvPr/>
        </p:nvSpPr>
        <p:spPr>
          <a:xfrm>
            <a:off x="6959634" y="1503494"/>
            <a:ext cx="532511" cy="3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Batteries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Model id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Serial id</a:t>
            </a:r>
          </a:p>
        </p:txBody>
      </p:sp>
      <p:cxnSp>
        <p:nvCxnSpPr>
          <p:cNvPr id="485" name="Straight Connector 26">
            <a:extLst>
              <a:ext uri="{FF2B5EF4-FFF2-40B4-BE49-F238E27FC236}">
                <a16:creationId xmlns:a16="http://schemas.microsoft.com/office/drawing/2014/main" id="{31BE97E9-ED80-9DC1-FF24-AA711BB6C74D}"/>
              </a:ext>
            </a:extLst>
          </p:cNvPr>
          <p:cNvCxnSpPr>
            <a:cxnSpLocks/>
            <a:stCxn id="364" idx="6"/>
            <a:endCxn id="458" idx="2"/>
          </p:cNvCxnSpPr>
          <p:nvPr/>
        </p:nvCxnSpPr>
        <p:spPr>
          <a:xfrm flipV="1">
            <a:off x="5627164" y="2733781"/>
            <a:ext cx="895314" cy="12227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4" name="Diamond 443">
            <a:extLst>
              <a:ext uri="{FF2B5EF4-FFF2-40B4-BE49-F238E27FC236}">
                <a16:creationId xmlns:a16="http://schemas.microsoft.com/office/drawing/2014/main" id="{AB128F94-095B-6DE0-DAC1-52BFDA436D61}"/>
              </a:ext>
            </a:extLst>
          </p:cNvPr>
          <p:cNvSpPr/>
          <p:nvPr/>
        </p:nvSpPr>
        <p:spPr>
          <a:xfrm>
            <a:off x="5925896" y="1763078"/>
            <a:ext cx="242390" cy="13734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P3</a:t>
            </a:r>
          </a:p>
        </p:txBody>
      </p:sp>
      <p:sp>
        <p:nvSpPr>
          <p:cNvPr id="447" name="Diamond 446">
            <a:extLst>
              <a:ext uri="{FF2B5EF4-FFF2-40B4-BE49-F238E27FC236}">
                <a16:creationId xmlns:a16="http://schemas.microsoft.com/office/drawing/2014/main" id="{B7105524-47E3-79F6-4DDA-53EBF54E69A1}"/>
              </a:ext>
            </a:extLst>
          </p:cNvPr>
          <p:cNvSpPr/>
          <p:nvPr/>
        </p:nvSpPr>
        <p:spPr>
          <a:xfrm>
            <a:off x="5993687" y="2620344"/>
            <a:ext cx="246669" cy="13912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P5</a:t>
            </a:r>
          </a:p>
        </p:txBody>
      </p:sp>
      <p:sp>
        <p:nvSpPr>
          <p:cNvPr id="488" name="Diamond 487">
            <a:extLst>
              <a:ext uri="{FF2B5EF4-FFF2-40B4-BE49-F238E27FC236}">
                <a16:creationId xmlns:a16="http://schemas.microsoft.com/office/drawing/2014/main" id="{E2ACCAB3-1A56-FE35-C2FB-BCE045F9EEBE}"/>
              </a:ext>
            </a:extLst>
          </p:cNvPr>
          <p:cNvSpPr/>
          <p:nvPr/>
        </p:nvSpPr>
        <p:spPr>
          <a:xfrm>
            <a:off x="5834562" y="1585447"/>
            <a:ext cx="269016" cy="147094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P2</a:t>
            </a:r>
          </a:p>
        </p:txBody>
      </p:sp>
      <p:cxnSp>
        <p:nvCxnSpPr>
          <p:cNvPr id="516" name="Straight Connector 26">
            <a:extLst>
              <a:ext uri="{FF2B5EF4-FFF2-40B4-BE49-F238E27FC236}">
                <a16:creationId xmlns:a16="http://schemas.microsoft.com/office/drawing/2014/main" id="{C18C84F1-78AA-B557-4BB6-CD8C4294F794}"/>
              </a:ext>
            </a:extLst>
          </p:cNvPr>
          <p:cNvCxnSpPr>
            <a:cxnSpLocks/>
            <a:stCxn id="457" idx="6"/>
            <a:endCxn id="466" idx="1"/>
          </p:cNvCxnSpPr>
          <p:nvPr/>
        </p:nvCxnSpPr>
        <p:spPr>
          <a:xfrm flipV="1">
            <a:off x="6849118" y="2218719"/>
            <a:ext cx="246094" cy="16024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5" name="Diamond 464">
            <a:extLst>
              <a:ext uri="{FF2B5EF4-FFF2-40B4-BE49-F238E27FC236}">
                <a16:creationId xmlns:a16="http://schemas.microsoft.com/office/drawing/2014/main" id="{4C4A9CD4-D0DA-0FD4-B81D-17E2F5991E51}"/>
              </a:ext>
            </a:extLst>
          </p:cNvPr>
          <p:cNvSpPr/>
          <p:nvPr/>
        </p:nvSpPr>
        <p:spPr>
          <a:xfrm>
            <a:off x="7095212" y="1941592"/>
            <a:ext cx="240521" cy="13912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P12</a:t>
            </a:r>
          </a:p>
        </p:txBody>
      </p:sp>
      <p:sp>
        <p:nvSpPr>
          <p:cNvPr id="466" name="Diamond 465">
            <a:extLst>
              <a:ext uri="{FF2B5EF4-FFF2-40B4-BE49-F238E27FC236}">
                <a16:creationId xmlns:a16="http://schemas.microsoft.com/office/drawing/2014/main" id="{25BA4069-E568-16CA-105A-85EBB60C554B}"/>
              </a:ext>
            </a:extLst>
          </p:cNvPr>
          <p:cNvSpPr/>
          <p:nvPr/>
        </p:nvSpPr>
        <p:spPr>
          <a:xfrm>
            <a:off x="7095213" y="2149156"/>
            <a:ext cx="246942" cy="13912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P13</a:t>
            </a:r>
          </a:p>
        </p:txBody>
      </p:sp>
      <p:sp>
        <p:nvSpPr>
          <p:cNvPr id="467" name="Diamond 466">
            <a:extLst>
              <a:ext uri="{FF2B5EF4-FFF2-40B4-BE49-F238E27FC236}">
                <a16:creationId xmlns:a16="http://schemas.microsoft.com/office/drawing/2014/main" id="{6ABC1E4E-C492-3C07-23FE-C5D3F9A3F8D5}"/>
              </a:ext>
            </a:extLst>
          </p:cNvPr>
          <p:cNvSpPr/>
          <p:nvPr/>
        </p:nvSpPr>
        <p:spPr>
          <a:xfrm>
            <a:off x="7095213" y="2378963"/>
            <a:ext cx="243590" cy="13912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P14</a:t>
            </a:r>
          </a:p>
        </p:txBody>
      </p:sp>
      <p:sp>
        <p:nvSpPr>
          <p:cNvPr id="468" name="Diamond 467">
            <a:extLst>
              <a:ext uri="{FF2B5EF4-FFF2-40B4-BE49-F238E27FC236}">
                <a16:creationId xmlns:a16="http://schemas.microsoft.com/office/drawing/2014/main" id="{02D60291-EA90-5319-32EF-A04FEE0D0A5F}"/>
              </a:ext>
            </a:extLst>
          </p:cNvPr>
          <p:cNvSpPr/>
          <p:nvPr/>
        </p:nvSpPr>
        <p:spPr>
          <a:xfrm>
            <a:off x="7095213" y="2594654"/>
            <a:ext cx="227410" cy="13912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P15</a:t>
            </a:r>
          </a:p>
        </p:txBody>
      </p:sp>
      <p:sp>
        <p:nvSpPr>
          <p:cNvPr id="674" name="Rounded Rectangle 673">
            <a:extLst>
              <a:ext uri="{FF2B5EF4-FFF2-40B4-BE49-F238E27FC236}">
                <a16:creationId xmlns:a16="http://schemas.microsoft.com/office/drawing/2014/main" id="{4A934C3C-F8DE-9621-8407-0BAA9874D35D}"/>
              </a:ext>
            </a:extLst>
          </p:cNvPr>
          <p:cNvSpPr/>
          <p:nvPr/>
        </p:nvSpPr>
        <p:spPr>
          <a:xfrm>
            <a:off x="1849252" y="350141"/>
            <a:ext cx="489147" cy="77087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675" name="Rounded Rectangle 674">
            <a:extLst>
              <a:ext uri="{FF2B5EF4-FFF2-40B4-BE49-F238E27FC236}">
                <a16:creationId xmlns:a16="http://schemas.microsoft.com/office/drawing/2014/main" id="{20747E67-60C3-CE0C-5695-B65F418D04B9}"/>
              </a:ext>
            </a:extLst>
          </p:cNvPr>
          <p:cNvSpPr/>
          <p:nvPr/>
        </p:nvSpPr>
        <p:spPr>
          <a:xfrm>
            <a:off x="2380239" y="350141"/>
            <a:ext cx="489147" cy="77087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676" name="Rounded Rectangle 675">
            <a:extLst>
              <a:ext uri="{FF2B5EF4-FFF2-40B4-BE49-F238E27FC236}">
                <a16:creationId xmlns:a16="http://schemas.microsoft.com/office/drawing/2014/main" id="{8B1DEDC3-DB9F-9791-753C-A2646EEAD803}"/>
              </a:ext>
            </a:extLst>
          </p:cNvPr>
          <p:cNvSpPr/>
          <p:nvPr/>
        </p:nvSpPr>
        <p:spPr>
          <a:xfrm>
            <a:off x="2918450" y="348459"/>
            <a:ext cx="489147" cy="77087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677" name="Rounded Rectangle 676">
            <a:extLst>
              <a:ext uri="{FF2B5EF4-FFF2-40B4-BE49-F238E27FC236}">
                <a16:creationId xmlns:a16="http://schemas.microsoft.com/office/drawing/2014/main" id="{976DF7AA-54F0-6B62-0B3F-37098645BAAA}"/>
              </a:ext>
            </a:extLst>
          </p:cNvPr>
          <p:cNvSpPr/>
          <p:nvPr/>
        </p:nvSpPr>
        <p:spPr>
          <a:xfrm>
            <a:off x="3447770" y="348459"/>
            <a:ext cx="489147" cy="77087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678" name="Rounded Rectangle 677">
            <a:extLst>
              <a:ext uri="{FF2B5EF4-FFF2-40B4-BE49-F238E27FC236}">
                <a16:creationId xmlns:a16="http://schemas.microsoft.com/office/drawing/2014/main" id="{2C7B947C-1C3E-7E22-DA56-3A99CB15BCBB}"/>
              </a:ext>
            </a:extLst>
          </p:cNvPr>
          <p:cNvSpPr/>
          <p:nvPr/>
        </p:nvSpPr>
        <p:spPr>
          <a:xfrm>
            <a:off x="3978275" y="348459"/>
            <a:ext cx="489147" cy="77087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679" name="Rounded Rectangle 678">
            <a:extLst>
              <a:ext uri="{FF2B5EF4-FFF2-40B4-BE49-F238E27FC236}">
                <a16:creationId xmlns:a16="http://schemas.microsoft.com/office/drawing/2014/main" id="{AD68647D-2F1A-69C5-FB2C-50B662028068}"/>
              </a:ext>
            </a:extLst>
          </p:cNvPr>
          <p:cNvSpPr/>
          <p:nvPr/>
        </p:nvSpPr>
        <p:spPr>
          <a:xfrm>
            <a:off x="4508780" y="348459"/>
            <a:ext cx="489147" cy="77087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srgbClr val="156082"/>
              </a:solidFill>
              <a:latin typeface="Aptos" panose="02110004020202020204"/>
            </a:endParaRPr>
          </a:p>
        </p:txBody>
      </p:sp>
      <p:sp>
        <p:nvSpPr>
          <p:cNvPr id="685" name="Rounded Rectangle 684">
            <a:extLst>
              <a:ext uri="{FF2B5EF4-FFF2-40B4-BE49-F238E27FC236}">
                <a16:creationId xmlns:a16="http://schemas.microsoft.com/office/drawing/2014/main" id="{C8045C6E-F247-5835-EB21-6A5954E81ED8}"/>
              </a:ext>
            </a:extLst>
          </p:cNvPr>
          <p:cNvSpPr/>
          <p:nvPr/>
        </p:nvSpPr>
        <p:spPr>
          <a:xfrm>
            <a:off x="6444580" y="373468"/>
            <a:ext cx="489147" cy="84412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686" name="Rounded Rectangle 685">
            <a:extLst>
              <a:ext uri="{FF2B5EF4-FFF2-40B4-BE49-F238E27FC236}">
                <a16:creationId xmlns:a16="http://schemas.microsoft.com/office/drawing/2014/main" id="{4F6281E8-1770-7456-7A96-2ACA666990D4}"/>
              </a:ext>
            </a:extLst>
          </p:cNvPr>
          <p:cNvSpPr/>
          <p:nvPr/>
        </p:nvSpPr>
        <p:spPr>
          <a:xfrm>
            <a:off x="6974829" y="373469"/>
            <a:ext cx="489147" cy="84412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687" name="TextBox 686">
            <a:extLst>
              <a:ext uri="{FF2B5EF4-FFF2-40B4-BE49-F238E27FC236}">
                <a16:creationId xmlns:a16="http://schemas.microsoft.com/office/drawing/2014/main" id="{01F8F407-8082-A0C6-8344-C707A7816074}"/>
              </a:ext>
            </a:extLst>
          </p:cNvPr>
          <p:cNvSpPr txBox="1"/>
          <p:nvPr/>
        </p:nvSpPr>
        <p:spPr>
          <a:xfrm>
            <a:off x="1822794" y="330653"/>
            <a:ext cx="532511" cy="3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Mines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ID from permit</a:t>
            </a:r>
          </a:p>
        </p:txBody>
      </p:sp>
      <p:sp>
        <p:nvSpPr>
          <p:cNvPr id="688" name="TextBox 687">
            <a:extLst>
              <a:ext uri="{FF2B5EF4-FFF2-40B4-BE49-F238E27FC236}">
                <a16:creationId xmlns:a16="http://schemas.microsoft.com/office/drawing/2014/main" id="{CB2AE1B1-F6F0-1151-2EC8-6F9936FD629C}"/>
              </a:ext>
            </a:extLst>
          </p:cNvPr>
          <p:cNvSpPr txBox="1"/>
          <p:nvPr/>
        </p:nvSpPr>
        <p:spPr>
          <a:xfrm>
            <a:off x="2273304" y="330654"/>
            <a:ext cx="692454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Concentrate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689" name="TextBox 688">
            <a:extLst>
              <a:ext uri="{FF2B5EF4-FFF2-40B4-BE49-F238E27FC236}">
                <a16:creationId xmlns:a16="http://schemas.microsoft.com/office/drawing/2014/main" id="{0BC52D4A-FD7D-8200-4D15-C128B8EDA858}"/>
              </a:ext>
            </a:extLst>
          </p:cNvPr>
          <p:cNvSpPr txBox="1"/>
          <p:nvPr/>
        </p:nvSpPr>
        <p:spPr>
          <a:xfrm>
            <a:off x="2897042" y="337530"/>
            <a:ext cx="532511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Smelters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RMI ID</a:t>
            </a:r>
          </a:p>
        </p:txBody>
      </p:sp>
      <p:sp>
        <p:nvSpPr>
          <p:cNvPr id="690" name="TextBox 689">
            <a:extLst>
              <a:ext uri="{FF2B5EF4-FFF2-40B4-BE49-F238E27FC236}">
                <a16:creationId xmlns:a16="http://schemas.microsoft.com/office/drawing/2014/main" id="{0B1F93DE-0C5E-F94C-001F-DDC365494D76}"/>
              </a:ext>
            </a:extLst>
          </p:cNvPr>
          <p:cNvSpPr txBox="1"/>
          <p:nvPr/>
        </p:nvSpPr>
        <p:spPr>
          <a:xfrm>
            <a:off x="3402284" y="330654"/>
            <a:ext cx="584716" cy="34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Crude metal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691" name="TextBox 690">
            <a:extLst>
              <a:ext uri="{FF2B5EF4-FFF2-40B4-BE49-F238E27FC236}">
                <a16:creationId xmlns:a16="http://schemas.microsoft.com/office/drawing/2014/main" id="{75CB5891-24BB-237D-392F-D7788A6F7915}"/>
              </a:ext>
            </a:extLst>
          </p:cNvPr>
          <p:cNvSpPr txBox="1"/>
          <p:nvPr/>
        </p:nvSpPr>
        <p:spPr>
          <a:xfrm>
            <a:off x="4447710" y="330654"/>
            <a:ext cx="610289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Pure metal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692" name="TextBox 691">
            <a:extLst>
              <a:ext uri="{FF2B5EF4-FFF2-40B4-BE49-F238E27FC236}">
                <a16:creationId xmlns:a16="http://schemas.microsoft.com/office/drawing/2014/main" id="{1A909128-F525-4137-42A6-16B1D66CF8F7}"/>
              </a:ext>
            </a:extLst>
          </p:cNvPr>
          <p:cNvSpPr txBox="1"/>
          <p:nvPr/>
        </p:nvSpPr>
        <p:spPr>
          <a:xfrm>
            <a:off x="3997193" y="330654"/>
            <a:ext cx="450314" cy="34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Refiners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RMI ID</a:t>
            </a:r>
          </a:p>
        </p:txBody>
      </p:sp>
      <p:sp>
        <p:nvSpPr>
          <p:cNvPr id="716" name="TextBox 715">
            <a:extLst>
              <a:ext uri="{FF2B5EF4-FFF2-40B4-BE49-F238E27FC236}">
                <a16:creationId xmlns:a16="http://schemas.microsoft.com/office/drawing/2014/main" id="{234CEB48-FFDD-3D77-D8AE-96E0DA0B257A}"/>
              </a:ext>
            </a:extLst>
          </p:cNvPr>
          <p:cNvSpPr txBox="1"/>
          <p:nvPr/>
        </p:nvSpPr>
        <p:spPr>
          <a:xfrm>
            <a:off x="6919745" y="4259166"/>
            <a:ext cx="610289" cy="3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Seats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Model id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Serial id</a:t>
            </a:r>
          </a:p>
        </p:txBody>
      </p:sp>
      <p:sp>
        <p:nvSpPr>
          <p:cNvPr id="717" name="TextBox 716">
            <a:extLst>
              <a:ext uri="{FF2B5EF4-FFF2-40B4-BE49-F238E27FC236}">
                <a16:creationId xmlns:a16="http://schemas.microsoft.com/office/drawing/2014/main" id="{9151A8AD-3DF1-8887-7162-77C7CABD0028}"/>
              </a:ext>
            </a:extLst>
          </p:cNvPr>
          <p:cNvSpPr txBox="1"/>
          <p:nvPr/>
        </p:nvSpPr>
        <p:spPr>
          <a:xfrm>
            <a:off x="6366411" y="4259166"/>
            <a:ext cx="653712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Parts factory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</a:t>
            </a:r>
          </a:p>
        </p:txBody>
      </p:sp>
      <p:cxnSp>
        <p:nvCxnSpPr>
          <p:cNvPr id="463" name="Straight Connector 26">
            <a:extLst>
              <a:ext uri="{FF2B5EF4-FFF2-40B4-BE49-F238E27FC236}">
                <a16:creationId xmlns:a16="http://schemas.microsoft.com/office/drawing/2014/main" id="{50AF36E4-DCB5-8C3F-9BC4-65E1EDADB89E}"/>
              </a:ext>
            </a:extLst>
          </p:cNvPr>
          <p:cNvCxnSpPr>
            <a:cxnSpLocks/>
            <a:stCxn id="494" idx="6"/>
            <a:endCxn id="501" idx="1"/>
          </p:cNvCxnSpPr>
          <p:nvPr/>
        </p:nvCxnSpPr>
        <p:spPr>
          <a:xfrm flipV="1">
            <a:off x="8106703" y="3839806"/>
            <a:ext cx="197664" cy="12930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Oval 492">
            <a:extLst>
              <a:ext uri="{FF2B5EF4-FFF2-40B4-BE49-F238E27FC236}">
                <a16:creationId xmlns:a16="http://schemas.microsoft.com/office/drawing/2014/main" id="{D6ACC023-8F78-65D1-F9CE-9D3A0098B3F9}"/>
              </a:ext>
            </a:extLst>
          </p:cNvPr>
          <p:cNvSpPr/>
          <p:nvPr/>
        </p:nvSpPr>
        <p:spPr>
          <a:xfrm>
            <a:off x="7792427" y="3339128"/>
            <a:ext cx="344886" cy="15927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Plant3</a:t>
            </a:r>
          </a:p>
        </p:txBody>
      </p:sp>
      <p:sp>
        <p:nvSpPr>
          <p:cNvPr id="494" name="Oval 493">
            <a:extLst>
              <a:ext uri="{FF2B5EF4-FFF2-40B4-BE49-F238E27FC236}">
                <a16:creationId xmlns:a16="http://schemas.microsoft.com/office/drawing/2014/main" id="{4A824214-7B47-4119-A409-F0BD0842B315}"/>
              </a:ext>
            </a:extLst>
          </p:cNvPr>
          <p:cNvSpPr/>
          <p:nvPr/>
        </p:nvSpPr>
        <p:spPr>
          <a:xfrm>
            <a:off x="7781437" y="3887934"/>
            <a:ext cx="325266" cy="16235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Plant4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46A3A28D-7BAC-D87B-F408-92F61CA7C4C3}"/>
              </a:ext>
            </a:extLst>
          </p:cNvPr>
          <p:cNvSpPr txBox="1"/>
          <p:nvPr/>
        </p:nvSpPr>
        <p:spPr>
          <a:xfrm>
            <a:off x="7628127" y="2745283"/>
            <a:ext cx="606465" cy="3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Auto OEMs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 / Catena-x ID</a:t>
            </a:r>
          </a:p>
        </p:txBody>
      </p:sp>
      <p:cxnSp>
        <p:nvCxnSpPr>
          <p:cNvPr id="498" name="Straight Connector 26">
            <a:extLst>
              <a:ext uri="{FF2B5EF4-FFF2-40B4-BE49-F238E27FC236}">
                <a16:creationId xmlns:a16="http://schemas.microsoft.com/office/drawing/2014/main" id="{A41E7E1F-252E-E1DE-6DB9-587533C791AD}"/>
              </a:ext>
            </a:extLst>
          </p:cNvPr>
          <p:cNvCxnSpPr>
            <a:cxnSpLocks/>
            <a:stCxn id="493" idx="6"/>
            <a:endCxn id="502" idx="1"/>
          </p:cNvCxnSpPr>
          <p:nvPr/>
        </p:nvCxnSpPr>
        <p:spPr>
          <a:xfrm>
            <a:off x="8137313" y="3418764"/>
            <a:ext cx="278807" cy="14759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2" name="Diamond 501">
            <a:extLst>
              <a:ext uri="{FF2B5EF4-FFF2-40B4-BE49-F238E27FC236}">
                <a16:creationId xmlns:a16="http://schemas.microsoft.com/office/drawing/2014/main" id="{6132370B-E796-6ACD-310D-3FD3BD0C2792}"/>
              </a:ext>
            </a:extLst>
          </p:cNvPr>
          <p:cNvSpPr/>
          <p:nvPr/>
        </p:nvSpPr>
        <p:spPr>
          <a:xfrm>
            <a:off x="8416120" y="3489332"/>
            <a:ext cx="347430" cy="154056"/>
          </a:xfrm>
          <a:prstGeom prst="diamond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FP5</a:t>
            </a:r>
          </a:p>
        </p:txBody>
      </p:sp>
      <p:sp>
        <p:nvSpPr>
          <p:cNvPr id="503" name="Diamond 502">
            <a:extLst>
              <a:ext uri="{FF2B5EF4-FFF2-40B4-BE49-F238E27FC236}">
                <a16:creationId xmlns:a16="http://schemas.microsoft.com/office/drawing/2014/main" id="{8BBED686-1CA7-8D3F-CA9E-E611012FC390}"/>
              </a:ext>
            </a:extLst>
          </p:cNvPr>
          <p:cNvSpPr/>
          <p:nvPr/>
        </p:nvSpPr>
        <p:spPr>
          <a:xfrm>
            <a:off x="8606214" y="3301675"/>
            <a:ext cx="353343" cy="133396"/>
          </a:xfrm>
          <a:prstGeom prst="diamond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FP4</a:t>
            </a:r>
          </a:p>
        </p:txBody>
      </p:sp>
      <p:sp>
        <p:nvSpPr>
          <p:cNvPr id="506" name="TextBox 505">
            <a:extLst>
              <a:ext uri="{FF2B5EF4-FFF2-40B4-BE49-F238E27FC236}">
                <a16:creationId xmlns:a16="http://schemas.microsoft.com/office/drawing/2014/main" id="{6E040E91-D041-2009-4071-4A03917F161A}"/>
              </a:ext>
            </a:extLst>
          </p:cNvPr>
          <p:cNvSpPr txBox="1"/>
          <p:nvPr/>
        </p:nvSpPr>
        <p:spPr>
          <a:xfrm>
            <a:off x="8239534" y="2745283"/>
            <a:ext cx="807804" cy="268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Vehicles</a:t>
            </a:r>
          </a:p>
          <a:p>
            <a:pPr algn="ctr" defTabSz="326578"/>
            <a:r>
              <a:rPr lang="en-AU" sz="571" i="1" dirty="0">
                <a:solidFill>
                  <a:prstClr val="black"/>
                </a:solidFill>
                <a:latin typeface="Aptos" panose="02110004020202020204"/>
              </a:rPr>
              <a:t>Model id / VIN </a:t>
            </a:r>
          </a:p>
        </p:txBody>
      </p:sp>
      <p:cxnSp>
        <p:nvCxnSpPr>
          <p:cNvPr id="531" name="Straight Connector 26">
            <a:extLst>
              <a:ext uri="{FF2B5EF4-FFF2-40B4-BE49-F238E27FC236}">
                <a16:creationId xmlns:a16="http://schemas.microsoft.com/office/drawing/2014/main" id="{445BBD09-7ECE-8BF0-AF55-46EE05F60129}"/>
              </a:ext>
            </a:extLst>
          </p:cNvPr>
          <p:cNvCxnSpPr>
            <a:cxnSpLocks/>
            <a:stCxn id="493" idx="6"/>
            <a:endCxn id="503" idx="1"/>
          </p:cNvCxnSpPr>
          <p:nvPr/>
        </p:nvCxnSpPr>
        <p:spPr>
          <a:xfrm flipV="1">
            <a:off x="8137313" y="3368373"/>
            <a:ext cx="468901" cy="5039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8" name="Oval 607">
            <a:extLst>
              <a:ext uri="{FF2B5EF4-FFF2-40B4-BE49-F238E27FC236}">
                <a16:creationId xmlns:a16="http://schemas.microsoft.com/office/drawing/2014/main" id="{E83D9DD0-2DC6-77E3-0FD0-1B5B73F04ACB}"/>
              </a:ext>
            </a:extLst>
          </p:cNvPr>
          <p:cNvSpPr/>
          <p:nvPr/>
        </p:nvSpPr>
        <p:spPr>
          <a:xfrm flipH="1">
            <a:off x="8411271" y="4317787"/>
            <a:ext cx="285410" cy="15927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Rep3</a:t>
            </a:r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39374DC4-1E01-7A45-5AEF-9C1E6A9873D2}"/>
              </a:ext>
            </a:extLst>
          </p:cNvPr>
          <p:cNvSpPr/>
          <p:nvPr/>
        </p:nvSpPr>
        <p:spPr>
          <a:xfrm flipH="1">
            <a:off x="8703607" y="4425565"/>
            <a:ext cx="285410" cy="15927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Rep4</a:t>
            </a:r>
          </a:p>
        </p:txBody>
      </p:sp>
      <p:cxnSp>
        <p:nvCxnSpPr>
          <p:cNvPr id="610" name="Straight Connector 26">
            <a:extLst>
              <a:ext uri="{FF2B5EF4-FFF2-40B4-BE49-F238E27FC236}">
                <a16:creationId xmlns:a16="http://schemas.microsoft.com/office/drawing/2014/main" id="{C7800A3B-4A58-C240-A361-95B1DE704445}"/>
              </a:ext>
            </a:extLst>
          </p:cNvPr>
          <p:cNvCxnSpPr>
            <a:cxnSpLocks/>
            <a:stCxn id="501" idx="2"/>
            <a:endCxn id="608" idx="0"/>
          </p:cNvCxnSpPr>
          <p:nvPr/>
        </p:nvCxnSpPr>
        <p:spPr>
          <a:xfrm>
            <a:off x="8472432" y="3918262"/>
            <a:ext cx="81544" cy="39952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26">
            <a:extLst>
              <a:ext uri="{FF2B5EF4-FFF2-40B4-BE49-F238E27FC236}">
                <a16:creationId xmlns:a16="http://schemas.microsoft.com/office/drawing/2014/main" id="{46509672-C15E-1AC6-679E-66CDC53C2B29}"/>
              </a:ext>
            </a:extLst>
          </p:cNvPr>
          <p:cNvCxnSpPr>
            <a:cxnSpLocks/>
            <a:stCxn id="502" idx="2"/>
            <a:endCxn id="608" idx="0"/>
          </p:cNvCxnSpPr>
          <p:nvPr/>
        </p:nvCxnSpPr>
        <p:spPr>
          <a:xfrm flipH="1">
            <a:off x="8553976" y="3643388"/>
            <a:ext cx="35859" cy="67439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Connector 26">
            <a:extLst>
              <a:ext uri="{FF2B5EF4-FFF2-40B4-BE49-F238E27FC236}">
                <a16:creationId xmlns:a16="http://schemas.microsoft.com/office/drawing/2014/main" id="{72D6B77D-7024-E8A1-BECF-BA20ED19C573}"/>
              </a:ext>
            </a:extLst>
          </p:cNvPr>
          <p:cNvCxnSpPr>
            <a:cxnSpLocks/>
            <a:stCxn id="503" idx="2"/>
            <a:endCxn id="609" idx="0"/>
          </p:cNvCxnSpPr>
          <p:nvPr/>
        </p:nvCxnSpPr>
        <p:spPr>
          <a:xfrm>
            <a:off x="8782886" y="3435071"/>
            <a:ext cx="63426" cy="99049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Straight Connector 26">
            <a:extLst>
              <a:ext uri="{FF2B5EF4-FFF2-40B4-BE49-F238E27FC236}">
                <a16:creationId xmlns:a16="http://schemas.microsoft.com/office/drawing/2014/main" id="{EB2832B2-0D3C-4B8C-D623-5EDDC60DF959}"/>
              </a:ext>
            </a:extLst>
          </p:cNvPr>
          <p:cNvCxnSpPr>
            <a:cxnSpLocks/>
            <a:stCxn id="720" idx="6"/>
            <a:endCxn id="724" idx="1"/>
          </p:cNvCxnSpPr>
          <p:nvPr/>
        </p:nvCxnSpPr>
        <p:spPr>
          <a:xfrm flipV="1">
            <a:off x="8138333" y="1310410"/>
            <a:ext cx="211612" cy="26246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" name="Oval 718">
            <a:extLst>
              <a:ext uri="{FF2B5EF4-FFF2-40B4-BE49-F238E27FC236}">
                <a16:creationId xmlns:a16="http://schemas.microsoft.com/office/drawing/2014/main" id="{10412E67-CAE9-953D-C4FE-5EA68BB99D59}"/>
              </a:ext>
            </a:extLst>
          </p:cNvPr>
          <p:cNvSpPr/>
          <p:nvPr/>
        </p:nvSpPr>
        <p:spPr>
          <a:xfrm>
            <a:off x="7793446" y="1003342"/>
            <a:ext cx="344886" cy="15927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Plant1</a:t>
            </a:r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B37686D8-2CE6-6E69-BEBA-ED6EBDD49C8E}"/>
              </a:ext>
            </a:extLst>
          </p:cNvPr>
          <p:cNvSpPr/>
          <p:nvPr/>
        </p:nvSpPr>
        <p:spPr>
          <a:xfrm>
            <a:off x="7813066" y="1493235"/>
            <a:ext cx="325266" cy="15927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Plant2</a:t>
            </a:r>
          </a:p>
        </p:txBody>
      </p:sp>
      <p:sp>
        <p:nvSpPr>
          <p:cNvPr id="722" name="TextBox 721">
            <a:extLst>
              <a:ext uri="{FF2B5EF4-FFF2-40B4-BE49-F238E27FC236}">
                <a16:creationId xmlns:a16="http://schemas.microsoft.com/office/drawing/2014/main" id="{BA266873-CF81-F72F-F94C-90E91FDD4A70}"/>
              </a:ext>
            </a:extLst>
          </p:cNvPr>
          <p:cNvSpPr txBox="1"/>
          <p:nvPr/>
        </p:nvSpPr>
        <p:spPr>
          <a:xfrm>
            <a:off x="7633045" y="371428"/>
            <a:ext cx="606465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OEMs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</a:t>
            </a:r>
          </a:p>
        </p:txBody>
      </p:sp>
      <p:cxnSp>
        <p:nvCxnSpPr>
          <p:cNvPr id="723" name="Straight Connector 26">
            <a:extLst>
              <a:ext uri="{FF2B5EF4-FFF2-40B4-BE49-F238E27FC236}">
                <a16:creationId xmlns:a16="http://schemas.microsoft.com/office/drawing/2014/main" id="{B300C030-F047-AC5C-9040-1E3EB3DF490A}"/>
              </a:ext>
            </a:extLst>
          </p:cNvPr>
          <p:cNvCxnSpPr>
            <a:cxnSpLocks/>
            <a:stCxn id="719" idx="6"/>
            <a:endCxn id="725" idx="1"/>
          </p:cNvCxnSpPr>
          <p:nvPr/>
        </p:nvCxnSpPr>
        <p:spPr>
          <a:xfrm flipV="1">
            <a:off x="8138332" y="985551"/>
            <a:ext cx="370739" cy="9742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" name="Diamond 723">
            <a:extLst>
              <a:ext uri="{FF2B5EF4-FFF2-40B4-BE49-F238E27FC236}">
                <a16:creationId xmlns:a16="http://schemas.microsoft.com/office/drawing/2014/main" id="{34048E5A-187A-94A2-E764-2C7A8FAD945A}"/>
              </a:ext>
            </a:extLst>
          </p:cNvPr>
          <p:cNvSpPr/>
          <p:nvPr/>
        </p:nvSpPr>
        <p:spPr>
          <a:xfrm>
            <a:off x="8349945" y="1240967"/>
            <a:ext cx="320476" cy="138884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FP3</a:t>
            </a:r>
          </a:p>
        </p:txBody>
      </p:sp>
      <p:sp>
        <p:nvSpPr>
          <p:cNvPr id="725" name="Diamond 724">
            <a:extLst>
              <a:ext uri="{FF2B5EF4-FFF2-40B4-BE49-F238E27FC236}">
                <a16:creationId xmlns:a16="http://schemas.microsoft.com/office/drawing/2014/main" id="{0366642D-6A95-98FD-A9D5-7624D62E551C}"/>
              </a:ext>
            </a:extLst>
          </p:cNvPr>
          <p:cNvSpPr/>
          <p:nvPr/>
        </p:nvSpPr>
        <p:spPr>
          <a:xfrm>
            <a:off x="8509071" y="918209"/>
            <a:ext cx="327278" cy="134684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FP1</a:t>
            </a:r>
          </a:p>
        </p:txBody>
      </p:sp>
      <p:sp>
        <p:nvSpPr>
          <p:cNvPr id="726" name="Diamond 725">
            <a:extLst>
              <a:ext uri="{FF2B5EF4-FFF2-40B4-BE49-F238E27FC236}">
                <a16:creationId xmlns:a16="http://schemas.microsoft.com/office/drawing/2014/main" id="{94740F62-6C87-0DC2-8D5E-747062DBE067}"/>
              </a:ext>
            </a:extLst>
          </p:cNvPr>
          <p:cNvSpPr/>
          <p:nvPr/>
        </p:nvSpPr>
        <p:spPr>
          <a:xfrm>
            <a:off x="8684202" y="1123504"/>
            <a:ext cx="278051" cy="134684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FP2</a:t>
            </a:r>
          </a:p>
        </p:txBody>
      </p:sp>
      <p:sp>
        <p:nvSpPr>
          <p:cNvPr id="728" name="TextBox 727">
            <a:extLst>
              <a:ext uri="{FF2B5EF4-FFF2-40B4-BE49-F238E27FC236}">
                <a16:creationId xmlns:a16="http://schemas.microsoft.com/office/drawing/2014/main" id="{C50BFAB1-BAC7-A621-9A9B-8889457D2398}"/>
              </a:ext>
            </a:extLst>
          </p:cNvPr>
          <p:cNvSpPr txBox="1"/>
          <p:nvPr/>
        </p:nvSpPr>
        <p:spPr>
          <a:xfrm>
            <a:off x="8239924" y="358690"/>
            <a:ext cx="807804" cy="268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Electronic Devices</a:t>
            </a:r>
          </a:p>
          <a:p>
            <a:pPr algn="ctr" defTabSz="326578"/>
            <a:r>
              <a:rPr lang="en-AU" sz="571" i="1" dirty="0">
                <a:solidFill>
                  <a:prstClr val="black"/>
                </a:solidFill>
                <a:latin typeface="Aptos" panose="02110004020202020204"/>
              </a:rPr>
              <a:t>Model id / serial id</a:t>
            </a:r>
          </a:p>
        </p:txBody>
      </p:sp>
      <p:cxnSp>
        <p:nvCxnSpPr>
          <p:cNvPr id="730" name="Straight Connector 26">
            <a:extLst>
              <a:ext uri="{FF2B5EF4-FFF2-40B4-BE49-F238E27FC236}">
                <a16:creationId xmlns:a16="http://schemas.microsoft.com/office/drawing/2014/main" id="{CAE3DEDC-115A-1742-D653-4263C1A271B4}"/>
              </a:ext>
            </a:extLst>
          </p:cNvPr>
          <p:cNvCxnSpPr>
            <a:cxnSpLocks/>
            <a:stCxn id="719" idx="6"/>
            <a:endCxn id="726" idx="1"/>
          </p:cNvCxnSpPr>
          <p:nvPr/>
        </p:nvCxnSpPr>
        <p:spPr>
          <a:xfrm>
            <a:off x="8138333" y="1082978"/>
            <a:ext cx="545869" cy="10786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TextBox 732">
            <a:extLst>
              <a:ext uri="{FF2B5EF4-FFF2-40B4-BE49-F238E27FC236}">
                <a16:creationId xmlns:a16="http://schemas.microsoft.com/office/drawing/2014/main" id="{A1ABE17F-D65B-2C91-01FB-28C83113656B}"/>
              </a:ext>
            </a:extLst>
          </p:cNvPr>
          <p:cNvSpPr txBox="1"/>
          <p:nvPr/>
        </p:nvSpPr>
        <p:spPr>
          <a:xfrm>
            <a:off x="8267382" y="2182913"/>
            <a:ext cx="807804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Facility ID</a:t>
            </a:r>
          </a:p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Service/Repair</a:t>
            </a:r>
          </a:p>
        </p:txBody>
      </p:sp>
      <p:sp>
        <p:nvSpPr>
          <p:cNvPr id="734" name="Oval 733">
            <a:extLst>
              <a:ext uri="{FF2B5EF4-FFF2-40B4-BE49-F238E27FC236}">
                <a16:creationId xmlns:a16="http://schemas.microsoft.com/office/drawing/2014/main" id="{1F138879-D296-C3A3-C7D6-04B33ABFE0DD}"/>
              </a:ext>
            </a:extLst>
          </p:cNvPr>
          <p:cNvSpPr/>
          <p:nvPr/>
        </p:nvSpPr>
        <p:spPr>
          <a:xfrm flipH="1">
            <a:off x="8376309" y="1706204"/>
            <a:ext cx="285410" cy="15492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Rep1</a:t>
            </a:r>
          </a:p>
        </p:txBody>
      </p:sp>
      <p:sp>
        <p:nvSpPr>
          <p:cNvPr id="735" name="Oval 734">
            <a:extLst>
              <a:ext uri="{FF2B5EF4-FFF2-40B4-BE49-F238E27FC236}">
                <a16:creationId xmlns:a16="http://schemas.microsoft.com/office/drawing/2014/main" id="{F79233A0-EA43-DA6E-6231-DDEA0056D02C}"/>
              </a:ext>
            </a:extLst>
          </p:cNvPr>
          <p:cNvSpPr/>
          <p:nvPr/>
        </p:nvSpPr>
        <p:spPr>
          <a:xfrm flipH="1">
            <a:off x="8718381" y="1706204"/>
            <a:ext cx="285410" cy="15927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Rep2</a:t>
            </a:r>
          </a:p>
        </p:txBody>
      </p:sp>
      <p:cxnSp>
        <p:nvCxnSpPr>
          <p:cNvPr id="736" name="Straight Connector 26">
            <a:extLst>
              <a:ext uri="{FF2B5EF4-FFF2-40B4-BE49-F238E27FC236}">
                <a16:creationId xmlns:a16="http://schemas.microsoft.com/office/drawing/2014/main" id="{37E184B6-9D53-021B-7036-DBB0B8396DC9}"/>
              </a:ext>
            </a:extLst>
          </p:cNvPr>
          <p:cNvCxnSpPr>
            <a:cxnSpLocks/>
            <a:stCxn id="724" idx="2"/>
            <a:endCxn id="734" idx="0"/>
          </p:cNvCxnSpPr>
          <p:nvPr/>
        </p:nvCxnSpPr>
        <p:spPr>
          <a:xfrm>
            <a:off x="8510183" y="1379852"/>
            <a:ext cx="8831" cy="32635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Straight Connector 26">
            <a:extLst>
              <a:ext uri="{FF2B5EF4-FFF2-40B4-BE49-F238E27FC236}">
                <a16:creationId xmlns:a16="http://schemas.microsoft.com/office/drawing/2014/main" id="{6AEADD5D-6EFB-910C-4ACC-5092CAFA55B6}"/>
              </a:ext>
            </a:extLst>
          </p:cNvPr>
          <p:cNvCxnSpPr>
            <a:cxnSpLocks/>
            <a:stCxn id="726" idx="2"/>
            <a:endCxn id="735" idx="0"/>
          </p:cNvCxnSpPr>
          <p:nvPr/>
        </p:nvCxnSpPr>
        <p:spPr>
          <a:xfrm>
            <a:off x="8823228" y="1258189"/>
            <a:ext cx="37859" cy="44801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1" name="TextBox 740">
            <a:extLst>
              <a:ext uri="{FF2B5EF4-FFF2-40B4-BE49-F238E27FC236}">
                <a16:creationId xmlns:a16="http://schemas.microsoft.com/office/drawing/2014/main" id="{0FE4D30C-B324-5B24-6282-FC20F581EE07}"/>
              </a:ext>
            </a:extLst>
          </p:cNvPr>
          <p:cNvSpPr txBox="1"/>
          <p:nvPr/>
        </p:nvSpPr>
        <p:spPr>
          <a:xfrm>
            <a:off x="2650094" y="186547"/>
            <a:ext cx="1515004" cy="19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643" b="1" dirty="0">
                <a:solidFill>
                  <a:prstClr val="white"/>
                </a:solidFill>
                <a:latin typeface="Aptos" panose="02110004020202020204"/>
              </a:rPr>
              <a:t>Tin / Tantalum / Cobalt Value Chain</a:t>
            </a:r>
          </a:p>
        </p:txBody>
      </p:sp>
      <p:sp>
        <p:nvSpPr>
          <p:cNvPr id="743" name="TextBox 742">
            <a:extLst>
              <a:ext uri="{FF2B5EF4-FFF2-40B4-BE49-F238E27FC236}">
                <a16:creationId xmlns:a16="http://schemas.microsoft.com/office/drawing/2014/main" id="{013600E4-0F28-AFD5-83BF-244E30754E62}"/>
              </a:ext>
            </a:extLst>
          </p:cNvPr>
          <p:cNvSpPr txBox="1"/>
          <p:nvPr/>
        </p:nvSpPr>
        <p:spPr>
          <a:xfrm>
            <a:off x="2831123" y="1224165"/>
            <a:ext cx="1152946" cy="19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643" b="1" dirty="0">
                <a:solidFill>
                  <a:prstClr val="white"/>
                </a:solidFill>
                <a:latin typeface="Aptos" panose="02110004020202020204"/>
              </a:rPr>
              <a:t>Copper Value Chain</a:t>
            </a:r>
          </a:p>
        </p:txBody>
      </p:sp>
      <p:sp>
        <p:nvSpPr>
          <p:cNvPr id="749" name="TextBox 748">
            <a:extLst>
              <a:ext uri="{FF2B5EF4-FFF2-40B4-BE49-F238E27FC236}">
                <a16:creationId xmlns:a16="http://schemas.microsoft.com/office/drawing/2014/main" id="{7A63D0E2-F739-384B-BDD6-84915E575DDA}"/>
              </a:ext>
            </a:extLst>
          </p:cNvPr>
          <p:cNvSpPr txBox="1"/>
          <p:nvPr/>
        </p:nvSpPr>
        <p:spPr>
          <a:xfrm>
            <a:off x="6354586" y="3174681"/>
            <a:ext cx="1152946" cy="19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643" b="1" dirty="0">
                <a:solidFill>
                  <a:prstClr val="white"/>
                </a:solidFill>
                <a:latin typeface="Aptos" panose="02110004020202020204"/>
              </a:rPr>
              <a:t>Auto Components</a:t>
            </a:r>
          </a:p>
        </p:txBody>
      </p:sp>
      <p:sp>
        <p:nvSpPr>
          <p:cNvPr id="752" name="TextBox 751">
            <a:extLst>
              <a:ext uri="{FF2B5EF4-FFF2-40B4-BE49-F238E27FC236}">
                <a16:creationId xmlns:a16="http://schemas.microsoft.com/office/drawing/2014/main" id="{000948B3-9733-4DA9-C4A7-22577E17AB27}"/>
              </a:ext>
            </a:extLst>
          </p:cNvPr>
          <p:cNvSpPr txBox="1"/>
          <p:nvPr/>
        </p:nvSpPr>
        <p:spPr>
          <a:xfrm>
            <a:off x="6359560" y="1347546"/>
            <a:ext cx="1152946" cy="19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643" b="1" dirty="0">
                <a:solidFill>
                  <a:prstClr val="white"/>
                </a:solidFill>
                <a:latin typeface="Aptos" panose="02110004020202020204"/>
              </a:rPr>
              <a:t>Batteries</a:t>
            </a:r>
          </a:p>
        </p:txBody>
      </p:sp>
      <p:sp>
        <p:nvSpPr>
          <p:cNvPr id="754" name="TextBox 753">
            <a:extLst>
              <a:ext uri="{FF2B5EF4-FFF2-40B4-BE49-F238E27FC236}">
                <a16:creationId xmlns:a16="http://schemas.microsoft.com/office/drawing/2014/main" id="{9CEB4D9A-BD49-6543-FB1E-73C86FDB60F8}"/>
              </a:ext>
            </a:extLst>
          </p:cNvPr>
          <p:cNvSpPr txBox="1"/>
          <p:nvPr/>
        </p:nvSpPr>
        <p:spPr>
          <a:xfrm>
            <a:off x="6361368" y="177320"/>
            <a:ext cx="1152946" cy="19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643" b="1" dirty="0">
                <a:solidFill>
                  <a:prstClr val="white"/>
                </a:solidFill>
                <a:latin typeface="Aptos" panose="02110004020202020204"/>
              </a:rPr>
              <a:t>Circuit Boards</a:t>
            </a:r>
          </a:p>
        </p:txBody>
      </p:sp>
      <p:sp>
        <p:nvSpPr>
          <p:cNvPr id="756" name="TextBox 755">
            <a:extLst>
              <a:ext uri="{FF2B5EF4-FFF2-40B4-BE49-F238E27FC236}">
                <a16:creationId xmlns:a16="http://schemas.microsoft.com/office/drawing/2014/main" id="{0489D8CB-D16C-8823-0F2E-D55B32823FC6}"/>
              </a:ext>
            </a:extLst>
          </p:cNvPr>
          <p:cNvSpPr txBox="1"/>
          <p:nvPr/>
        </p:nvSpPr>
        <p:spPr>
          <a:xfrm>
            <a:off x="5744612" y="356947"/>
            <a:ext cx="489147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Solder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763" name="TextBox 762">
            <a:extLst>
              <a:ext uri="{FF2B5EF4-FFF2-40B4-BE49-F238E27FC236}">
                <a16:creationId xmlns:a16="http://schemas.microsoft.com/office/drawing/2014/main" id="{476A6DC7-9F6F-5508-AA02-E279AF5BA4D6}"/>
              </a:ext>
            </a:extLst>
          </p:cNvPr>
          <p:cNvSpPr txBox="1"/>
          <p:nvPr/>
        </p:nvSpPr>
        <p:spPr>
          <a:xfrm>
            <a:off x="5743383" y="2185120"/>
            <a:ext cx="489147" cy="34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Copper Wire/foil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764" name="TextBox 763">
            <a:extLst>
              <a:ext uri="{FF2B5EF4-FFF2-40B4-BE49-F238E27FC236}">
                <a16:creationId xmlns:a16="http://schemas.microsoft.com/office/drawing/2014/main" id="{059FBF6D-55F9-2D1A-4C8C-47D4FFC641F7}"/>
              </a:ext>
            </a:extLst>
          </p:cNvPr>
          <p:cNvSpPr txBox="1"/>
          <p:nvPr/>
        </p:nvSpPr>
        <p:spPr>
          <a:xfrm>
            <a:off x="5690378" y="1309859"/>
            <a:ext cx="600545" cy="34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Alloy powder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768" name="TextBox 767">
            <a:extLst>
              <a:ext uri="{FF2B5EF4-FFF2-40B4-BE49-F238E27FC236}">
                <a16:creationId xmlns:a16="http://schemas.microsoft.com/office/drawing/2014/main" id="{046CC5B5-DB49-7050-D832-B1AAEA0DC104}"/>
              </a:ext>
            </a:extLst>
          </p:cNvPr>
          <p:cNvSpPr txBox="1"/>
          <p:nvPr/>
        </p:nvSpPr>
        <p:spPr>
          <a:xfrm>
            <a:off x="5685598" y="4278230"/>
            <a:ext cx="600545" cy="34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Finished Leather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769" name="TextBox 768">
            <a:extLst>
              <a:ext uri="{FF2B5EF4-FFF2-40B4-BE49-F238E27FC236}">
                <a16:creationId xmlns:a16="http://schemas.microsoft.com/office/drawing/2014/main" id="{46BD7FE2-1493-813C-C528-3200A61A4F65}"/>
              </a:ext>
            </a:extLst>
          </p:cNvPr>
          <p:cNvSpPr txBox="1"/>
          <p:nvPr/>
        </p:nvSpPr>
        <p:spPr>
          <a:xfrm>
            <a:off x="5123445" y="4266980"/>
            <a:ext cx="689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00" b="1" dirty="0">
                <a:solidFill>
                  <a:prstClr val="black"/>
                </a:solidFill>
                <a:latin typeface="Aptos" panose="02110004020202020204"/>
              </a:rPr>
              <a:t>Finishing plants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</a:t>
            </a:r>
          </a:p>
        </p:txBody>
      </p:sp>
      <p:sp>
        <p:nvSpPr>
          <p:cNvPr id="772" name="TextBox 771">
            <a:extLst>
              <a:ext uri="{FF2B5EF4-FFF2-40B4-BE49-F238E27FC236}">
                <a16:creationId xmlns:a16="http://schemas.microsoft.com/office/drawing/2014/main" id="{A98574E4-85EA-FE30-1003-97A1ADECB678}"/>
              </a:ext>
            </a:extLst>
          </p:cNvPr>
          <p:cNvSpPr txBox="1"/>
          <p:nvPr/>
        </p:nvSpPr>
        <p:spPr>
          <a:xfrm>
            <a:off x="5164259" y="352712"/>
            <a:ext cx="600545" cy="34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Tin alloy fabs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</a:t>
            </a:r>
          </a:p>
        </p:txBody>
      </p:sp>
      <p:sp>
        <p:nvSpPr>
          <p:cNvPr id="773" name="TextBox 772">
            <a:extLst>
              <a:ext uri="{FF2B5EF4-FFF2-40B4-BE49-F238E27FC236}">
                <a16:creationId xmlns:a16="http://schemas.microsoft.com/office/drawing/2014/main" id="{8A8C7C8A-955E-C960-CF64-A419BDAEF7DB}"/>
              </a:ext>
            </a:extLst>
          </p:cNvPr>
          <p:cNvSpPr txBox="1"/>
          <p:nvPr/>
        </p:nvSpPr>
        <p:spPr>
          <a:xfrm>
            <a:off x="6395824" y="364240"/>
            <a:ext cx="570136" cy="34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PCB Factory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</a:t>
            </a:r>
          </a:p>
        </p:txBody>
      </p:sp>
      <p:sp>
        <p:nvSpPr>
          <p:cNvPr id="774" name="TextBox 773">
            <a:extLst>
              <a:ext uri="{FF2B5EF4-FFF2-40B4-BE49-F238E27FC236}">
                <a16:creationId xmlns:a16="http://schemas.microsoft.com/office/drawing/2014/main" id="{206016C9-EE26-531E-D646-AC51D2DEF6D3}"/>
              </a:ext>
            </a:extLst>
          </p:cNvPr>
          <p:cNvSpPr txBox="1"/>
          <p:nvPr/>
        </p:nvSpPr>
        <p:spPr>
          <a:xfrm>
            <a:off x="6944789" y="370840"/>
            <a:ext cx="570136" cy="3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PCBs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Model id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Serial id</a:t>
            </a:r>
          </a:p>
        </p:txBody>
      </p:sp>
      <p:sp>
        <p:nvSpPr>
          <p:cNvPr id="778" name="TextBox 777">
            <a:extLst>
              <a:ext uri="{FF2B5EF4-FFF2-40B4-BE49-F238E27FC236}">
                <a16:creationId xmlns:a16="http://schemas.microsoft.com/office/drawing/2014/main" id="{C9C15A3A-C2E7-8404-7AA6-CFBD0158469A}"/>
              </a:ext>
            </a:extLst>
          </p:cNvPr>
          <p:cNvSpPr txBox="1"/>
          <p:nvPr/>
        </p:nvSpPr>
        <p:spPr>
          <a:xfrm>
            <a:off x="5724520" y="3331832"/>
            <a:ext cx="511032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Magnets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781" name="TextBox 780">
            <a:extLst>
              <a:ext uri="{FF2B5EF4-FFF2-40B4-BE49-F238E27FC236}">
                <a16:creationId xmlns:a16="http://schemas.microsoft.com/office/drawing/2014/main" id="{3945C96A-0303-6FB3-6E42-9AF0CF47A143}"/>
              </a:ext>
            </a:extLst>
          </p:cNvPr>
          <p:cNvSpPr txBox="1"/>
          <p:nvPr/>
        </p:nvSpPr>
        <p:spPr>
          <a:xfrm>
            <a:off x="6914258" y="3357123"/>
            <a:ext cx="610289" cy="3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Motors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Model id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Serial id</a:t>
            </a:r>
          </a:p>
        </p:txBody>
      </p:sp>
      <p:sp>
        <p:nvSpPr>
          <p:cNvPr id="782" name="TextBox 781">
            <a:extLst>
              <a:ext uri="{FF2B5EF4-FFF2-40B4-BE49-F238E27FC236}">
                <a16:creationId xmlns:a16="http://schemas.microsoft.com/office/drawing/2014/main" id="{F00B1AF6-6AF4-540A-F46A-039184D733FF}"/>
              </a:ext>
            </a:extLst>
          </p:cNvPr>
          <p:cNvSpPr txBox="1"/>
          <p:nvPr/>
        </p:nvSpPr>
        <p:spPr>
          <a:xfrm>
            <a:off x="6389165" y="3362231"/>
            <a:ext cx="615201" cy="421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Motor Factory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or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Catena-x ID</a:t>
            </a:r>
          </a:p>
        </p:txBody>
      </p:sp>
      <p:sp>
        <p:nvSpPr>
          <p:cNvPr id="788" name="TextBox 787">
            <a:extLst>
              <a:ext uri="{FF2B5EF4-FFF2-40B4-BE49-F238E27FC236}">
                <a16:creationId xmlns:a16="http://schemas.microsoft.com/office/drawing/2014/main" id="{3A7EFEEC-D521-F8DC-3A7C-D32E21758A05}"/>
              </a:ext>
            </a:extLst>
          </p:cNvPr>
          <p:cNvSpPr txBox="1"/>
          <p:nvPr/>
        </p:nvSpPr>
        <p:spPr>
          <a:xfrm>
            <a:off x="7770146" y="186547"/>
            <a:ext cx="1278494" cy="19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643" b="1" dirty="0">
                <a:solidFill>
                  <a:prstClr val="white"/>
                </a:solidFill>
                <a:latin typeface="Aptos" panose="02110004020202020204"/>
              </a:rPr>
              <a:t>Electrical &amp; Electronic OEMs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17DFE6E1-1B15-DF9B-2A11-6CFE23F6DBEF}"/>
              </a:ext>
            </a:extLst>
          </p:cNvPr>
          <p:cNvSpPr txBox="1"/>
          <p:nvPr/>
        </p:nvSpPr>
        <p:spPr>
          <a:xfrm>
            <a:off x="7731464" y="2550376"/>
            <a:ext cx="1278494" cy="19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643" b="1" dirty="0">
                <a:solidFill>
                  <a:prstClr val="white"/>
                </a:solidFill>
                <a:latin typeface="Aptos" panose="02110004020202020204"/>
              </a:rPr>
              <a:t>Automotive OEMs</a:t>
            </a:r>
          </a:p>
        </p:txBody>
      </p:sp>
      <p:sp>
        <p:nvSpPr>
          <p:cNvPr id="792" name="TextBox 791">
            <a:extLst>
              <a:ext uri="{FF2B5EF4-FFF2-40B4-BE49-F238E27FC236}">
                <a16:creationId xmlns:a16="http://schemas.microsoft.com/office/drawing/2014/main" id="{EB4A59FC-E195-73B3-811A-1CC81B4CD248}"/>
              </a:ext>
            </a:extLst>
          </p:cNvPr>
          <p:cNvSpPr txBox="1"/>
          <p:nvPr/>
        </p:nvSpPr>
        <p:spPr>
          <a:xfrm>
            <a:off x="5088824" y="158760"/>
            <a:ext cx="1278494" cy="19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643" b="1" dirty="0">
                <a:solidFill>
                  <a:prstClr val="white"/>
                </a:solidFill>
                <a:latin typeface="Aptos" panose="02110004020202020204"/>
              </a:rPr>
              <a:t>Specialised Fabricators</a:t>
            </a:r>
          </a:p>
        </p:txBody>
      </p:sp>
      <p:sp>
        <p:nvSpPr>
          <p:cNvPr id="793" name="Chevron 792">
            <a:extLst>
              <a:ext uri="{FF2B5EF4-FFF2-40B4-BE49-F238E27FC236}">
                <a16:creationId xmlns:a16="http://schemas.microsoft.com/office/drawing/2014/main" id="{43D04F4B-78C4-B352-6C78-181317C2EAF5}"/>
              </a:ext>
            </a:extLst>
          </p:cNvPr>
          <p:cNvSpPr/>
          <p:nvPr/>
        </p:nvSpPr>
        <p:spPr>
          <a:xfrm>
            <a:off x="9136766" y="5242790"/>
            <a:ext cx="1227953" cy="29281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r>
              <a:rPr lang="en-US" sz="750" dirty="0">
                <a:solidFill>
                  <a:prstClr val="white"/>
                </a:solidFill>
                <a:latin typeface="Aptos" panose="02110004020202020204"/>
              </a:rPr>
              <a:t>recycle,  remanufacture</a:t>
            </a:r>
          </a:p>
        </p:txBody>
      </p:sp>
      <p:sp>
        <p:nvSpPr>
          <p:cNvPr id="794" name="Chevron 793">
            <a:extLst>
              <a:ext uri="{FF2B5EF4-FFF2-40B4-BE49-F238E27FC236}">
                <a16:creationId xmlns:a16="http://schemas.microsoft.com/office/drawing/2014/main" id="{10646411-9CD1-6D11-D9E6-46245CD9AD70}"/>
              </a:ext>
            </a:extLst>
          </p:cNvPr>
          <p:cNvSpPr/>
          <p:nvPr/>
        </p:nvSpPr>
        <p:spPr>
          <a:xfrm>
            <a:off x="8432866" y="5242790"/>
            <a:ext cx="728059" cy="29281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r>
              <a:rPr lang="en-US" sz="750" dirty="0">
                <a:solidFill>
                  <a:prstClr val="white"/>
                </a:solidFill>
                <a:latin typeface="Aptos" panose="02110004020202020204"/>
              </a:rPr>
              <a:t>Use &amp; repair</a:t>
            </a:r>
          </a:p>
        </p:txBody>
      </p:sp>
      <p:sp>
        <p:nvSpPr>
          <p:cNvPr id="795" name="Chevron 794">
            <a:extLst>
              <a:ext uri="{FF2B5EF4-FFF2-40B4-BE49-F238E27FC236}">
                <a16:creationId xmlns:a16="http://schemas.microsoft.com/office/drawing/2014/main" id="{EA9C980F-97B5-31C0-E7F1-20E6EE0F5889}"/>
              </a:ext>
            </a:extLst>
          </p:cNvPr>
          <p:cNvSpPr/>
          <p:nvPr/>
        </p:nvSpPr>
        <p:spPr>
          <a:xfrm>
            <a:off x="7382128" y="5242790"/>
            <a:ext cx="1050738" cy="29281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r>
              <a:rPr lang="en-US" sz="750" dirty="0">
                <a:solidFill>
                  <a:prstClr val="white"/>
                </a:solidFill>
                <a:latin typeface="Aptos" panose="02110004020202020204"/>
              </a:rPr>
              <a:t>Final assembly</a:t>
            </a:r>
          </a:p>
        </p:txBody>
      </p:sp>
      <p:sp>
        <p:nvSpPr>
          <p:cNvPr id="796" name="Chevron 795">
            <a:extLst>
              <a:ext uri="{FF2B5EF4-FFF2-40B4-BE49-F238E27FC236}">
                <a16:creationId xmlns:a16="http://schemas.microsoft.com/office/drawing/2014/main" id="{35C493C0-D72C-A503-FDD3-F45EF7DF4DAD}"/>
              </a:ext>
            </a:extLst>
          </p:cNvPr>
          <p:cNvSpPr/>
          <p:nvPr/>
        </p:nvSpPr>
        <p:spPr>
          <a:xfrm>
            <a:off x="6244545" y="5242790"/>
            <a:ext cx="1161744" cy="29281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r>
              <a:rPr lang="en-US" sz="750" dirty="0">
                <a:solidFill>
                  <a:prstClr val="white"/>
                </a:solidFill>
                <a:latin typeface="Aptos" panose="02110004020202020204"/>
              </a:rPr>
              <a:t>Component manufacturing</a:t>
            </a:r>
          </a:p>
        </p:txBody>
      </p:sp>
      <p:sp>
        <p:nvSpPr>
          <p:cNvPr id="797" name="Chevron 796">
            <a:extLst>
              <a:ext uri="{FF2B5EF4-FFF2-40B4-BE49-F238E27FC236}">
                <a16:creationId xmlns:a16="http://schemas.microsoft.com/office/drawing/2014/main" id="{FFFC7293-8FE7-0D48-4577-8AA3DCD50675}"/>
              </a:ext>
            </a:extLst>
          </p:cNvPr>
          <p:cNvSpPr/>
          <p:nvPr/>
        </p:nvSpPr>
        <p:spPr>
          <a:xfrm>
            <a:off x="4937150" y="5242790"/>
            <a:ext cx="1331555" cy="29281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r>
              <a:rPr lang="en-US" sz="750" dirty="0">
                <a:solidFill>
                  <a:prstClr val="white"/>
                </a:solidFill>
                <a:latin typeface="Aptos" panose="02110004020202020204"/>
              </a:rPr>
              <a:t>Sub-component fabrication</a:t>
            </a:r>
          </a:p>
        </p:txBody>
      </p:sp>
      <p:sp>
        <p:nvSpPr>
          <p:cNvPr id="798" name="Chevron 797">
            <a:extLst>
              <a:ext uri="{FF2B5EF4-FFF2-40B4-BE49-F238E27FC236}">
                <a16:creationId xmlns:a16="http://schemas.microsoft.com/office/drawing/2014/main" id="{68F061CE-C110-C5D6-4FEA-0BBCD1675914}"/>
              </a:ext>
            </a:extLst>
          </p:cNvPr>
          <p:cNvSpPr/>
          <p:nvPr/>
        </p:nvSpPr>
        <p:spPr>
          <a:xfrm>
            <a:off x="1799970" y="5242790"/>
            <a:ext cx="1198748" cy="29281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r>
              <a:rPr lang="en-US" sz="750" dirty="0">
                <a:solidFill>
                  <a:prstClr val="white"/>
                </a:solidFill>
                <a:latin typeface="Aptos" panose="02110004020202020204"/>
              </a:rPr>
              <a:t>Primary production</a:t>
            </a:r>
          </a:p>
        </p:txBody>
      </p:sp>
      <p:sp>
        <p:nvSpPr>
          <p:cNvPr id="799" name="Chevron 798">
            <a:extLst>
              <a:ext uri="{FF2B5EF4-FFF2-40B4-BE49-F238E27FC236}">
                <a16:creationId xmlns:a16="http://schemas.microsoft.com/office/drawing/2014/main" id="{80A4CF58-267B-0B08-7758-71151ACD1CE8}"/>
              </a:ext>
            </a:extLst>
          </p:cNvPr>
          <p:cNvSpPr/>
          <p:nvPr/>
        </p:nvSpPr>
        <p:spPr>
          <a:xfrm>
            <a:off x="2974557" y="5242790"/>
            <a:ext cx="1986753" cy="29281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r>
              <a:rPr lang="en-US" sz="750" dirty="0">
                <a:solidFill>
                  <a:prstClr val="white"/>
                </a:solidFill>
                <a:latin typeface="Aptos" panose="02110004020202020204"/>
              </a:rPr>
              <a:t>Material processing</a:t>
            </a:r>
          </a:p>
        </p:txBody>
      </p:sp>
      <p:sp>
        <p:nvSpPr>
          <p:cNvPr id="446" name="Diamond 445">
            <a:extLst>
              <a:ext uri="{FF2B5EF4-FFF2-40B4-BE49-F238E27FC236}">
                <a16:creationId xmlns:a16="http://schemas.microsoft.com/office/drawing/2014/main" id="{631E9450-6752-F4E8-8053-BA34560DDCBE}"/>
              </a:ext>
            </a:extLst>
          </p:cNvPr>
          <p:cNvSpPr/>
          <p:nvPr/>
        </p:nvSpPr>
        <p:spPr>
          <a:xfrm>
            <a:off x="5838553" y="2471929"/>
            <a:ext cx="270594" cy="15084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P4</a:t>
            </a:r>
          </a:p>
        </p:txBody>
      </p:sp>
      <p:sp>
        <p:nvSpPr>
          <p:cNvPr id="806" name="Oval 805">
            <a:extLst>
              <a:ext uri="{FF2B5EF4-FFF2-40B4-BE49-F238E27FC236}">
                <a16:creationId xmlns:a16="http://schemas.microsoft.com/office/drawing/2014/main" id="{13169483-3ACA-0868-B94B-82EDF19A37FD}"/>
              </a:ext>
            </a:extLst>
          </p:cNvPr>
          <p:cNvSpPr/>
          <p:nvPr/>
        </p:nvSpPr>
        <p:spPr>
          <a:xfrm>
            <a:off x="1917127" y="651231"/>
            <a:ext cx="343844" cy="1788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Mine1</a:t>
            </a:r>
          </a:p>
        </p:txBody>
      </p:sp>
      <p:sp>
        <p:nvSpPr>
          <p:cNvPr id="808" name="Oval 807">
            <a:extLst>
              <a:ext uri="{FF2B5EF4-FFF2-40B4-BE49-F238E27FC236}">
                <a16:creationId xmlns:a16="http://schemas.microsoft.com/office/drawing/2014/main" id="{071FFC6E-105E-7CEB-C989-47332CAA1692}"/>
              </a:ext>
            </a:extLst>
          </p:cNvPr>
          <p:cNvSpPr/>
          <p:nvPr/>
        </p:nvSpPr>
        <p:spPr>
          <a:xfrm>
            <a:off x="2949138" y="651230"/>
            <a:ext cx="408776" cy="178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Smelter1</a:t>
            </a:r>
          </a:p>
        </p:txBody>
      </p:sp>
      <p:sp>
        <p:nvSpPr>
          <p:cNvPr id="810" name="Oval 809">
            <a:extLst>
              <a:ext uri="{FF2B5EF4-FFF2-40B4-BE49-F238E27FC236}">
                <a16:creationId xmlns:a16="http://schemas.microsoft.com/office/drawing/2014/main" id="{9AF48609-F6B0-12EA-6543-F94CC32E8080}"/>
              </a:ext>
            </a:extLst>
          </p:cNvPr>
          <p:cNvSpPr/>
          <p:nvPr/>
        </p:nvSpPr>
        <p:spPr>
          <a:xfrm>
            <a:off x="4010776" y="651230"/>
            <a:ext cx="408776" cy="178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Refiner1</a:t>
            </a:r>
          </a:p>
        </p:txBody>
      </p:sp>
      <p:sp>
        <p:nvSpPr>
          <p:cNvPr id="824" name="Oval 823">
            <a:extLst>
              <a:ext uri="{FF2B5EF4-FFF2-40B4-BE49-F238E27FC236}">
                <a16:creationId xmlns:a16="http://schemas.microsoft.com/office/drawing/2014/main" id="{1209B83A-CFDD-2863-9EB6-1D4A7F6BF14E}"/>
              </a:ext>
            </a:extLst>
          </p:cNvPr>
          <p:cNvSpPr/>
          <p:nvPr/>
        </p:nvSpPr>
        <p:spPr>
          <a:xfrm>
            <a:off x="5292339" y="3683134"/>
            <a:ext cx="325266" cy="164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Fab5</a:t>
            </a:r>
          </a:p>
        </p:txBody>
      </p:sp>
      <p:sp>
        <p:nvSpPr>
          <p:cNvPr id="825" name="Oval 824">
            <a:extLst>
              <a:ext uri="{FF2B5EF4-FFF2-40B4-BE49-F238E27FC236}">
                <a16:creationId xmlns:a16="http://schemas.microsoft.com/office/drawing/2014/main" id="{47C062BE-65F6-6225-7985-55B6B8E33907}"/>
              </a:ext>
            </a:extLst>
          </p:cNvPr>
          <p:cNvSpPr/>
          <p:nvPr/>
        </p:nvSpPr>
        <p:spPr>
          <a:xfrm>
            <a:off x="5313322" y="4584093"/>
            <a:ext cx="325266" cy="164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Fab5</a:t>
            </a:r>
          </a:p>
        </p:txBody>
      </p:sp>
      <p:sp>
        <p:nvSpPr>
          <p:cNvPr id="826" name="Diamond 825">
            <a:extLst>
              <a:ext uri="{FF2B5EF4-FFF2-40B4-BE49-F238E27FC236}">
                <a16:creationId xmlns:a16="http://schemas.microsoft.com/office/drawing/2014/main" id="{3FBCEE62-609C-3588-7F19-449A3030E609}"/>
              </a:ext>
            </a:extLst>
          </p:cNvPr>
          <p:cNvSpPr/>
          <p:nvPr/>
        </p:nvSpPr>
        <p:spPr>
          <a:xfrm>
            <a:off x="5855964" y="3695332"/>
            <a:ext cx="316858" cy="145324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P8</a:t>
            </a:r>
          </a:p>
        </p:txBody>
      </p:sp>
      <p:sp>
        <p:nvSpPr>
          <p:cNvPr id="827" name="Diamond 826">
            <a:extLst>
              <a:ext uri="{FF2B5EF4-FFF2-40B4-BE49-F238E27FC236}">
                <a16:creationId xmlns:a16="http://schemas.microsoft.com/office/drawing/2014/main" id="{70049AD4-2A37-725A-7D91-28BFBC6132E5}"/>
              </a:ext>
            </a:extLst>
          </p:cNvPr>
          <p:cNvSpPr/>
          <p:nvPr/>
        </p:nvSpPr>
        <p:spPr>
          <a:xfrm>
            <a:off x="5852607" y="4600635"/>
            <a:ext cx="303674" cy="13912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P9</a:t>
            </a:r>
          </a:p>
        </p:txBody>
      </p:sp>
      <p:sp>
        <p:nvSpPr>
          <p:cNvPr id="828" name="Oval 827">
            <a:extLst>
              <a:ext uri="{FF2B5EF4-FFF2-40B4-BE49-F238E27FC236}">
                <a16:creationId xmlns:a16="http://schemas.microsoft.com/office/drawing/2014/main" id="{E7F55B4E-BFA1-9442-7250-AC46B09E49BC}"/>
              </a:ext>
            </a:extLst>
          </p:cNvPr>
          <p:cNvSpPr/>
          <p:nvPr/>
        </p:nvSpPr>
        <p:spPr>
          <a:xfrm>
            <a:off x="6530634" y="3752625"/>
            <a:ext cx="325266" cy="164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Manf5</a:t>
            </a:r>
          </a:p>
        </p:txBody>
      </p:sp>
      <p:sp>
        <p:nvSpPr>
          <p:cNvPr id="829" name="Oval 828">
            <a:extLst>
              <a:ext uri="{FF2B5EF4-FFF2-40B4-BE49-F238E27FC236}">
                <a16:creationId xmlns:a16="http://schemas.microsoft.com/office/drawing/2014/main" id="{27143887-FFAA-E601-7841-41ED2166FC92}"/>
              </a:ext>
            </a:extLst>
          </p:cNvPr>
          <p:cNvSpPr/>
          <p:nvPr/>
        </p:nvSpPr>
        <p:spPr>
          <a:xfrm>
            <a:off x="6535226" y="4604582"/>
            <a:ext cx="314542" cy="164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Manf6</a:t>
            </a:r>
          </a:p>
        </p:txBody>
      </p:sp>
      <p:sp>
        <p:nvSpPr>
          <p:cNvPr id="830" name="Diamond 829">
            <a:extLst>
              <a:ext uri="{FF2B5EF4-FFF2-40B4-BE49-F238E27FC236}">
                <a16:creationId xmlns:a16="http://schemas.microsoft.com/office/drawing/2014/main" id="{5FDAFF24-A76A-328C-D2A8-CC7DAB636E0B}"/>
              </a:ext>
            </a:extLst>
          </p:cNvPr>
          <p:cNvSpPr/>
          <p:nvPr/>
        </p:nvSpPr>
        <p:spPr>
          <a:xfrm>
            <a:off x="7065058" y="3642741"/>
            <a:ext cx="254476" cy="146486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P16</a:t>
            </a:r>
          </a:p>
        </p:txBody>
      </p:sp>
      <p:sp>
        <p:nvSpPr>
          <p:cNvPr id="831" name="Diamond 830">
            <a:extLst>
              <a:ext uri="{FF2B5EF4-FFF2-40B4-BE49-F238E27FC236}">
                <a16:creationId xmlns:a16="http://schemas.microsoft.com/office/drawing/2014/main" id="{69CA4103-D90F-BB69-A2AD-F960AB6299E8}"/>
              </a:ext>
            </a:extLst>
          </p:cNvPr>
          <p:cNvSpPr/>
          <p:nvPr/>
        </p:nvSpPr>
        <p:spPr>
          <a:xfrm>
            <a:off x="7085463" y="4604212"/>
            <a:ext cx="272362" cy="13912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P18</a:t>
            </a:r>
          </a:p>
        </p:txBody>
      </p:sp>
      <p:sp>
        <p:nvSpPr>
          <p:cNvPr id="832" name="Oval 831">
            <a:extLst>
              <a:ext uri="{FF2B5EF4-FFF2-40B4-BE49-F238E27FC236}">
                <a16:creationId xmlns:a16="http://schemas.microsoft.com/office/drawing/2014/main" id="{DA26A561-06AB-DE28-6917-B727CDD1510F}"/>
              </a:ext>
            </a:extLst>
          </p:cNvPr>
          <p:cNvSpPr/>
          <p:nvPr/>
        </p:nvSpPr>
        <p:spPr>
          <a:xfrm>
            <a:off x="5292088" y="660590"/>
            <a:ext cx="344886" cy="164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Fab1</a:t>
            </a:r>
          </a:p>
        </p:txBody>
      </p:sp>
      <p:sp>
        <p:nvSpPr>
          <p:cNvPr id="833" name="Diamond 832">
            <a:extLst>
              <a:ext uri="{FF2B5EF4-FFF2-40B4-BE49-F238E27FC236}">
                <a16:creationId xmlns:a16="http://schemas.microsoft.com/office/drawing/2014/main" id="{1A84F617-E50B-23E8-96C0-161C1B758519}"/>
              </a:ext>
            </a:extLst>
          </p:cNvPr>
          <p:cNvSpPr/>
          <p:nvPr/>
        </p:nvSpPr>
        <p:spPr>
          <a:xfrm>
            <a:off x="5851845" y="662513"/>
            <a:ext cx="244155" cy="165263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P1</a:t>
            </a:r>
          </a:p>
        </p:txBody>
      </p:sp>
      <p:sp>
        <p:nvSpPr>
          <p:cNvPr id="834" name="Oval 833">
            <a:extLst>
              <a:ext uri="{FF2B5EF4-FFF2-40B4-BE49-F238E27FC236}">
                <a16:creationId xmlns:a16="http://schemas.microsoft.com/office/drawing/2014/main" id="{92BA1B4E-F820-3C61-1971-3F9FE91D1656}"/>
              </a:ext>
            </a:extLst>
          </p:cNvPr>
          <p:cNvSpPr/>
          <p:nvPr/>
        </p:nvSpPr>
        <p:spPr>
          <a:xfrm>
            <a:off x="6517535" y="751793"/>
            <a:ext cx="344886" cy="164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Manf1</a:t>
            </a:r>
          </a:p>
        </p:txBody>
      </p:sp>
      <p:sp>
        <p:nvSpPr>
          <p:cNvPr id="835" name="Diamond 834">
            <a:extLst>
              <a:ext uri="{FF2B5EF4-FFF2-40B4-BE49-F238E27FC236}">
                <a16:creationId xmlns:a16="http://schemas.microsoft.com/office/drawing/2014/main" id="{5CF12BCE-B694-A7DE-3178-E493F83333FD}"/>
              </a:ext>
            </a:extLst>
          </p:cNvPr>
          <p:cNvSpPr/>
          <p:nvPr/>
        </p:nvSpPr>
        <p:spPr>
          <a:xfrm>
            <a:off x="7191047" y="667209"/>
            <a:ext cx="259404" cy="13912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P10</a:t>
            </a:r>
          </a:p>
        </p:txBody>
      </p:sp>
      <p:sp>
        <p:nvSpPr>
          <p:cNvPr id="836" name="Rounded Rectangle 835">
            <a:extLst>
              <a:ext uri="{FF2B5EF4-FFF2-40B4-BE49-F238E27FC236}">
                <a16:creationId xmlns:a16="http://schemas.microsoft.com/office/drawing/2014/main" id="{2F73D45C-D9A4-0C09-79D2-E31C99F27514}"/>
              </a:ext>
            </a:extLst>
          </p:cNvPr>
          <p:cNvSpPr/>
          <p:nvPr/>
        </p:nvSpPr>
        <p:spPr>
          <a:xfrm>
            <a:off x="2521101" y="882588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837" name="Rounded Rectangle 836">
            <a:extLst>
              <a:ext uri="{FF2B5EF4-FFF2-40B4-BE49-F238E27FC236}">
                <a16:creationId xmlns:a16="http://schemas.microsoft.com/office/drawing/2014/main" id="{6BB53529-878E-FA59-76B0-B661718C6171}"/>
              </a:ext>
            </a:extLst>
          </p:cNvPr>
          <p:cNvSpPr/>
          <p:nvPr/>
        </p:nvSpPr>
        <p:spPr>
          <a:xfrm>
            <a:off x="2641785" y="999323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838" name="Rounded Rectangle 837">
            <a:extLst>
              <a:ext uri="{FF2B5EF4-FFF2-40B4-BE49-F238E27FC236}">
                <a16:creationId xmlns:a16="http://schemas.microsoft.com/office/drawing/2014/main" id="{18EE8B16-056B-D3D0-E9A3-EF0EA4630824}"/>
              </a:ext>
            </a:extLst>
          </p:cNvPr>
          <p:cNvSpPr/>
          <p:nvPr/>
        </p:nvSpPr>
        <p:spPr>
          <a:xfrm>
            <a:off x="2424988" y="999323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CoA</a:t>
            </a:r>
          </a:p>
        </p:txBody>
      </p:sp>
      <p:sp>
        <p:nvSpPr>
          <p:cNvPr id="839" name="Rounded Rectangle 838">
            <a:extLst>
              <a:ext uri="{FF2B5EF4-FFF2-40B4-BE49-F238E27FC236}">
                <a16:creationId xmlns:a16="http://schemas.microsoft.com/office/drawing/2014/main" id="{F235EA5B-0999-8965-BB7B-4ADA816D4412}"/>
              </a:ext>
            </a:extLst>
          </p:cNvPr>
          <p:cNvSpPr/>
          <p:nvPr/>
        </p:nvSpPr>
        <p:spPr>
          <a:xfrm>
            <a:off x="2004519" y="883219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840" name="Rounded Rectangle 839">
            <a:extLst>
              <a:ext uri="{FF2B5EF4-FFF2-40B4-BE49-F238E27FC236}">
                <a16:creationId xmlns:a16="http://schemas.microsoft.com/office/drawing/2014/main" id="{AFE2DE94-AB75-2588-84A3-9D46A5005087}"/>
              </a:ext>
            </a:extLst>
          </p:cNvPr>
          <p:cNvSpPr/>
          <p:nvPr/>
        </p:nvSpPr>
        <p:spPr>
          <a:xfrm>
            <a:off x="2105097" y="996865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Permit</a:t>
            </a:r>
          </a:p>
        </p:txBody>
      </p:sp>
      <p:sp>
        <p:nvSpPr>
          <p:cNvPr id="841" name="Rounded Rectangle 840">
            <a:extLst>
              <a:ext uri="{FF2B5EF4-FFF2-40B4-BE49-F238E27FC236}">
                <a16:creationId xmlns:a16="http://schemas.microsoft.com/office/drawing/2014/main" id="{236DCCA0-900B-1D25-FBA9-A651C4467B0C}"/>
              </a:ext>
            </a:extLst>
          </p:cNvPr>
          <p:cNvSpPr/>
          <p:nvPr/>
        </p:nvSpPr>
        <p:spPr>
          <a:xfrm>
            <a:off x="1897575" y="999323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TSM</a:t>
            </a:r>
          </a:p>
        </p:txBody>
      </p:sp>
      <p:sp>
        <p:nvSpPr>
          <p:cNvPr id="842" name="Rounded Rectangle 841">
            <a:extLst>
              <a:ext uri="{FF2B5EF4-FFF2-40B4-BE49-F238E27FC236}">
                <a16:creationId xmlns:a16="http://schemas.microsoft.com/office/drawing/2014/main" id="{34EC6BF5-67B5-2A0F-8EA0-7FD5AD0025AE}"/>
              </a:ext>
            </a:extLst>
          </p:cNvPr>
          <p:cNvSpPr/>
          <p:nvPr/>
        </p:nvSpPr>
        <p:spPr>
          <a:xfrm>
            <a:off x="3081597" y="883079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844" name="Rounded Rectangle 843">
            <a:extLst>
              <a:ext uri="{FF2B5EF4-FFF2-40B4-BE49-F238E27FC236}">
                <a16:creationId xmlns:a16="http://schemas.microsoft.com/office/drawing/2014/main" id="{BBB1A790-1C98-ABE1-B4FC-B1998863AF1C}"/>
              </a:ext>
            </a:extLst>
          </p:cNvPr>
          <p:cNvSpPr/>
          <p:nvPr/>
        </p:nvSpPr>
        <p:spPr>
          <a:xfrm>
            <a:off x="3073253" y="999182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RMAP</a:t>
            </a:r>
          </a:p>
        </p:txBody>
      </p:sp>
      <p:sp>
        <p:nvSpPr>
          <p:cNvPr id="845" name="Rounded Rectangle 844">
            <a:extLst>
              <a:ext uri="{FF2B5EF4-FFF2-40B4-BE49-F238E27FC236}">
                <a16:creationId xmlns:a16="http://schemas.microsoft.com/office/drawing/2014/main" id="{9C9DF095-D911-29C3-5E08-23AC8789AA72}"/>
              </a:ext>
            </a:extLst>
          </p:cNvPr>
          <p:cNvSpPr/>
          <p:nvPr/>
        </p:nvSpPr>
        <p:spPr>
          <a:xfrm>
            <a:off x="4555068" y="866741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846" name="Rounded Rectangle 845">
            <a:extLst>
              <a:ext uri="{FF2B5EF4-FFF2-40B4-BE49-F238E27FC236}">
                <a16:creationId xmlns:a16="http://schemas.microsoft.com/office/drawing/2014/main" id="{63E62753-DCFA-8CEB-0096-252EF5738C9B}"/>
              </a:ext>
            </a:extLst>
          </p:cNvPr>
          <p:cNvSpPr/>
          <p:nvPr/>
        </p:nvSpPr>
        <p:spPr>
          <a:xfrm>
            <a:off x="4771523" y="994129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847" name="Rounded Rectangle 846">
            <a:extLst>
              <a:ext uri="{FF2B5EF4-FFF2-40B4-BE49-F238E27FC236}">
                <a16:creationId xmlns:a16="http://schemas.microsoft.com/office/drawing/2014/main" id="{3DF56A8C-5890-325E-E637-1E60B23B5B1A}"/>
              </a:ext>
            </a:extLst>
          </p:cNvPr>
          <p:cNvSpPr/>
          <p:nvPr/>
        </p:nvSpPr>
        <p:spPr>
          <a:xfrm>
            <a:off x="4554726" y="994129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CoA</a:t>
            </a:r>
          </a:p>
        </p:txBody>
      </p:sp>
      <p:sp>
        <p:nvSpPr>
          <p:cNvPr id="848" name="Rounded Rectangle 847">
            <a:extLst>
              <a:ext uri="{FF2B5EF4-FFF2-40B4-BE49-F238E27FC236}">
                <a16:creationId xmlns:a16="http://schemas.microsoft.com/office/drawing/2014/main" id="{CBEDF79F-7D3B-8CD6-F35D-BDF93DF4D4A8}"/>
              </a:ext>
            </a:extLst>
          </p:cNvPr>
          <p:cNvSpPr/>
          <p:nvPr/>
        </p:nvSpPr>
        <p:spPr>
          <a:xfrm>
            <a:off x="3615425" y="876848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849" name="Rounded Rectangle 848">
            <a:extLst>
              <a:ext uri="{FF2B5EF4-FFF2-40B4-BE49-F238E27FC236}">
                <a16:creationId xmlns:a16="http://schemas.microsoft.com/office/drawing/2014/main" id="{EC2238EA-8B7D-4CAD-0116-33E57E8FC1D0}"/>
              </a:ext>
            </a:extLst>
          </p:cNvPr>
          <p:cNvSpPr/>
          <p:nvPr/>
        </p:nvSpPr>
        <p:spPr>
          <a:xfrm>
            <a:off x="3606756" y="999323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850" name="Rounded Rectangle 849">
            <a:extLst>
              <a:ext uri="{FF2B5EF4-FFF2-40B4-BE49-F238E27FC236}">
                <a16:creationId xmlns:a16="http://schemas.microsoft.com/office/drawing/2014/main" id="{23D05A50-5FB6-EEA1-1A38-66F77945225E}"/>
              </a:ext>
            </a:extLst>
          </p:cNvPr>
          <p:cNvSpPr/>
          <p:nvPr/>
        </p:nvSpPr>
        <p:spPr>
          <a:xfrm>
            <a:off x="4140923" y="884703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856" name="Rounded Rectangle 855">
            <a:extLst>
              <a:ext uri="{FF2B5EF4-FFF2-40B4-BE49-F238E27FC236}">
                <a16:creationId xmlns:a16="http://schemas.microsoft.com/office/drawing/2014/main" id="{A4ECD7A9-F7F8-34FB-41F1-6B98525AF973}"/>
              </a:ext>
            </a:extLst>
          </p:cNvPr>
          <p:cNvSpPr/>
          <p:nvPr/>
        </p:nvSpPr>
        <p:spPr>
          <a:xfrm>
            <a:off x="4133078" y="999323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RMAP</a:t>
            </a:r>
          </a:p>
        </p:txBody>
      </p:sp>
      <p:sp>
        <p:nvSpPr>
          <p:cNvPr id="870" name="Rounded Rectangle 869">
            <a:extLst>
              <a:ext uri="{FF2B5EF4-FFF2-40B4-BE49-F238E27FC236}">
                <a16:creationId xmlns:a16="http://schemas.microsoft.com/office/drawing/2014/main" id="{4875859F-F405-B80E-24D5-5D63D1BE476D}"/>
              </a:ext>
            </a:extLst>
          </p:cNvPr>
          <p:cNvSpPr/>
          <p:nvPr/>
        </p:nvSpPr>
        <p:spPr>
          <a:xfrm>
            <a:off x="2006843" y="540080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872" name="Rounded Rectangle 871">
            <a:extLst>
              <a:ext uri="{FF2B5EF4-FFF2-40B4-BE49-F238E27FC236}">
                <a16:creationId xmlns:a16="http://schemas.microsoft.com/office/drawing/2014/main" id="{01233343-0694-4F1B-6F6F-49D83D335151}"/>
              </a:ext>
            </a:extLst>
          </p:cNvPr>
          <p:cNvSpPr/>
          <p:nvPr/>
        </p:nvSpPr>
        <p:spPr>
          <a:xfrm>
            <a:off x="2501116" y="546157"/>
            <a:ext cx="225730" cy="805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Waybill</a:t>
            </a:r>
          </a:p>
        </p:txBody>
      </p:sp>
      <p:cxnSp>
        <p:nvCxnSpPr>
          <p:cNvPr id="873" name="Straight Connector 26">
            <a:extLst>
              <a:ext uri="{FF2B5EF4-FFF2-40B4-BE49-F238E27FC236}">
                <a16:creationId xmlns:a16="http://schemas.microsoft.com/office/drawing/2014/main" id="{24738A89-0F02-07D8-C198-03703EA21C0E}"/>
              </a:ext>
            </a:extLst>
          </p:cNvPr>
          <p:cNvCxnSpPr>
            <a:cxnSpLocks/>
            <a:stCxn id="806" idx="6"/>
            <a:endCxn id="808" idx="2"/>
          </p:cNvCxnSpPr>
          <p:nvPr/>
        </p:nvCxnSpPr>
        <p:spPr>
          <a:xfrm flipV="1">
            <a:off x="2260970" y="740649"/>
            <a:ext cx="688167" cy="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Straight Connector 26">
            <a:extLst>
              <a:ext uri="{FF2B5EF4-FFF2-40B4-BE49-F238E27FC236}">
                <a16:creationId xmlns:a16="http://schemas.microsoft.com/office/drawing/2014/main" id="{0EA95E3A-A719-41B1-CF80-FDCF137581D8}"/>
              </a:ext>
            </a:extLst>
          </p:cNvPr>
          <p:cNvCxnSpPr>
            <a:cxnSpLocks/>
            <a:stCxn id="808" idx="6"/>
            <a:endCxn id="810" idx="2"/>
          </p:cNvCxnSpPr>
          <p:nvPr/>
        </p:nvCxnSpPr>
        <p:spPr>
          <a:xfrm>
            <a:off x="3357914" y="740649"/>
            <a:ext cx="652862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8" name="Rounded Rectangle 887">
            <a:extLst>
              <a:ext uri="{FF2B5EF4-FFF2-40B4-BE49-F238E27FC236}">
                <a16:creationId xmlns:a16="http://schemas.microsoft.com/office/drawing/2014/main" id="{ABE15734-AAAA-7F3B-A451-7F63885F7ED1}"/>
              </a:ext>
            </a:extLst>
          </p:cNvPr>
          <p:cNvSpPr/>
          <p:nvPr/>
        </p:nvSpPr>
        <p:spPr>
          <a:xfrm>
            <a:off x="3073508" y="539322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890" name="Rounded Rectangle 889">
            <a:extLst>
              <a:ext uri="{FF2B5EF4-FFF2-40B4-BE49-F238E27FC236}">
                <a16:creationId xmlns:a16="http://schemas.microsoft.com/office/drawing/2014/main" id="{A1315C85-0B64-95BE-FA92-CBB55618FBDB}"/>
              </a:ext>
            </a:extLst>
          </p:cNvPr>
          <p:cNvSpPr/>
          <p:nvPr/>
        </p:nvSpPr>
        <p:spPr>
          <a:xfrm>
            <a:off x="4135024" y="531436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891" name="Rounded Rectangle 890">
            <a:extLst>
              <a:ext uri="{FF2B5EF4-FFF2-40B4-BE49-F238E27FC236}">
                <a16:creationId xmlns:a16="http://schemas.microsoft.com/office/drawing/2014/main" id="{440A3F68-8FED-B477-D701-4B7F70BCAB90}"/>
              </a:ext>
            </a:extLst>
          </p:cNvPr>
          <p:cNvSpPr/>
          <p:nvPr/>
        </p:nvSpPr>
        <p:spPr>
          <a:xfrm>
            <a:off x="4637986" y="554019"/>
            <a:ext cx="225730" cy="805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LME</a:t>
            </a:r>
          </a:p>
        </p:txBody>
      </p:sp>
      <p:sp>
        <p:nvSpPr>
          <p:cNvPr id="892" name="Rounded Rectangle 891">
            <a:extLst>
              <a:ext uri="{FF2B5EF4-FFF2-40B4-BE49-F238E27FC236}">
                <a16:creationId xmlns:a16="http://schemas.microsoft.com/office/drawing/2014/main" id="{8DEF1F72-120A-3785-3BA3-198141F18509}"/>
              </a:ext>
            </a:extLst>
          </p:cNvPr>
          <p:cNvSpPr/>
          <p:nvPr/>
        </p:nvSpPr>
        <p:spPr>
          <a:xfrm>
            <a:off x="1788804" y="3049466"/>
            <a:ext cx="3268391" cy="1013990"/>
          </a:xfrm>
          <a:prstGeom prst="roundRect">
            <a:avLst>
              <a:gd name="adj" fmla="val 7444"/>
            </a:avLst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893" name="Rounded Rectangle 892">
            <a:extLst>
              <a:ext uri="{FF2B5EF4-FFF2-40B4-BE49-F238E27FC236}">
                <a16:creationId xmlns:a16="http://schemas.microsoft.com/office/drawing/2014/main" id="{D7FA0957-99F8-4D18-A1E7-C1C6357E4025}"/>
              </a:ext>
            </a:extLst>
          </p:cNvPr>
          <p:cNvSpPr/>
          <p:nvPr/>
        </p:nvSpPr>
        <p:spPr>
          <a:xfrm>
            <a:off x="1838924" y="3234484"/>
            <a:ext cx="489147" cy="77087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894" name="Rounded Rectangle 893">
            <a:extLst>
              <a:ext uri="{FF2B5EF4-FFF2-40B4-BE49-F238E27FC236}">
                <a16:creationId xmlns:a16="http://schemas.microsoft.com/office/drawing/2014/main" id="{7C5302C0-B901-3948-B595-10870102B0CA}"/>
              </a:ext>
            </a:extLst>
          </p:cNvPr>
          <p:cNvSpPr/>
          <p:nvPr/>
        </p:nvSpPr>
        <p:spPr>
          <a:xfrm>
            <a:off x="2369910" y="3234484"/>
            <a:ext cx="489147" cy="77087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895" name="Rounded Rectangle 894">
            <a:extLst>
              <a:ext uri="{FF2B5EF4-FFF2-40B4-BE49-F238E27FC236}">
                <a16:creationId xmlns:a16="http://schemas.microsoft.com/office/drawing/2014/main" id="{7CEE939A-BE24-D493-78CB-CF02D0673958}"/>
              </a:ext>
            </a:extLst>
          </p:cNvPr>
          <p:cNvSpPr/>
          <p:nvPr/>
        </p:nvSpPr>
        <p:spPr>
          <a:xfrm>
            <a:off x="2908122" y="3232803"/>
            <a:ext cx="489147" cy="77087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896" name="Rounded Rectangle 895">
            <a:extLst>
              <a:ext uri="{FF2B5EF4-FFF2-40B4-BE49-F238E27FC236}">
                <a16:creationId xmlns:a16="http://schemas.microsoft.com/office/drawing/2014/main" id="{6CAD628D-3CEE-584F-25BF-5F19A86820FA}"/>
              </a:ext>
            </a:extLst>
          </p:cNvPr>
          <p:cNvSpPr/>
          <p:nvPr/>
        </p:nvSpPr>
        <p:spPr>
          <a:xfrm>
            <a:off x="3437442" y="3232803"/>
            <a:ext cx="489147" cy="77087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897" name="Rounded Rectangle 896">
            <a:extLst>
              <a:ext uri="{FF2B5EF4-FFF2-40B4-BE49-F238E27FC236}">
                <a16:creationId xmlns:a16="http://schemas.microsoft.com/office/drawing/2014/main" id="{97BD8A43-B3EC-C38F-0D15-22B5CCAC1D0A}"/>
              </a:ext>
            </a:extLst>
          </p:cNvPr>
          <p:cNvSpPr/>
          <p:nvPr/>
        </p:nvSpPr>
        <p:spPr>
          <a:xfrm>
            <a:off x="3967947" y="3232803"/>
            <a:ext cx="489147" cy="77087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898" name="Rounded Rectangle 897">
            <a:extLst>
              <a:ext uri="{FF2B5EF4-FFF2-40B4-BE49-F238E27FC236}">
                <a16:creationId xmlns:a16="http://schemas.microsoft.com/office/drawing/2014/main" id="{69B7005D-FA6B-221A-4997-03D80B9469D4}"/>
              </a:ext>
            </a:extLst>
          </p:cNvPr>
          <p:cNvSpPr/>
          <p:nvPr/>
        </p:nvSpPr>
        <p:spPr>
          <a:xfrm>
            <a:off x="4498452" y="3232803"/>
            <a:ext cx="489147" cy="77087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srgbClr val="156082"/>
              </a:solidFill>
              <a:latin typeface="Aptos" panose="02110004020202020204"/>
            </a:endParaRPr>
          </a:p>
        </p:txBody>
      </p:sp>
      <p:sp>
        <p:nvSpPr>
          <p:cNvPr id="899" name="TextBox 898">
            <a:extLst>
              <a:ext uri="{FF2B5EF4-FFF2-40B4-BE49-F238E27FC236}">
                <a16:creationId xmlns:a16="http://schemas.microsoft.com/office/drawing/2014/main" id="{BE0E687B-2DC1-4987-0B05-945FDFED7B09}"/>
              </a:ext>
            </a:extLst>
          </p:cNvPr>
          <p:cNvSpPr txBox="1"/>
          <p:nvPr/>
        </p:nvSpPr>
        <p:spPr>
          <a:xfrm>
            <a:off x="1812465" y="3214997"/>
            <a:ext cx="532511" cy="3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Mines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ID from permit</a:t>
            </a:r>
          </a:p>
        </p:txBody>
      </p:sp>
      <p:sp>
        <p:nvSpPr>
          <p:cNvPr id="900" name="TextBox 899">
            <a:extLst>
              <a:ext uri="{FF2B5EF4-FFF2-40B4-BE49-F238E27FC236}">
                <a16:creationId xmlns:a16="http://schemas.microsoft.com/office/drawing/2014/main" id="{156B2EAA-5C29-C3F6-EB79-67F26E7F15DF}"/>
              </a:ext>
            </a:extLst>
          </p:cNvPr>
          <p:cNvSpPr txBox="1"/>
          <p:nvPr/>
        </p:nvSpPr>
        <p:spPr>
          <a:xfrm>
            <a:off x="2262976" y="3214998"/>
            <a:ext cx="692454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Concentrate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901" name="TextBox 900">
            <a:extLst>
              <a:ext uri="{FF2B5EF4-FFF2-40B4-BE49-F238E27FC236}">
                <a16:creationId xmlns:a16="http://schemas.microsoft.com/office/drawing/2014/main" id="{D099A5D4-DE57-5C70-301C-AA82F10CAD4D}"/>
              </a:ext>
            </a:extLst>
          </p:cNvPr>
          <p:cNvSpPr txBox="1"/>
          <p:nvPr/>
        </p:nvSpPr>
        <p:spPr>
          <a:xfrm>
            <a:off x="2827983" y="3217020"/>
            <a:ext cx="65546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00" b="1" dirty="0">
                <a:solidFill>
                  <a:prstClr val="black"/>
                </a:solidFill>
                <a:latin typeface="Aptos" panose="02110004020202020204"/>
              </a:rPr>
              <a:t>Hydrometallurgy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RMI ID</a:t>
            </a:r>
          </a:p>
        </p:txBody>
      </p:sp>
      <p:sp>
        <p:nvSpPr>
          <p:cNvPr id="902" name="TextBox 901">
            <a:extLst>
              <a:ext uri="{FF2B5EF4-FFF2-40B4-BE49-F238E27FC236}">
                <a16:creationId xmlns:a16="http://schemas.microsoft.com/office/drawing/2014/main" id="{E18AB25E-D19D-E2E7-13D6-9FFD82D0549F}"/>
              </a:ext>
            </a:extLst>
          </p:cNvPr>
          <p:cNvSpPr txBox="1"/>
          <p:nvPr/>
        </p:nvSpPr>
        <p:spPr>
          <a:xfrm>
            <a:off x="3391956" y="3214998"/>
            <a:ext cx="584716" cy="34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Crude metal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903" name="TextBox 902">
            <a:extLst>
              <a:ext uri="{FF2B5EF4-FFF2-40B4-BE49-F238E27FC236}">
                <a16:creationId xmlns:a16="http://schemas.microsoft.com/office/drawing/2014/main" id="{2A135E32-9E44-66D3-75AA-F18767727112}"/>
              </a:ext>
            </a:extLst>
          </p:cNvPr>
          <p:cNvSpPr txBox="1"/>
          <p:nvPr/>
        </p:nvSpPr>
        <p:spPr>
          <a:xfrm>
            <a:off x="4437381" y="3214998"/>
            <a:ext cx="610289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Metal / Alloy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904" name="TextBox 903">
            <a:extLst>
              <a:ext uri="{FF2B5EF4-FFF2-40B4-BE49-F238E27FC236}">
                <a16:creationId xmlns:a16="http://schemas.microsoft.com/office/drawing/2014/main" id="{630F102C-E9FE-CD2E-D690-C6F03984A09E}"/>
              </a:ext>
            </a:extLst>
          </p:cNvPr>
          <p:cNvSpPr txBox="1"/>
          <p:nvPr/>
        </p:nvSpPr>
        <p:spPr>
          <a:xfrm>
            <a:off x="3986864" y="3214998"/>
            <a:ext cx="450314" cy="34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Refiners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RMI ID</a:t>
            </a:r>
          </a:p>
        </p:txBody>
      </p:sp>
      <p:sp>
        <p:nvSpPr>
          <p:cNvPr id="905" name="TextBox 904">
            <a:extLst>
              <a:ext uri="{FF2B5EF4-FFF2-40B4-BE49-F238E27FC236}">
                <a16:creationId xmlns:a16="http://schemas.microsoft.com/office/drawing/2014/main" id="{0F0CB9A3-8451-CC22-7024-5889462AD0DD}"/>
              </a:ext>
            </a:extLst>
          </p:cNvPr>
          <p:cNvSpPr txBox="1"/>
          <p:nvPr/>
        </p:nvSpPr>
        <p:spPr>
          <a:xfrm>
            <a:off x="2639766" y="3070890"/>
            <a:ext cx="1515004" cy="19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643" b="1" dirty="0">
                <a:solidFill>
                  <a:prstClr val="white"/>
                </a:solidFill>
                <a:latin typeface="Aptos" panose="02110004020202020204"/>
              </a:rPr>
              <a:t>Rare Earths Value Chain</a:t>
            </a:r>
          </a:p>
        </p:txBody>
      </p:sp>
      <p:sp>
        <p:nvSpPr>
          <p:cNvPr id="906" name="Oval 905">
            <a:extLst>
              <a:ext uri="{FF2B5EF4-FFF2-40B4-BE49-F238E27FC236}">
                <a16:creationId xmlns:a16="http://schemas.microsoft.com/office/drawing/2014/main" id="{4FDAE6AA-C3DF-A74A-C9B7-E238D8E32F0A}"/>
              </a:ext>
            </a:extLst>
          </p:cNvPr>
          <p:cNvSpPr/>
          <p:nvPr/>
        </p:nvSpPr>
        <p:spPr>
          <a:xfrm>
            <a:off x="1906798" y="3535575"/>
            <a:ext cx="343844" cy="1788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Mine5</a:t>
            </a:r>
          </a:p>
        </p:txBody>
      </p:sp>
      <p:sp>
        <p:nvSpPr>
          <p:cNvPr id="907" name="Oval 906">
            <a:extLst>
              <a:ext uri="{FF2B5EF4-FFF2-40B4-BE49-F238E27FC236}">
                <a16:creationId xmlns:a16="http://schemas.microsoft.com/office/drawing/2014/main" id="{B5A538C6-96EF-A899-2EC3-514F73B3136A}"/>
              </a:ext>
            </a:extLst>
          </p:cNvPr>
          <p:cNvSpPr/>
          <p:nvPr/>
        </p:nvSpPr>
        <p:spPr>
          <a:xfrm>
            <a:off x="2938809" y="3535574"/>
            <a:ext cx="408776" cy="178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Smelter4</a:t>
            </a:r>
          </a:p>
        </p:txBody>
      </p:sp>
      <p:sp>
        <p:nvSpPr>
          <p:cNvPr id="908" name="Oval 907">
            <a:extLst>
              <a:ext uri="{FF2B5EF4-FFF2-40B4-BE49-F238E27FC236}">
                <a16:creationId xmlns:a16="http://schemas.microsoft.com/office/drawing/2014/main" id="{B3CEE3FA-E4BE-091A-DB3C-A8A7B039E8EE}"/>
              </a:ext>
            </a:extLst>
          </p:cNvPr>
          <p:cNvSpPr/>
          <p:nvPr/>
        </p:nvSpPr>
        <p:spPr>
          <a:xfrm>
            <a:off x="4000448" y="3535574"/>
            <a:ext cx="408776" cy="178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Refiner5</a:t>
            </a:r>
          </a:p>
        </p:txBody>
      </p:sp>
      <p:sp>
        <p:nvSpPr>
          <p:cNvPr id="910" name="Rounded Rectangle 909">
            <a:extLst>
              <a:ext uri="{FF2B5EF4-FFF2-40B4-BE49-F238E27FC236}">
                <a16:creationId xmlns:a16="http://schemas.microsoft.com/office/drawing/2014/main" id="{13EFC171-93D5-F7AC-86F2-EDF09D74A26E}"/>
              </a:ext>
            </a:extLst>
          </p:cNvPr>
          <p:cNvSpPr/>
          <p:nvPr/>
        </p:nvSpPr>
        <p:spPr>
          <a:xfrm>
            <a:off x="2510773" y="3766932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911" name="Rounded Rectangle 910">
            <a:extLst>
              <a:ext uri="{FF2B5EF4-FFF2-40B4-BE49-F238E27FC236}">
                <a16:creationId xmlns:a16="http://schemas.microsoft.com/office/drawing/2014/main" id="{4DD654BA-A372-1F31-69F0-D0717F24E967}"/>
              </a:ext>
            </a:extLst>
          </p:cNvPr>
          <p:cNvSpPr/>
          <p:nvPr/>
        </p:nvSpPr>
        <p:spPr>
          <a:xfrm>
            <a:off x="2631456" y="3883667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912" name="Rounded Rectangle 911">
            <a:extLst>
              <a:ext uri="{FF2B5EF4-FFF2-40B4-BE49-F238E27FC236}">
                <a16:creationId xmlns:a16="http://schemas.microsoft.com/office/drawing/2014/main" id="{F5608B6C-68FA-E394-C632-C7698684380E}"/>
              </a:ext>
            </a:extLst>
          </p:cNvPr>
          <p:cNvSpPr/>
          <p:nvPr/>
        </p:nvSpPr>
        <p:spPr>
          <a:xfrm>
            <a:off x="2414659" y="3883667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CoA</a:t>
            </a:r>
          </a:p>
        </p:txBody>
      </p:sp>
      <p:sp>
        <p:nvSpPr>
          <p:cNvPr id="913" name="Rounded Rectangle 912">
            <a:extLst>
              <a:ext uri="{FF2B5EF4-FFF2-40B4-BE49-F238E27FC236}">
                <a16:creationId xmlns:a16="http://schemas.microsoft.com/office/drawing/2014/main" id="{D09BF413-1B1F-0C4B-A1B2-4BE4B8F94E1C}"/>
              </a:ext>
            </a:extLst>
          </p:cNvPr>
          <p:cNvSpPr/>
          <p:nvPr/>
        </p:nvSpPr>
        <p:spPr>
          <a:xfrm>
            <a:off x="1994190" y="3767563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914" name="Rounded Rectangle 913">
            <a:extLst>
              <a:ext uri="{FF2B5EF4-FFF2-40B4-BE49-F238E27FC236}">
                <a16:creationId xmlns:a16="http://schemas.microsoft.com/office/drawing/2014/main" id="{9D75A53F-FCC3-D21E-D6A3-023AA815916A}"/>
              </a:ext>
            </a:extLst>
          </p:cNvPr>
          <p:cNvSpPr/>
          <p:nvPr/>
        </p:nvSpPr>
        <p:spPr>
          <a:xfrm>
            <a:off x="1999278" y="3881209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Permit</a:t>
            </a:r>
          </a:p>
        </p:txBody>
      </p:sp>
      <p:sp>
        <p:nvSpPr>
          <p:cNvPr id="916" name="Rounded Rectangle 915">
            <a:extLst>
              <a:ext uri="{FF2B5EF4-FFF2-40B4-BE49-F238E27FC236}">
                <a16:creationId xmlns:a16="http://schemas.microsoft.com/office/drawing/2014/main" id="{9C09CEE6-E2F9-E9FF-DABF-30706C3D2B0E}"/>
              </a:ext>
            </a:extLst>
          </p:cNvPr>
          <p:cNvSpPr/>
          <p:nvPr/>
        </p:nvSpPr>
        <p:spPr>
          <a:xfrm>
            <a:off x="3071268" y="3767422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917" name="Rounded Rectangle 916">
            <a:extLst>
              <a:ext uri="{FF2B5EF4-FFF2-40B4-BE49-F238E27FC236}">
                <a16:creationId xmlns:a16="http://schemas.microsoft.com/office/drawing/2014/main" id="{D0C87C96-5B6B-E65D-29A4-B3B036B82FCC}"/>
              </a:ext>
            </a:extLst>
          </p:cNvPr>
          <p:cNvSpPr/>
          <p:nvPr/>
        </p:nvSpPr>
        <p:spPr>
          <a:xfrm>
            <a:off x="3062924" y="3883526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RMAP</a:t>
            </a:r>
          </a:p>
        </p:txBody>
      </p:sp>
      <p:sp>
        <p:nvSpPr>
          <p:cNvPr id="918" name="Rounded Rectangle 917">
            <a:extLst>
              <a:ext uri="{FF2B5EF4-FFF2-40B4-BE49-F238E27FC236}">
                <a16:creationId xmlns:a16="http://schemas.microsoft.com/office/drawing/2014/main" id="{E50F5E8D-124E-FAD5-9CC9-99ABB6644443}"/>
              </a:ext>
            </a:extLst>
          </p:cNvPr>
          <p:cNvSpPr/>
          <p:nvPr/>
        </p:nvSpPr>
        <p:spPr>
          <a:xfrm>
            <a:off x="4640511" y="3761738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919" name="Rounded Rectangle 918">
            <a:extLst>
              <a:ext uri="{FF2B5EF4-FFF2-40B4-BE49-F238E27FC236}">
                <a16:creationId xmlns:a16="http://schemas.microsoft.com/office/drawing/2014/main" id="{596901BB-B5CE-2267-B8C1-2A126694C1BC}"/>
              </a:ext>
            </a:extLst>
          </p:cNvPr>
          <p:cNvSpPr/>
          <p:nvPr/>
        </p:nvSpPr>
        <p:spPr>
          <a:xfrm>
            <a:off x="4761195" y="3878473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920" name="Rounded Rectangle 919">
            <a:extLst>
              <a:ext uri="{FF2B5EF4-FFF2-40B4-BE49-F238E27FC236}">
                <a16:creationId xmlns:a16="http://schemas.microsoft.com/office/drawing/2014/main" id="{6CC9F484-F6BC-750A-8C66-0A6E24FB7F02}"/>
              </a:ext>
            </a:extLst>
          </p:cNvPr>
          <p:cNvSpPr/>
          <p:nvPr/>
        </p:nvSpPr>
        <p:spPr>
          <a:xfrm>
            <a:off x="4544398" y="3878473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CoA</a:t>
            </a:r>
          </a:p>
        </p:txBody>
      </p:sp>
      <p:sp>
        <p:nvSpPr>
          <p:cNvPr id="921" name="Rounded Rectangle 920">
            <a:extLst>
              <a:ext uri="{FF2B5EF4-FFF2-40B4-BE49-F238E27FC236}">
                <a16:creationId xmlns:a16="http://schemas.microsoft.com/office/drawing/2014/main" id="{A4BA0814-BE61-19FF-C27C-5BA53BE81D66}"/>
              </a:ext>
            </a:extLst>
          </p:cNvPr>
          <p:cNvSpPr/>
          <p:nvPr/>
        </p:nvSpPr>
        <p:spPr>
          <a:xfrm>
            <a:off x="3605096" y="3761192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922" name="Rounded Rectangle 921">
            <a:extLst>
              <a:ext uri="{FF2B5EF4-FFF2-40B4-BE49-F238E27FC236}">
                <a16:creationId xmlns:a16="http://schemas.microsoft.com/office/drawing/2014/main" id="{E48E7376-7638-E655-E536-777E618F1EF4}"/>
              </a:ext>
            </a:extLst>
          </p:cNvPr>
          <p:cNvSpPr/>
          <p:nvPr/>
        </p:nvSpPr>
        <p:spPr>
          <a:xfrm>
            <a:off x="3596428" y="3883667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923" name="Rounded Rectangle 922">
            <a:extLst>
              <a:ext uri="{FF2B5EF4-FFF2-40B4-BE49-F238E27FC236}">
                <a16:creationId xmlns:a16="http://schemas.microsoft.com/office/drawing/2014/main" id="{E54EEC7A-B3EA-AA01-9E08-35EA6100FD2E}"/>
              </a:ext>
            </a:extLst>
          </p:cNvPr>
          <p:cNvSpPr/>
          <p:nvPr/>
        </p:nvSpPr>
        <p:spPr>
          <a:xfrm>
            <a:off x="4130594" y="3769047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924" name="Rounded Rectangle 923">
            <a:extLst>
              <a:ext uri="{FF2B5EF4-FFF2-40B4-BE49-F238E27FC236}">
                <a16:creationId xmlns:a16="http://schemas.microsoft.com/office/drawing/2014/main" id="{D4DDF8AE-6FD3-018E-E09B-911A1BEFD3E7}"/>
              </a:ext>
            </a:extLst>
          </p:cNvPr>
          <p:cNvSpPr/>
          <p:nvPr/>
        </p:nvSpPr>
        <p:spPr>
          <a:xfrm>
            <a:off x="4122749" y="3883667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RMAP</a:t>
            </a:r>
          </a:p>
        </p:txBody>
      </p:sp>
      <p:sp>
        <p:nvSpPr>
          <p:cNvPr id="925" name="Rounded Rectangle 924">
            <a:extLst>
              <a:ext uri="{FF2B5EF4-FFF2-40B4-BE49-F238E27FC236}">
                <a16:creationId xmlns:a16="http://schemas.microsoft.com/office/drawing/2014/main" id="{056A7DBD-207C-0AA0-EA6D-18BA371FFE45}"/>
              </a:ext>
            </a:extLst>
          </p:cNvPr>
          <p:cNvSpPr/>
          <p:nvPr/>
        </p:nvSpPr>
        <p:spPr>
          <a:xfrm>
            <a:off x="1996514" y="3424424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926" name="Rounded Rectangle 925">
            <a:extLst>
              <a:ext uri="{FF2B5EF4-FFF2-40B4-BE49-F238E27FC236}">
                <a16:creationId xmlns:a16="http://schemas.microsoft.com/office/drawing/2014/main" id="{34374FEF-E5BA-5E9B-98BB-14B75E21F0B9}"/>
              </a:ext>
            </a:extLst>
          </p:cNvPr>
          <p:cNvSpPr/>
          <p:nvPr/>
        </p:nvSpPr>
        <p:spPr>
          <a:xfrm>
            <a:off x="2490787" y="3430501"/>
            <a:ext cx="225730" cy="805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Waybill</a:t>
            </a:r>
          </a:p>
        </p:txBody>
      </p:sp>
      <p:cxnSp>
        <p:nvCxnSpPr>
          <p:cNvPr id="927" name="Straight Connector 26">
            <a:extLst>
              <a:ext uri="{FF2B5EF4-FFF2-40B4-BE49-F238E27FC236}">
                <a16:creationId xmlns:a16="http://schemas.microsoft.com/office/drawing/2014/main" id="{362429EA-F77F-4BEC-730E-6E399DC5EA99}"/>
              </a:ext>
            </a:extLst>
          </p:cNvPr>
          <p:cNvCxnSpPr>
            <a:cxnSpLocks/>
            <a:stCxn id="906" idx="6"/>
            <a:endCxn id="907" idx="2"/>
          </p:cNvCxnSpPr>
          <p:nvPr/>
        </p:nvCxnSpPr>
        <p:spPr>
          <a:xfrm flipV="1">
            <a:off x="2250642" y="3624992"/>
            <a:ext cx="688167" cy="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Straight Connector 26">
            <a:extLst>
              <a:ext uri="{FF2B5EF4-FFF2-40B4-BE49-F238E27FC236}">
                <a16:creationId xmlns:a16="http://schemas.microsoft.com/office/drawing/2014/main" id="{5F240F4F-0CF8-A522-7664-D448ADA912C1}"/>
              </a:ext>
            </a:extLst>
          </p:cNvPr>
          <p:cNvCxnSpPr>
            <a:cxnSpLocks/>
            <a:stCxn id="907" idx="6"/>
            <a:endCxn id="908" idx="2"/>
          </p:cNvCxnSpPr>
          <p:nvPr/>
        </p:nvCxnSpPr>
        <p:spPr>
          <a:xfrm>
            <a:off x="3347585" y="3624992"/>
            <a:ext cx="652862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Rounded Rectangle 931">
            <a:extLst>
              <a:ext uri="{FF2B5EF4-FFF2-40B4-BE49-F238E27FC236}">
                <a16:creationId xmlns:a16="http://schemas.microsoft.com/office/drawing/2014/main" id="{949D3D87-89D0-6CA2-2E50-0C5219836B84}"/>
              </a:ext>
            </a:extLst>
          </p:cNvPr>
          <p:cNvSpPr/>
          <p:nvPr/>
        </p:nvSpPr>
        <p:spPr>
          <a:xfrm>
            <a:off x="3063179" y="3423666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933" name="Rounded Rectangle 932">
            <a:extLst>
              <a:ext uri="{FF2B5EF4-FFF2-40B4-BE49-F238E27FC236}">
                <a16:creationId xmlns:a16="http://schemas.microsoft.com/office/drawing/2014/main" id="{51E7AA0D-FE46-CFCF-837D-50385F8E41A5}"/>
              </a:ext>
            </a:extLst>
          </p:cNvPr>
          <p:cNvSpPr/>
          <p:nvPr/>
        </p:nvSpPr>
        <p:spPr>
          <a:xfrm>
            <a:off x="4124695" y="3415780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934" name="Rounded Rectangle 933">
            <a:extLst>
              <a:ext uri="{FF2B5EF4-FFF2-40B4-BE49-F238E27FC236}">
                <a16:creationId xmlns:a16="http://schemas.microsoft.com/office/drawing/2014/main" id="{3E82B094-3624-0990-6ACE-97365B873074}"/>
              </a:ext>
            </a:extLst>
          </p:cNvPr>
          <p:cNvSpPr/>
          <p:nvPr/>
        </p:nvSpPr>
        <p:spPr>
          <a:xfrm>
            <a:off x="4627657" y="3438363"/>
            <a:ext cx="225730" cy="805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LME</a:t>
            </a:r>
          </a:p>
        </p:txBody>
      </p:sp>
      <p:sp>
        <p:nvSpPr>
          <p:cNvPr id="935" name="Rounded Rectangle 934">
            <a:extLst>
              <a:ext uri="{FF2B5EF4-FFF2-40B4-BE49-F238E27FC236}">
                <a16:creationId xmlns:a16="http://schemas.microsoft.com/office/drawing/2014/main" id="{FE4E1DDA-E5A7-2BCC-0B25-2BD4C7CEDA38}"/>
              </a:ext>
            </a:extLst>
          </p:cNvPr>
          <p:cNvSpPr/>
          <p:nvPr/>
        </p:nvSpPr>
        <p:spPr>
          <a:xfrm>
            <a:off x="1799132" y="4115056"/>
            <a:ext cx="3268391" cy="1013990"/>
          </a:xfrm>
          <a:prstGeom prst="roundRect">
            <a:avLst>
              <a:gd name="adj" fmla="val 7444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srgbClr val="156082"/>
              </a:solidFill>
              <a:latin typeface="Aptos" panose="02110004020202020204"/>
            </a:endParaRPr>
          </a:p>
        </p:txBody>
      </p:sp>
      <p:sp>
        <p:nvSpPr>
          <p:cNvPr id="936" name="Rounded Rectangle 935">
            <a:extLst>
              <a:ext uri="{FF2B5EF4-FFF2-40B4-BE49-F238E27FC236}">
                <a16:creationId xmlns:a16="http://schemas.microsoft.com/office/drawing/2014/main" id="{762BE31C-C6D7-7DB3-7E3D-921030CF9023}"/>
              </a:ext>
            </a:extLst>
          </p:cNvPr>
          <p:cNvSpPr/>
          <p:nvPr/>
        </p:nvSpPr>
        <p:spPr>
          <a:xfrm>
            <a:off x="1849252" y="4300074"/>
            <a:ext cx="489147" cy="77087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937" name="Rounded Rectangle 936">
            <a:extLst>
              <a:ext uri="{FF2B5EF4-FFF2-40B4-BE49-F238E27FC236}">
                <a16:creationId xmlns:a16="http://schemas.microsoft.com/office/drawing/2014/main" id="{DE80C17F-A5CF-24DA-6D33-C63DF755D864}"/>
              </a:ext>
            </a:extLst>
          </p:cNvPr>
          <p:cNvSpPr/>
          <p:nvPr/>
        </p:nvSpPr>
        <p:spPr>
          <a:xfrm>
            <a:off x="2380239" y="4300074"/>
            <a:ext cx="489147" cy="77087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938" name="Rounded Rectangle 937">
            <a:extLst>
              <a:ext uri="{FF2B5EF4-FFF2-40B4-BE49-F238E27FC236}">
                <a16:creationId xmlns:a16="http://schemas.microsoft.com/office/drawing/2014/main" id="{CAD95C6F-9304-1A10-413B-9D41B8318DD1}"/>
              </a:ext>
            </a:extLst>
          </p:cNvPr>
          <p:cNvSpPr/>
          <p:nvPr/>
        </p:nvSpPr>
        <p:spPr>
          <a:xfrm>
            <a:off x="2918450" y="4298393"/>
            <a:ext cx="489147" cy="77087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939" name="Rounded Rectangle 938">
            <a:extLst>
              <a:ext uri="{FF2B5EF4-FFF2-40B4-BE49-F238E27FC236}">
                <a16:creationId xmlns:a16="http://schemas.microsoft.com/office/drawing/2014/main" id="{E539FC52-F278-BEE8-2378-2D95290F24C0}"/>
              </a:ext>
            </a:extLst>
          </p:cNvPr>
          <p:cNvSpPr/>
          <p:nvPr/>
        </p:nvSpPr>
        <p:spPr>
          <a:xfrm>
            <a:off x="3447770" y="4298393"/>
            <a:ext cx="489147" cy="77087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940" name="Rounded Rectangle 939">
            <a:extLst>
              <a:ext uri="{FF2B5EF4-FFF2-40B4-BE49-F238E27FC236}">
                <a16:creationId xmlns:a16="http://schemas.microsoft.com/office/drawing/2014/main" id="{80F2E639-4C7B-EB29-C65E-EFED10AF4E74}"/>
              </a:ext>
            </a:extLst>
          </p:cNvPr>
          <p:cNvSpPr/>
          <p:nvPr/>
        </p:nvSpPr>
        <p:spPr>
          <a:xfrm>
            <a:off x="3978275" y="4298393"/>
            <a:ext cx="489147" cy="77087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941" name="Rounded Rectangle 940">
            <a:extLst>
              <a:ext uri="{FF2B5EF4-FFF2-40B4-BE49-F238E27FC236}">
                <a16:creationId xmlns:a16="http://schemas.microsoft.com/office/drawing/2014/main" id="{C335D0E2-B143-420B-1552-5DAB872A357F}"/>
              </a:ext>
            </a:extLst>
          </p:cNvPr>
          <p:cNvSpPr/>
          <p:nvPr/>
        </p:nvSpPr>
        <p:spPr>
          <a:xfrm>
            <a:off x="4508780" y="4298393"/>
            <a:ext cx="489147" cy="77087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srgbClr val="156082"/>
              </a:solidFill>
              <a:latin typeface="Aptos" panose="02110004020202020204"/>
            </a:endParaRPr>
          </a:p>
        </p:txBody>
      </p:sp>
      <p:sp>
        <p:nvSpPr>
          <p:cNvPr id="942" name="TextBox 941">
            <a:extLst>
              <a:ext uri="{FF2B5EF4-FFF2-40B4-BE49-F238E27FC236}">
                <a16:creationId xmlns:a16="http://schemas.microsoft.com/office/drawing/2014/main" id="{08230BB5-2767-572F-F318-C753D06718A9}"/>
              </a:ext>
            </a:extLst>
          </p:cNvPr>
          <p:cNvSpPr txBox="1"/>
          <p:nvPr/>
        </p:nvSpPr>
        <p:spPr>
          <a:xfrm>
            <a:off x="1822794" y="4280587"/>
            <a:ext cx="532511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Farms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PIC ID</a:t>
            </a:r>
          </a:p>
        </p:txBody>
      </p:sp>
      <p:sp>
        <p:nvSpPr>
          <p:cNvPr id="943" name="TextBox 942">
            <a:extLst>
              <a:ext uri="{FF2B5EF4-FFF2-40B4-BE49-F238E27FC236}">
                <a16:creationId xmlns:a16="http://schemas.microsoft.com/office/drawing/2014/main" id="{5A1F1A86-F407-1909-1D98-764F41941C49}"/>
              </a:ext>
            </a:extLst>
          </p:cNvPr>
          <p:cNvSpPr txBox="1"/>
          <p:nvPr/>
        </p:nvSpPr>
        <p:spPr>
          <a:xfrm>
            <a:off x="2273304" y="4280588"/>
            <a:ext cx="692454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Livestock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NLIS ID</a:t>
            </a:r>
          </a:p>
        </p:txBody>
      </p:sp>
      <p:sp>
        <p:nvSpPr>
          <p:cNvPr id="944" name="TextBox 943">
            <a:extLst>
              <a:ext uri="{FF2B5EF4-FFF2-40B4-BE49-F238E27FC236}">
                <a16:creationId xmlns:a16="http://schemas.microsoft.com/office/drawing/2014/main" id="{D4433678-9796-414A-08FF-1D7186F03DC6}"/>
              </a:ext>
            </a:extLst>
          </p:cNvPr>
          <p:cNvSpPr txBox="1"/>
          <p:nvPr/>
        </p:nvSpPr>
        <p:spPr>
          <a:xfrm>
            <a:off x="2838311" y="4282610"/>
            <a:ext cx="655462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Processor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GLN</a:t>
            </a:r>
          </a:p>
        </p:txBody>
      </p:sp>
      <p:sp>
        <p:nvSpPr>
          <p:cNvPr id="945" name="TextBox 944">
            <a:extLst>
              <a:ext uri="{FF2B5EF4-FFF2-40B4-BE49-F238E27FC236}">
                <a16:creationId xmlns:a16="http://schemas.microsoft.com/office/drawing/2014/main" id="{5623C53E-7766-B4BA-B6FA-24629415ED4A}"/>
              </a:ext>
            </a:extLst>
          </p:cNvPr>
          <p:cNvSpPr txBox="1"/>
          <p:nvPr/>
        </p:nvSpPr>
        <p:spPr>
          <a:xfrm>
            <a:off x="3402284" y="4280588"/>
            <a:ext cx="584716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Hides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7CD44C56-4E4C-9A5B-25D6-CE1959D34A22}"/>
              </a:ext>
            </a:extLst>
          </p:cNvPr>
          <p:cNvSpPr txBox="1"/>
          <p:nvPr/>
        </p:nvSpPr>
        <p:spPr>
          <a:xfrm>
            <a:off x="4447710" y="4280588"/>
            <a:ext cx="610289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Raw Leather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947" name="TextBox 946">
            <a:extLst>
              <a:ext uri="{FF2B5EF4-FFF2-40B4-BE49-F238E27FC236}">
                <a16:creationId xmlns:a16="http://schemas.microsoft.com/office/drawing/2014/main" id="{F2D29EFD-0012-EFB8-CC9A-CD0991E616E7}"/>
              </a:ext>
            </a:extLst>
          </p:cNvPr>
          <p:cNvSpPr txBox="1"/>
          <p:nvPr/>
        </p:nvSpPr>
        <p:spPr>
          <a:xfrm>
            <a:off x="3966034" y="4274866"/>
            <a:ext cx="511587" cy="3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Tannery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/GLN</a:t>
            </a:r>
          </a:p>
        </p:txBody>
      </p:sp>
      <p:sp>
        <p:nvSpPr>
          <p:cNvPr id="948" name="TextBox 947">
            <a:extLst>
              <a:ext uri="{FF2B5EF4-FFF2-40B4-BE49-F238E27FC236}">
                <a16:creationId xmlns:a16="http://schemas.microsoft.com/office/drawing/2014/main" id="{C004F78C-8273-362B-7DFE-7F2B47F66098}"/>
              </a:ext>
            </a:extLst>
          </p:cNvPr>
          <p:cNvSpPr txBox="1"/>
          <p:nvPr/>
        </p:nvSpPr>
        <p:spPr>
          <a:xfrm>
            <a:off x="2650094" y="4136480"/>
            <a:ext cx="1515004" cy="19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643" b="1" dirty="0">
                <a:solidFill>
                  <a:prstClr val="white"/>
                </a:solidFill>
                <a:latin typeface="Aptos" panose="02110004020202020204"/>
              </a:rPr>
              <a:t>Leather Value Chain</a:t>
            </a:r>
          </a:p>
        </p:txBody>
      </p:sp>
      <p:sp>
        <p:nvSpPr>
          <p:cNvPr id="949" name="Oval 948">
            <a:extLst>
              <a:ext uri="{FF2B5EF4-FFF2-40B4-BE49-F238E27FC236}">
                <a16:creationId xmlns:a16="http://schemas.microsoft.com/office/drawing/2014/main" id="{41948B7C-9480-890D-4AD8-C62D3ACD3555}"/>
              </a:ext>
            </a:extLst>
          </p:cNvPr>
          <p:cNvSpPr/>
          <p:nvPr/>
        </p:nvSpPr>
        <p:spPr>
          <a:xfrm>
            <a:off x="1917127" y="4601165"/>
            <a:ext cx="343844" cy="1788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Farm1</a:t>
            </a:r>
          </a:p>
        </p:txBody>
      </p:sp>
      <p:sp>
        <p:nvSpPr>
          <p:cNvPr id="950" name="Oval 949">
            <a:extLst>
              <a:ext uri="{FF2B5EF4-FFF2-40B4-BE49-F238E27FC236}">
                <a16:creationId xmlns:a16="http://schemas.microsoft.com/office/drawing/2014/main" id="{CCC9196F-2778-008D-E794-C016783AEF40}"/>
              </a:ext>
            </a:extLst>
          </p:cNvPr>
          <p:cNvSpPr/>
          <p:nvPr/>
        </p:nvSpPr>
        <p:spPr>
          <a:xfrm>
            <a:off x="2949138" y="4601164"/>
            <a:ext cx="408776" cy="178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Process1</a:t>
            </a:r>
          </a:p>
        </p:txBody>
      </p:sp>
      <p:sp>
        <p:nvSpPr>
          <p:cNvPr id="951" name="Oval 950">
            <a:extLst>
              <a:ext uri="{FF2B5EF4-FFF2-40B4-BE49-F238E27FC236}">
                <a16:creationId xmlns:a16="http://schemas.microsoft.com/office/drawing/2014/main" id="{69D6BD3C-09F9-CB00-4C65-A77A15409041}"/>
              </a:ext>
            </a:extLst>
          </p:cNvPr>
          <p:cNvSpPr/>
          <p:nvPr/>
        </p:nvSpPr>
        <p:spPr>
          <a:xfrm>
            <a:off x="4010776" y="4601164"/>
            <a:ext cx="408776" cy="178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Tannery1</a:t>
            </a:r>
          </a:p>
        </p:txBody>
      </p:sp>
      <p:sp>
        <p:nvSpPr>
          <p:cNvPr id="953" name="Rounded Rectangle 952">
            <a:extLst>
              <a:ext uri="{FF2B5EF4-FFF2-40B4-BE49-F238E27FC236}">
                <a16:creationId xmlns:a16="http://schemas.microsoft.com/office/drawing/2014/main" id="{7076C047-BCCC-DC8A-93D4-AC702937079D}"/>
              </a:ext>
            </a:extLst>
          </p:cNvPr>
          <p:cNvSpPr/>
          <p:nvPr/>
        </p:nvSpPr>
        <p:spPr>
          <a:xfrm>
            <a:off x="2521101" y="4832522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954" name="Rounded Rectangle 953">
            <a:extLst>
              <a:ext uri="{FF2B5EF4-FFF2-40B4-BE49-F238E27FC236}">
                <a16:creationId xmlns:a16="http://schemas.microsoft.com/office/drawing/2014/main" id="{8D15034C-07CD-B279-199A-CFD55C0123DB}"/>
              </a:ext>
            </a:extLst>
          </p:cNvPr>
          <p:cNvSpPr/>
          <p:nvPr/>
        </p:nvSpPr>
        <p:spPr>
          <a:xfrm>
            <a:off x="2519156" y="4943947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956" name="Rounded Rectangle 955">
            <a:extLst>
              <a:ext uri="{FF2B5EF4-FFF2-40B4-BE49-F238E27FC236}">
                <a16:creationId xmlns:a16="http://schemas.microsoft.com/office/drawing/2014/main" id="{169FE63A-1DC4-40F9-34F1-4D5EC7FDE78A}"/>
              </a:ext>
            </a:extLst>
          </p:cNvPr>
          <p:cNvSpPr/>
          <p:nvPr/>
        </p:nvSpPr>
        <p:spPr>
          <a:xfrm>
            <a:off x="2004519" y="4833153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958" name="Rounded Rectangle 957">
            <a:extLst>
              <a:ext uri="{FF2B5EF4-FFF2-40B4-BE49-F238E27FC236}">
                <a16:creationId xmlns:a16="http://schemas.microsoft.com/office/drawing/2014/main" id="{A2F49A6B-ADC7-6E5C-17AC-B02B0A749E2B}"/>
              </a:ext>
            </a:extLst>
          </p:cNvPr>
          <p:cNvSpPr/>
          <p:nvPr/>
        </p:nvSpPr>
        <p:spPr>
          <a:xfrm>
            <a:off x="1999278" y="4943947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Regen</a:t>
            </a:r>
          </a:p>
        </p:txBody>
      </p:sp>
      <p:sp>
        <p:nvSpPr>
          <p:cNvPr id="959" name="Rounded Rectangle 958">
            <a:extLst>
              <a:ext uri="{FF2B5EF4-FFF2-40B4-BE49-F238E27FC236}">
                <a16:creationId xmlns:a16="http://schemas.microsoft.com/office/drawing/2014/main" id="{8E069F3A-20D3-1CD0-9DE5-4F3014803DB3}"/>
              </a:ext>
            </a:extLst>
          </p:cNvPr>
          <p:cNvSpPr/>
          <p:nvPr/>
        </p:nvSpPr>
        <p:spPr>
          <a:xfrm>
            <a:off x="3081597" y="4833012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960" name="Rounded Rectangle 959">
            <a:extLst>
              <a:ext uri="{FF2B5EF4-FFF2-40B4-BE49-F238E27FC236}">
                <a16:creationId xmlns:a16="http://schemas.microsoft.com/office/drawing/2014/main" id="{93DC7025-58FE-8E70-710D-6430506B1BF1}"/>
              </a:ext>
            </a:extLst>
          </p:cNvPr>
          <p:cNvSpPr/>
          <p:nvPr/>
        </p:nvSpPr>
        <p:spPr>
          <a:xfrm>
            <a:off x="3073253" y="4949116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MLA</a:t>
            </a:r>
          </a:p>
        </p:txBody>
      </p:sp>
      <p:sp>
        <p:nvSpPr>
          <p:cNvPr id="961" name="Rounded Rectangle 960">
            <a:extLst>
              <a:ext uri="{FF2B5EF4-FFF2-40B4-BE49-F238E27FC236}">
                <a16:creationId xmlns:a16="http://schemas.microsoft.com/office/drawing/2014/main" id="{4F32334A-9852-EC9A-3EC8-2760A754A586}"/>
              </a:ext>
            </a:extLst>
          </p:cNvPr>
          <p:cNvSpPr/>
          <p:nvPr/>
        </p:nvSpPr>
        <p:spPr>
          <a:xfrm>
            <a:off x="4650840" y="4827328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962" name="Rounded Rectangle 961">
            <a:extLst>
              <a:ext uri="{FF2B5EF4-FFF2-40B4-BE49-F238E27FC236}">
                <a16:creationId xmlns:a16="http://schemas.microsoft.com/office/drawing/2014/main" id="{AF016D29-8DEE-C973-F19D-FE41B6F0D5B0}"/>
              </a:ext>
            </a:extLst>
          </p:cNvPr>
          <p:cNvSpPr/>
          <p:nvPr/>
        </p:nvSpPr>
        <p:spPr>
          <a:xfrm>
            <a:off x="4657980" y="4933442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964" name="Rounded Rectangle 963">
            <a:extLst>
              <a:ext uri="{FF2B5EF4-FFF2-40B4-BE49-F238E27FC236}">
                <a16:creationId xmlns:a16="http://schemas.microsoft.com/office/drawing/2014/main" id="{B59738E7-DEDA-0A12-7552-9F9E354B1529}"/>
              </a:ext>
            </a:extLst>
          </p:cNvPr>
          <p:cNvSpPr/>
          <p:nvPr/>
        </p:nvSpPr>
        <p:spPr>
          <a:xfrm>
            <a:off x="3615425" y="4826782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965" name="Rounded Rectangle 964">
            <a:extLst>
              <a:ext uri="{FF2B5EF4-FFF2-40B4-BE49-F238E27FC236}">
                <a16:creationId xmlns:a16="http://schemas.microsoft.com/office/drawing/2014/main" id="{4881F1AF-F12C-0BFA-C3FC-F882CBF44209}"/>
              </a:ext>
            </a:extLst>
          </p:cNvPr>
          <p:cNvSpPr/>
          <p:nvPr/>
        </p:nvSpPr>
        <p:spPr>
          <a:xfrm>
            <a:off x="3606756" y="4949257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966" name="Rounded Rectangle 965">
            <a:extLst>
              <a:ext uri="{FF2B5EF4-FFF2-40B4-BE49-F238E27FC236}">
                <a16:creationId xmlns:a16="http://schemas.microsoft.com/office/drawing/2014/main" id="{08EAABD2-3A92-5440-D311-4F502B367DEA}"/>
              </a:ext>
            </a:extLst>
          </p:cNvPr>
          <p:cNvSpPr/>
          <p:nvPr/>
        </p:nvSpPr>
        <p:spPr>
          <a:xfrm>
            <a:off x="4140923" y="4834637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967" name="Rounded Rectangle 966">
            <a:extLst>
              <a:ext uri="{FF2B5EF4-FFF2-40B4-BE49-F238E27FC236}">
                <a16:creationId xmlns:a16="http://schemas.microsoft.com/office/drawing/2014/main" id="{A858B944-C278-65DA-3DBB-8E2AC2C4AFF3}"/>
              </a:ext>
            </a:extLst>
          </p:cNvPr>
          <p:cNvSpPr/>
          <p:nvPr/>
        </p:nvSpPr>
        <p:spPr>
          <a:xfrm>
            <a:off x="4133078" y="4949257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LWG</a:t>
            </a:r>
          </a:p>
        </p:txBody>
      </p:sp>
      <p:sp>
        <p:nvSpPr>
          <p:cNvPr id="968" name="Rounded Rectangle 967">
            <a:extLst>
              <a:ext uri="{FF2B5EF4-FFF2-40B4-BE49-F238E27FC236}">
                <a16:creationId xmlns:a16="http://schemas.microsoft.com/office/drawing/2014/main" id="{2544FDCB-77F1-048E-04F1-79222653F055}"/>
              </a:ext>
            </a:extLst>
          </p:cNvPr>
          <p:cNvSpPr/>
          <p:nvPr/>
        </p:nvSpPr>
        <p:spPr>
          <a:xfrm>
            <a:off x="2006843" y="4490014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969" name="Rounded Rectangle 968">
            <a:extLst>
              <a:ext uri="{FF2B5EF4-FFF2-40B4-BE49-F238E27FC236}">
                <a16:creationId xmlns:a16="http://schemas.microsoft.com/office/drawing/2014/main" id="{A6374679-7342-1AC6-3739-CDB7ECA2971B}"/>
              </a:ext>
            </a:extLst>
          </p:cNvPr>
          <p:cNvSpPr/>
          <p:nvPr/>
        </p:nvSpPr>
        <p:spPr>
          <a:xfrm>
            <a:off x="2501116" y="4496091"/>
            <a:ext cx="225730" cy="805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NVD</a:t>
            </a:r>
          </a:p>
        </p:txBody>
      </p:sp>
      <p:cxnSp>
        <p:nvCxnSpPr>
          <p:cNvPr id="970" name="Straight Connector 26">
            <a:extLst>
              <a:ext uri="{FF2B5EF4-FFF2-40B4-BE49-F238E27FC236}">
                <a16:creationId xmlns:a16="http://schemas.microsoft.com/office/drawing/2014/main" id="{F5B1C7C9-DCED-2315-BC79-88BA130014C4}"/>
              </a:ext>
            </a:extLst>
          </p:cNvPr>
          <p:cNvCxnSpPr>
            <a:cxnSpLocks/>
            <a:stCxn id="949" idx="6"/>
            <a:endCxn id="950" idx="2"/>
          </p:cNvCxnSpPr>
          <p:nvPr/>
        </p:nvCxnSpPr>
        <p:spPr>
          <a:xfrm flipV="1">
            <a:off x="2260970" y="4690582"/>
            <a:ext cx="688167" cy="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1" name="Diamond 970">
            <a:extLst>
              <a:ext uri="{FF2B5EF4-FFF2-40B4-BE49-F238E27FC236}">
                <a16:creationId xmlns:a16="http://schemas.microsoft.com/office/drawing/2014/main" id="{01EB6006-260B-BA7A-4BFC-96594493476E}"/>
              </a:ext>
            </a:extLst>
          </p:cNvPr>
          <p:cNvSpPr/>
          <p:nvPr/>
        </p:nvSpPr>
        <p:spPr>
          <a:xfrm>
            <a:off x="2497857" y="4603464"/>
            <a:ext cx="245109" cy="183683"/>
          </a:xfrm>
          <a:prstGeom prst="diamond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L1</a:t>
            </a:r>
          </a:p>
        </p:txBody>
      </p:sp>
      <p:cxnSp>
        <p:nvCxnSpPr>
          <p:cNvPr id="972" name="Straight Connector 26">
            <a:extLst>
              <a:ext uri="{FF2B5EF4-FFF2-40B4-BE49-F238E27FC236}">
                <a16:creationId xmlns:a16="http://schemas.microsoft.com/office/drawing/2014/main" id="{5FC98FE8-FDEA-9F27-AE9B-31776894D53D}"/>
              </a:ext>
            </a:extLst>
          </p:cNvPr>
          <p:cNvCxnSpPr>
            <a:cxnSpLocks/>
            <a:stCxn id="950" idx="6"/>
            <a:endCxn id="951" idx="2"/>
          </p:cNvCxnSpPr>
          <p:nvPr/>
        </p:nvCxnSpPr>
        <p:spPr>
          <a:xfrm>
            <a:off x="3357914" y="4690582"/>
            <a:ext cx="652862" cy="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5" name="Rounded Rectangle 974">
            <a:extLst>
              <a:ext uri="{FF2B5EF4-FFF2-40B4-BE49-F238E27FC236}">
                <a16:creationId xmlns:a16="http://schemas.microsoft.com/office/drawing/2014/main" id="{A1FCE5A2-728E-70FC-677A-351343679A41}"/>
              </a:ext>
            </a:extLst>
          </p:cNvPr>
          <p:cNvSpPr/>
          <p:nvPr/>
        </p:nvSpPr>
        <p:spPr>
          <a:xfrm>
            <a:off x="3073508" y="4489256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976" name="Rounded Rectangle 975">
            <a:extLst>
              <a:ext uri="{FF2B5EF4-FFF2-40B4-BE49-F238E27FC236}">
                <a16:creationId xmlns:a16="http://schemas.microsoft.com/office/drawing/2014/main" id="{406D3109-7FEB-9240-1F8C-2CBE89D55C15}"/>
              </a:ext>
            </a:extLst>
          </p:cNvPr>
          <p:cNvSpPr/>
          <p:nvPr/>
        </p:nvSpPr>
        <p:spPr>
          <a:xfrm>
            <a:off x="4135024" y="4491119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993" name="Rounded Rectangle 992">
            <a:extLst>
              <a:ext uri="{FF2B5EF4-FFF2-40B4-BE49-F238E27FC236}">
                <a16:creationId xmlns:a16="http://schemas.microsoft.com/office/drawing/2014/main" id="{B37C3A2A-1108-9FF3-F26C-5E5D4031A2EA}"/>
              </a:ext>
            </a:extLst>
          </p:cNvPr>
          <p:cNvSpPr/>
          <p:nvPr/>
        </p:nvSpPr>
        <p:spPr>
          <a:xfrm>
            <a:off x="2520607" y="2717094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994" name="Rounded Rectangle 993">
            <a:extLst>
              <a:ext uri="{FF2B5EF4-FFF2-40B4-BE49-F238E27FC236}">
                <a16:creationId xmlns:a16="http://schemas.microsoft.com/office/drawing/2014/main" id="{03690D5B-478C-DF17-57C5-FCDEF99C47CD}"/>
              </a:ext>
            </a:extLst>
          </p:cNvPr>
          <p:cNvSpPr/>
          <p:nvPr/>
        </p:nvSpPr>
        <p:spPr>
          <a:xfrm>
            <a:off x="2641290" y="2833829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995" name="Rounded Rectangle 994">
            <a:extLst>
              <a:ext uri="{FF2B5EF4-FFF2-40B4-BE49-F238E27FC236}">
                <a16:creationId xmlns:a16="http://schemas.microsoft.com/office/drawing/2014/main" id="{9CC14BF9-5601-B159-6FD8-7E22B447F185}"/>
              </a:ext>
            </a:extLst>
          </p:cNvPr>
          <p:cNvSpPr/>
          <p:nvPr/>
        </p:nvSpPr>
        <p:spPr>
          <a:xfrm>
            <a:off x="2424493" y="2833829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CoA</a:t>
            </a:r>
          </a:p>
        </p:txBody>
      </p:sp>
      <p:sp>
        <p:nvSpPr>
          <p:cNvPr id="996" name="Rounded Rectangle 995">
            <a:extLst>
              <a:ext uri="{FF2B5EF4-FFF2-40B4-BE49-F238E27FC236}">
                <a16:creationId xmlns:a16="http://schemas.microsoft.com/office/drawing/2014/main" id="{947EC11A-7305-541C-2593-9D3FAE195E72}"/>
              </a:ext>
            </a:extLst>
          </p:cNvPr>
          <p:cNvSpPr/>
          <p:nvPr/>
        </p:nvSpPr>
        <p:spPr>
          <a:xfrm>
            <a:off x="2004025" y="2717725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997" name="Rounded Rectangle 996">
            <a:extLst>
              <a:ext uri="{FF2B5EF4-FFF2-40B4-BE49-F238E27FC236}">
                <a16:creationId xmlns:a16="http://schemas.microsoft.com/office/drawing/2014/main" id="{A341532A-FFEB-6228-98DD-B79A48CBA15D}"/>
              </a:ext>
            </a:extLst>
          </p:cNvPr>
          <p:cNvSpPr/>
          <p:nvPr/>
        </p:nvSpPr>
        <p:spPr>
          <a:xfrm>
            <a:off x="2104603" y="2831371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Permit</a:t>
            </a:r>
          </a:p>
        </p:txBody>
      </p:sp>
      <p:sp>
        <p:nvSpPr>
          <p:cNvPr id="998" name="Rounded Rectangle 997">
            <a:extLst>
              <a:ext uri="{FF2B5EF4-FFF2-40B4-BE49-F238E27FC236}">
                <a16:creationId xmlns:a16="http://schemas.microsoft.com/office/drawing/2014/main" id="{D7CFE1E9-F93B-DB8A-4C42-B99E5439EC88}"/>
              </a:ext>
            </a:extLst>
          </p:cNvPr>
          <p:cNvSpPr/>
          <p:nvPr/>
        </p:nvSpPr>
        <p:spPr>
          <a:xfrm>
            <a:off x="1897080" y="2833829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TSM</a:t>
            </a:r>
          </a:p>
        </p:txBody>
      </p:sp>
      <p:sp>
        <p:nvSpPr>
          <p:cNvPr id="999" name="Rounded Rectangle 998">
            <a:extLst>
              <a:ext uri="{FF2B5EF4-FFF2-40B4-BE49-F238E27FC236}">
                <a16:creationId xmlns:a16="http://schemas.microsoft.com/office/drawing/2014/main" id="{1492F97D-A7F8-9755-156E-BFB9C2BED4DB}"/>
              </a:ext>
            </a:extLst>
          </p:cNvPr>
          <p:cNvSpPr/>
          <p:nvPr/>
        </p:nvSpPr>
        <p:spPr>
          <a:xfrm>
            <a:off x="3081103" y="2717584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000" name="Rounded Rectangle 999">
            <a:extLst>
              <a:ext uri="{FF2B5EF4-FFF2-40B4-BE49-F238E27FC236}">
                <a16:creationId xmlns:a16="http://schemas.microsoft.com/office/drawing/2014/main" id="{4ADEA085-C55E-6415-925D-2B2EB7A5A443}"/>
              </a:ext>
            </a:extLst>
          </p:cNvPr>
          <p:cNvSpPr/>
          <p:nvPr/>
        </p:nvSpPr>
        <p:spPr>
          <a:xfrm>
            <a:off x="3072758" y="2833688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RMAP</a:t>
            </a:r>
          </a:p>
        </p:txBody>
      </p:sp>
      <p:sp>
        <p:nvSpPr>
          <p:cNvPr id="1001" name="Rounded Rectangle 1000">
            <a:extLst>
              <a:ext uri="{FF2B5EF4-FFF2-40B4-BE49-F238E27FC236}">
                <a16:creationId xmlns:a16="http://schemas.microsoft.com/office/drawing/2014/main" id="{CA00A238-D3DA-69FC-CAE7-3B3B7F1D16B3}"/>
              </a:ext>
            </a:extLst>
          </p:cNvPr>
          <p:cNvSpPr/>
          <p:nvPr/>
        </p:nvSpPr>
        <p:spPr>
          <a:xfrm>
            <a:off x="4650345" y="2711900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002" name="Rounded Rectangle 1001">
            <a:extLst>
              <a:ext uri="{FF2B5EF4-FFF2-40B4-BE49-F238E27FC236}">
                <a16:creationId xmlns:a16="http://schemas.microsoft.com/office/drawing/2014/main" id="{67F0F7D6-C133-F957-9B1A-9A0E5A18A71A}"/>
              </a:ext>
            </a:extLst>
          </p:cNvPr>
          <p:cNvSpPr/>
          <p:nvPr/>
        </p:nvSpPr>
        <p:spPr>
          <a:xfrm>
            <a:off x="4771029" y="2828635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003" name="Rounded Rectangle 1002">
            <a:extLst>
              <a:ext uri="{FF2B5EF4-FFF2-40B4-BE49-F238E27FC236}">
                <a16:creationId xmlns:a16="http://schemas.microsoft.com/office/drawing/2014/main" id="{55E78299-31AB-7DCA-739C-4A70F358B625}"/>
              </a:ext>
            </a:extLst>
          </p:cNvPr>
          <p:cNvSpPr/>
          <p:nvPr/>
        </p:nvSpPr>
        <p:spPr>
          <a:xfrm>
            <a:off x="4554232" y="2828635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CoA</a:t>
            </a:r>
          </a:p>
        </p:txBody>
      </p:sp>
      <p:sp>
        <p:nvSpPr>
          <p:cNvPr id="1004" name="Rounded Rectangle 1003">
            <a:extLst>
              <a:ext uri="{FF2B5EF4-FFF2-40B4-BE49-F238E27FC236}">
                <a16:creationId xmlns:a16="http://schemas.microsoft.com/office/drawing/2014/main" id="{26CCC43F-C9AF-A33B-0079-1EF268ECB39B}"/>
              </a:ext>
            </a:extLst>
          </p:cNvPr>
          <p:cNvSpPr/>
          <p:nvPr/>
        </p:nvSpPr>
        <p:spPr>
          <a:xfrm>
            <a:off x="3614930" y="2711354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005" name="Rounded Rectangle 1004">
            <a:extLst>
              <a:ext uri="{FF2B5EF4-FFF2-40B4-BE49-F238E27FC236}">
                <a16:creationId xmlns:a16="http://schemas.microsoft.com/office/drawing/2014/main" id="{15D83F13-2636-CDC5-363C-ACBF8980773E}"/>
              </a:ext>
            </a:extLst>
          </p:cNvPr>
          <p:cNvSpPr/>
          <p:nvPr/>
        </p:nvSpPr>
        <p:spPr>
          <a:xfrm>
            <a:off x="3606262" y="2833829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006" name="Rounded Rectangle 1005">
            <a:extLst>
              <a:ext uri="{FF2B5EF4-FFF2-40B4-BE49-F238E27FC236}">
                <a16:creationId xmlns:a16="http://schemas.microsoft.com/office/drawing/2014/main" id="{E535D204-BD75-5FE0-56AF-6E43AFF18664}"/>
              </a:ext>
            </a:extLst>
          </p:cNvPr>
          <p:cNvSpPr/>
          <p:nvPr/>
        </p:nvSpPr>
        <p:spPr>
          <a:xfrm>
            <a:off x="4140428" y="2719209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007" name="Rounded Rectangle 1006">
            <a:extLst>
              <a:ext uri="{FF2B5EF4-FFF2-40B4-BE49-F238E27FC236}">
                <a16:creationId xmlns:a16="http://schemas.microsoft.com/office/drawing/2014/main" id="{C97CD234-0D4F-9A2B-FB78-D196D83F73EE}"/>
              </a:ext>
            </a:extLst>
          </p:cNvPr>
          <p:cNvSpPr/>
          <p:nvPr/>
        </p:nvSpPr>
        <p:spPr>
          <a:xfrm>
            <a:off x="4132583" y="2833829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RMAP</a:t>
            </a:r>
          </a:p>
        </p:txBody>
      </p:sp>
      <p:sp>
        <p:nvSpPr>
          <p:cNvPr id="1008" name="Rounded Rectangle 1007">
            <a:extLst>
              <a:ext uri="{FF2B5EF4-FFF2-40B4-BE49-F238E27FC236}">
                <a16:creationId xmlns:a16="http://schemas.microsoft.com/office/drawing/2014/main" id="{700F2501-2B99-6050-86B9-3912030408D8}"/>
              </a:ext>
            </a:extLst>
          </p:cNvPr>
          <p:cNvSpPr/>
          <p:nvPr/>
        </p:nvSpPr>
        <p:spPr>
          <a:xfrm>
            <a:off x="2027734" y="1654112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009" name="Rounded Rectangle 1008">
            <a:extLst>
              <a:ext uri="{FF2B5EF4-FFF2-40B4-BE49-F238E27FC236}">
                <a16:creationId xmlns:a16="http://schemas.microsoft.com/office/drawing/2014/main" id="{F069615C-1E65-D769-D6F7-B3DA07B5D0CB}"/>
              </a:ext>
            </a:extLst>
          </p:cNvPr>
          <p:cNvSpPr/>
          <p:nvPr/>
        </p:nvSpPr>
        <p:spPr>
          <a:xfrm>
            <a:off x="2488766" y="1654111"/>
            <a:ext cx="225730" cy="805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Waybill</a:t>
            </a:r>
          </a:p>
        </p:txBody>
      </p:sp>
      <p:sp>
        <p:nvSpPr>
          <p:cNvPr id="1010" name="Rounded Rectangle 1009">
            <a:extLst>
              <a:ext uri="{FF2B5EF4-FFF2-40B4-BE49-F238E27FC236}">
                <a16:creationId xmlns:a16="http://schemas.microsoft.com/office/drawing/2014/main" id="{5ED9EB45-7147-FAFF-90F0-2AE5A7CC3ADF}"/>
              </a:ext>
            </a:extLst>
          </p:cNvPr>
          <p:cNvSpPr/>
          <p:nvPr/>
        </p:nvSpPr>
        <p:spPr>
          <a:xfrm>
            <a:off x="3097898" y="1654112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011" name="Rounded Rectangle 1010">
            <a:extLst>
              <a:ext uri="{FF2B5EF4-FFF2-40B4-BE49-F238E27FC236}">
                <a16:creationId xmlns:a16="http://schemas.microsoft.com/office/drawing/2014/main" id="{4371D184-4763-8E0F-C80A-4DE90D114548}"/>
              </a:ext>
            </a:extLst>
          </p:cNvPr>
          <p:cNvSpPr/>
          <p:nvPr/>
        </p:nvSpPr>
        <p:spPr>
          <a:xfrm>
            <a:off x="4122100" y="1644481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012" name="Rounded Rectangle 1011">
            <a:extLst>
              <a:ext uri="{FF2B5EF4-FFF2-40B4-BE49-F238E27FC236}">
                <a16:creationId xmlns:a16="http://schemas.microsoft.com/office/drawing/2014/main" id="{D1C7E671-C850-17DD-E5FC-3B64795AE23B}"/>
              </a:ext>
            </a:extLst>
          </p:cNvPr>
          <p:cNvSpPr/>
          <p:nvPr/>
        </p:nvSpPr>
        <p:spPr>
          <a:xfrm>
            <a:off x="4647936" y="1614508"/>
            <a:ext cx="225730" cy="805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LME</a:t>
            </a:r>
          </a:p>
        </p:txBody>
      </p:sp>
      <p:sp>
        <p:nvSpPr>
          <p:cNvPr id="1013" name="TextBox 1012">
            <a:extLst>
              <a:ext uri="{FF2B5EF4-FFF2-40B4-BE49-F238E27FC236}">
                <a16:creationId xmlns:a16="http://schemas.microsoft.com/office/drawing/2014/main" id="{AE546B77-B4B9-CB78-6164-F4313E7D89CE}"/>
              </a:ext>
            </a:extLst>
          </p:cNvPr>
          <p:cNvSpPr txBox="1"/>
          <p:nvPr/>
        </p:nvSpPr>
        <p:spPr>
          <a:xfrm>
            <a:off x="1831542" y="1373238"/>
            <a:ext cx="532511" cy="411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Mines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ID from permit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ICA ID</a:t>
            </a:r>
          </a:p>
        </p:txBody>
      </p:sp>
      <p:sp>
        <p:nvSpPr>
          <p:cNvPr id="1014" name="TextBox 1013">
            <a:extLst>
              <a:ext uri="{FF2B5EF4-FFF2-40B4-BE49-F238E27FC236}">
                <a16:creationId xmlns:a16="http://schemas.microsoft.com/office/drawing/2014/main" id="{07879A78-4646-24E7-469A-CBAC528F1453}"/>
              </a:ext>
            </a:extLst>
          </p:cNvPr>
          <p:cNvSpPr txBox="1"/>
          <p:nvPr/>
        </p:nvSpPr>
        <p:spPr>
          <a:xfrm>
            <a:off x="2282052" y="1373239"/>
            <a:ext cx="692454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Concentrate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1015" name="TextBox 1014">
            <a:extLst>
              <a:ext uri="{FF2B5EF4-FFF2-40B4-BE49-F238E27FC236}">
                <a16:creationId xmlns:a16="http://schemas.microsoft.com/office/drawing/2014/main" id="{AEB22DF8-2A12-71AC-C4C9-D4412735075F}"/>
              </a:ext>
            </a:extLst>
          </p:cNvPr>
          <p:cNvSpPr txBox="1"/>
          <p:nvPr/>
        </p:nvSpPr>
        <p:spPr>
          <a:xfrm>
            <a:off x="2905790" y="1380115"/>
            <a:ext cx="532511" cy="3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Smelters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RMI ID/ ICA ID</a:t>
            </a:r>
          </a:p>
        </p:txBody>
      </p:sp>
      <p:cxnSp>
        <p:nvCxnSpPr>
          <p:cNvPr id="1020" name="Straight Connector 26">
            <a:extLst>
              <a:ext uri="{FF2B5EF4-FFF2-40B4-BE49-F238E27FC236}">
                <a16:creationId xmlns:a16="http://schemas.microsoft.com/office/drawing/2014/main" id="{95FCA79D-B20F-4795-8B07-82247A65DC55}"/>
              </a:ext>
            </a:extLst>
          </p:cNvPr>
          <p:cNvCxnSpPr>
            <a:cxnSpLocks/>
            <a:stCxn id="810" idx="6"/>
            <a:endCxn id="832" idx="2"/>
          </p:cNvCxnSpPr>
          <p:nvPr/>
        </p:nvCxnSpPr>
        <p:spPr>
          <a:xfrm>
            <a:off x="4419553" y="740649"/>
            <a:ext cx="872536" cy="220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3" name="Straight Connector 26">
            <a:extLst>
              <a:ext uri="{FF2B5EF4-FFF2-40B4-BE49-F238E27FC236}">
                <a16:creationId xmlns:a16="http://schemas.microsoft.com/office/drawing/2014/main" id="{F1FAFD8C-9AE1-A851-683E-B90C6B5E5669}"/>
              </a:ext>
            </a:extLst>
          </p:cNvPr>
          <p:cNvCxnSpPr>
            <a:cxnSpLocks/>
            <a:stCxn id="832" idx="6"/>
            <a:endCxn id="833" idx="1"/>
          </p:cNvCxnSpPr>
          <p:nvPr/>
        </p:nvCxnSpPr>
        <p:spPr>
          <a:xfrm>
            <a:off x="5636975" y="742853"/>
            <a:ext cx="214871" cy="229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Connector 26">
            <a:extLst>
              <a:ext uri="{FF2B5EF4-FFF2-40B4-BE49-F238E27FC236}">
                <a16:creationId xmlns:a16="http://schemas.microsoft.com/office/drawing/2014/main" id="{DDD4BCC8-9188-8C53-A05B-356D2EDE26FA}"/>
              </a:ext>
            </a:extLst>
          </p:cNvPr>
          <p:cNvCxnSpPr>
            <a:cxnSpLocks/>
            <a:stCxn id="810" idx="6"/>
            <a:endCxn id="1464" idx="1"/>
          </p:cNvCxnSpPr>
          <p:nvPr/>
        </p:nvCxnSpPr>
        <p:spPr>
          <a:xfrm>
            <a:off x="4419553" y="740649"/>
            <a:ext cx="398986" cy="10412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26">
            <a:extLst>
              <a:ext uri="{FF2B5EF4-FFF2-40B4-BE49-F238E27FC236}">
                <a16:creationId xmlns:a16="http://schemas.microsoft.com/office/drawing/2014/main" id="{757D0448-DB10-521D-D1FD-DFEA0967080F}"/>
              </a:ext>
            </a:extLst>
          </p:cNvPr>
          <p:cNvCxnSpPr>
            <a:cxnSpLocks/>
            <a:stCxn id="1464" idx="4"/>
            <a:endCxn id="32" idx="2"/>
          </p:cNvCxnSpPr>
          <p:nvPr/>
        </p:nvCxnSpPr>
        <p:spPr>
          <a:xfrm>
            <a:off x="4960083" y="922590"/>
            <a:ext cx="329569" cy="84653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26">
            <a:extLst>
              <a:ext uri="{FF2B5EF4-FFF2-40B4-BE49-F238E27FC236}">
                <a16:creationId xmlns:a16="http://schemas.microsoft.com/office/drawing/2014/main" id="{193A9966-E163-9FEE-D5C3-4EBF6164A46D}"/>
              </a:ext>
            </a:extLst>
          </p:cNvPr>
          <p:cNvCxnSpPr>
            <a:cxnSpLocks/>
            <a:stCxn id="833" idx="3"/>
            <a:endCxn id="834" idx="2"/>
          </p:cNvCxnSpPr>
          <p:nvPr/>
        </p:nvCxnSpPr>
        <p:spPr>
          <a:xfrm>
            <a:off x="6096000" y="745145"/>
            <a:ext cx="421535" cy="8891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26">
            <a:extLst>
              <a:ext uri="{FF2B5EF4-FFF2-40B4-BE49-F238E27FC236}">
                <a16:creationId xmlns:a16="http://schemas.microsoft.com/office/drawing/2014/main" id="{A2FEC1D2-436D-487F-8CE7-6AE13C995286}"/>
              </a:ext>
            </a:extLst>
          </p:cNvPr>
          <p:cNvCxnSpPr>
            <a:cxnSpLocks/>
            <a:stCxn id="488" idx="3"/>
            <a:endCxn id="834" idx="2"/>
          </p:cNvCxnSpPr>
          <p:nvPr/>
        </p:nvCxnSpPr>
        <p:spPr>
          <a:xfrm flipV="1">
            <a:off x="6103578" y="834055"/>
            <a:ext cx="413957" cy="82493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26">
            <a:extLst>
              <a:ext uri="{FF2B5EF4-FFF2-40B4-BE49-F238E27FC236}">
                <a16:creationId xmlns:a16="http://schemas.microsoft.com/office/drawing/2014/main" id="{055AEC3B-26B7-ED8B-E3FE-A9B77B5BF6C6}"/>
              </a:ext>
            </a:extLst>
          </p:cNvPr>
          <p:cNvCxnSpPr>
            <a:cxnSpLocks/>
            <a:stCxn id="444" idx="3"/>
            <a:endCxn id="456" idx="2"/>
          </p:cNvCxnSpPr>
          <p:nvPr/>
        </p:nvCxnSpPr>
        <p:spPr>
          <a:xfrm>
            <a:off x="6168286" y="1831751"/>
            <a:ext cx="341840" cy="20986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5" name="Straight Connector 26">
            <a:extLst>
              <a:ext uri="{FF2B5EF4-FFF2-40B4-BE49-F238E27FC236}">
                <a16:creationId xmlns:a16="http://schemas.microsoft.com/office/drawing/2014/main" id="{1667E75F-C6C7-BDF8-DC31-F70D28956309}"/>
              </a:ext>
            </a:extLst>
          </p:cNvPr>
          <p:cNvCxnSpPr>
            <a:cxnSpLocks/>
            <a:stCxn id="908" idx="6"/>
            <a:endCxn id="824" idx="2"/>
          </p:cNvCxnSpPr>
          <p:nvPr/>
        </p:nvCxnSpPr>
        <p:spPr>
          <a:xfrm>
            <a:off x="4409224" y="3624992"/>
            <a:ext cx="883115" cy="14040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9" name="Rounded Rectangle 1068">
            <a:extLst>
              <a:ext uri="{FF2B5EF4-FFF2-40B4-BE49-F238E27FC236}">
                <a16:creationId xmlns:a16="http://schemas.microsoft.com/office/drawing/2014/main" id="{AAAFE6D5-15B6-4F1C-8836-068EEAF054CC}"/>
              </a:ext>
            </a:extLst>
          </p:cNvPr>
          <p:cNvSpPr/>
          <p:nvPr/>
        </p:nvSpPr>
        <p:spPr>
          <a:xfrm>
            <a:off x="5883245" y="889711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070" name="Rounded Rectangle 1069">
            <a:extLst>
              <a:ext uri="{FF2B5EF4-FFF2-40B4-BE49-F238E27FC236}">
                <a16:creationId xmlns:a16="http://schemas.microsoft.com/office/drawing/2014/main" id="{108EDC86-7DBA-2DDA-9C1F-BC808CDF2360}"/>
              </a:ext>
            </a:extLst>
          </p:cNvPr>
          <p:cNvSpPr/>
          <p:nvPr/>
        </p:nvSpPr>
        <p:spPr>
          <a:xfrm>
            <a:off x="5886621" y="1000182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072" name="Rounded Rectangle 1071">
            <a:extLst>
              <a:ext uri="{FF2B5EF4-FFF2-40B4-BE49-F238E27FC236}">
                <a16:creationId xmlns:a16="http://schemas.microsoft.com/office/drawing/2014/main" id="{A4A77FC7-B94B-171C-DF21-0A774AEC3A84}"/>
              </a:ext>
            </a:extLst>
          </p:cNvPr>
          <p:cNvSpPr/>
          <p:nvPr/>
        </p:nvSpPr>
        <p:spPr>
          <a:xfrm>
            <a:off x="5366663" y="890342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074" name="Rounded Rectangle 1073">
            <a:extLst>
              <a:ext uri="{FF2B5EF4-FFF2-40B4-BE49-F238E27FC236}">
                <a16:creationId xmlns:a16="http://schemas.microsoft.com/office/drawing/2014/main" id="{49812441-D9EB-C8A8-5FDA-4298A624E2EB}"/>
              </a:ext>
            </a:extLst>
          </p:cNvPr>
          <p:cNvSpPr/>
          <p:nvPr/>
        </p:nvSpPr>
        <p:spPr>
          <a:xfrm>
            <a:off x="5374760" y="998538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VAP</a:t>
            </a:r>
          </a:p>
        </p:txBody>
      </p:sp>
      <p:sp>
        <p:nvSpPr>
          <p:cNvPr id="1075" name="Rounded Rectangle 1074">
            <a:extLst>
              <a:ext uri="{FF2B5EF4-FFF2-40B4-BE49-F238E27FC236}">
                <a16:creationId xmlns:a16="http://schemas.microsoft.com/office/drawing/2014/main" id="{C8F1D082-EEAD-613A-5DAE-6B96838334F3}"/>
              </a:ext>
            </a:extLst>
          </p:cNvPr>
          <p:cNvSpPr/>
          <p:nvPr/>
        </p:nvSpPr>
        <p:spPr>
          <a:xfrm>
            <a:off x="5382325" y="557493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144951DF-3413-3B73-69CE-AC95DCCF3349}"/>
              </a:ext>
            </a:extLst>
          </p:cNvPr>
          <p:cNvSpPr txBox="1"/>
          <p:nvPr/>
        </p:nvSpPr>
        <p:spPr>
          <a:xfrm>
            <a:off x="5157878" y="1307837"/>
            <a:ext cx="600545" cy="34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Metallurgical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</a:t>
            </a: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8875DEF8-75B2-AAC5-D3E3-D4D7C7CE46CD}"/>
              </a:ext>
            </a:extLst>
          </p:cNvPr>
          <p:cNvSpPr txBox="1"/>
          <p:nvPr/>
        </p:nvSpPr>
        <p:spPr>
          <a:xfrm>
            <a:off x="5149169" y="2208651"/>
            <a:ext cx="600545" cy="34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Copper Fabs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22822D49-D6C8-7D93-2DDB-0B7A687E63C9}"/>
              </a:ext>
            </a:extLst>
          </p:cNvPr>
          <p:cNvSpPr txBox="1"/>
          <p:nvPr/>
        </p:nvSpPr>
        <p:spPr>
          <a:xfrm>
            <a:off x="5149843" y="3319655"/>
            <a:ext cx="600545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Magnet Fabs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</a:t>
            </a:r>
          </a:p>
        </p:txBody>
      </p:sp>
      <p:cxnSp>
        <p:nvCxnSpPr>
          <p:cNvPr id="1090" name="Straight Connector 26">
            <a:extLst>
              <a:ext uri="{FF2B5EF4-FFF2-40B4-BE49-F238E27FC236}">
                <a16:creationId xmlns:a16="http://schemas.microsoft.com/office/drawing/2014/main" id="{26A57659-4AEC-0BF9-4ABE-70E2341E35A7}"/>
              </a:ext>
            </a:extLst>
          </p:cNvPr>
          <p:cNvCxnSpPr>
            <a:cxnSpLocks/>
            <a:stCxn id="951" idx="6"/>
            <a:endCxn id="825" idx="2"/>
          </p:cNvCxnSpPr>
          <p:nvPr/>
        </p:nvCxnSpPr>
        <p:spPr>
          <a:xfrm flipV="1">
            <a:off x="4419553" y="4666356"/>
            <a:ext cx="893769" cy="2422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4" name="Straight Connector 26">
            <a:extLst>
              <a:ext uri="{FF2B5EF4-FFF2-40B4-BE49-F238E27FC236}">
                <a16:creationId xmlns:a16="http://schemas.microsoft.com/office/drawing/2014/main" id="{0888C7C4-72FF-742D-C040-0792A64BF4E0}"/>
              </a:ext>
            </a:extLst>
          </p:cNvPr>
          <p:cNvCxnSpPr>
            <a:cxnSpLocks/>
            <a:stCxn id="825" idx="6"/>
          </p:cNvCxnSpPr>
          <p:nvPr/>
        </p:nvCxnSpPr>
        <p:spPr>
          <a:xfrm>
            <a:off x="5638588" y="4666356"/>
            <a:ext cx="296419" cy="440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Straight Connector 26">
            <a:extLst>
              <a:ext uri="{FF2B5EF4-FFF2-40B4-BE49-F238E27FC236}">
                <a16:creationId xmlns:a16="http://schemas.microsoft.com/office/drawing/2014/main" id="{BEFB27B4-BDB5-C01B-396C-F8A980AE2C31}"/>
              </a:ext>
            </a:extLst>
          </p:cNvPr>
          <p:cNvCxnSpPr>
            <a:cxnSpLocks/>
            <a:stCxn id="824" idx="6"/>
            <a:endCxn id="826" idx="1"/>
          </p:cNvCxnSpPr>
          <p:nvPr/>
        </p:nvCxnSpPr>
        <p:spPr>
          <a:xfrm>
            <a:off x="5617605" y="3765397"/>
            <a:ext cx="238359" cy="2598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Straight Connector 26">
            <a:extLst>
              <a:ext uri="{FF2B5EF4-FFF2-40B4-BE49-F238E27FC236}">
                <a16:creationId xmlns:a16="http://schemas.microsoft.com/office/drawing/2014/main" id="{ABC742B6-D46F-FED6-6B6C-3BBD6B5007B6}"/>
              </a:ext>
            </a:extLst>
          </p:cNvPr>
          <p:cNvCxnSpPr>
            <a:cxnSpLocks/>
            <a:stCxn id="364" idx="6"/>
            <a:endCxn id="1107" idx="1"/>
          </p:cNvCxnSpPr>
          <p:nvPr/>
        </p:nvCxnSpPr>
        <p:spPr>
          <a:xfrm>
            <a:off x="5627165" y="2856060"/>
            <a:ext cx="330152" cy="6956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Diamond 1105">
            <a:extLst>
              <a:ext uri="{FF2B5EF4-FFF2-40B4-BE49-F238E27FC236}">
                <a16:creationId xmlns:a16="http://schemas.microsoft.com/office/drawing/2014/main" id="{7EBD067E-81FF-B954-2F07-83485560CEC5}"/>
              </a:ext>
            </a:extLst>
          </p:cNvPr>
          <p:cNvSpPr/>
          <p:nvPr/>
        </p:nvSpPr>
        <p:spPr>
          <a:xfrm>
            <a:off x="5791045" y="2745284"/>
            <a:ext cx="246338" cy="13912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P6</a:t>
            </a:r>
          </a:p>
        </p:txBody>
      </p:sp>
      <p:sp>
        <p:nvSpPr>
          <p:cNvPr id="1107" name="Diamond 1106">
            <a:extLst>
              <a:ext uri="{FF2B5EF4-FFF2-40B4-BE49-F238E27FC236}">
                <a16:creationId xmlns:a16="http://schemas.microsoft.com/office/drawing/2014/main" id="{AF71E3D0-8BF8-9D78-B703-3DB3B3D35D0B}"/>
              </a:ext>
            </a:extLst>
          </p:cNvPr>
          <p:cNvSpPr/>
          <p:nvPr/>
        </p:nvSpPr>
        <p:spPr>
          <a:xfrm>
            <a:off x="5957317" y="2856059"/>
            <a:ext cx="275147" cy="13912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P7</a:t>
            </a:r>
          </a:p>
        </p:txBody>
      </p:sp>
      <p:cxnSp>
        <p:nvCxnSpPr>
          <p:cNvPr id="1109" name="Straight Connector 26">
            <a:extLst>
              <a:ext uri="{FF2B5EF4-FFF2-40B4-BE49-F238E27FC236}">
                <a16:creationId xmlns:a16="http://schemas.microsoft.com/office/drawing/2014/main" id="{E80F5E34-44A6-E222-EA56-EEF4F0CBF6A0}"/>
              </a:ext>
            </a:extLst>
          </p:cNvPr>
          <p:cNvCxnSpPr>
            <a:cxnSpLocks/>
            <a:stCxn id="1107" idx="3"/>
            <a:endCxn id="828" idx="2"/>
          </p:cNvCxnSpPr>
          <p:nvPr/>
        </p:nvCxnSpPr>
        <p:spPr>
          <a:xfrm>
            <a:off x="6232464" y="2925623"/>
            <a:ext cx="298170" cy="90926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Connector 26">
            <a:extLst>
              <a:ext uri="{FF2B5EF4-FFF2-40B4-BE49-F238E27FC236}">
                <a16:creationId xmlns:a16="http://schemas.microsoft.com/office/drawing/2014/main" id="{FEC1CE9D-E083-9967-A606-6BB686F76214}"/>
              </a:ext>
            </a:extLst>
          </p:cNvPr>
          <p:cNvCxnSpPr>
            <a:cxnSpLocks/>
            <a:stCxn id="826" idx="3"/>
            <a:endCxn id="828" idx="2"/>
          </p:cNvCxnSpPr>
          <p:nvPr/>
        </p:nvCxnSpPr>
        <p:spPr>
          <a:xfrm>
            <a:off x="6172822" y="3767994"/>
            <a:ext cx="357812" cy="6689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Straight Connector 26">
            <a:extLst>
              <a:ext uri="{FF2B5EF4-FFF2-40B4-BE49-F238E27FC236}">
                <a16:creationId xmlns:a16="http://schemas.microsoft.com/office/drawing/2014/main" id="{E157C649-CC69-2B43-496F-EC5BC5C19C2E}"/>
              </a:ext>
            </a:extLst>
          </p:cNvPr>
          <p:cNvCxnSpPr>
            <a:cxnSpLocks/>
            <a:stCxn id="827" idx="3"/>
            <a:endCxn id="829" idx="2"/>
          </p:cNvCxnSpPr>
          <p:nvPr/>
        </p:nvCxnSpPr>
        <p:spPr>
          <a:xfrm>
            <a:off x="6156280" y="4670198"/>
            <a:ext cx="378946" cy="1664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9" name="Straight Connector 26">
            <a:extLst>
              <a:ext uri="{FF2B5EF4-FFF2-40B4-BE49-F238E27FC236}">
                <a16:creationId xmlns:a16="http://schemas.microsoft.com/office/drawing/2014/main" id="{3ED79795-2497-8264-55C9-D2437FD81A70}"/>
              </a:ext>
            </a:extLst>
          </p:cNvPr>
          <p:cNvCxnSpPr>
            <a:cxnSpLocks/>
            <a:stCxn id="829" idx="6"/>
            <a:endCxn id="831" idx="1"/>
          </p:cNvCxnSpPr>
          <p:nvPr/>
        </p:nvCxnSpPr>
        <p:spPr>
          <a:xfrm flipV="1">
            <a:off x="6849768" y="4673776"/>
            <a:ext cx="235695" cy="1306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2" name="Straight Connector 26">
            <a:extLst>
              <a:ext uri="{FF2B5EF4-FFF2-40B4-BE49-F238E27FC236}">
                <a16:creationId xmlns:a16="http://schemas.microsoft.com/office/drawing/2014/main" id="{DDED27AB-2428-7366-D84A-C450BCB24B00}"/>
              </a:ext>
            </a:extLst>
          </p:cNvPr>
          <p:cNvCxnSpPr>
            <a:cxnSpLocks/>
            <a:stCxn id="828" idx="6"/>
            <a:endCxn id="830" idx="1"/>
          </p:cNvCxnSpPr>
          <p:nvPr/>
        </p:nvCxnSpPr>
        <p:spPr>
          <a:xfrm flipV="1">
            <a:off x="6855900" y="3715984"/>
            <a:ext cx="209159" cy="11890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Connector 26">
            <a:extLst>
              <a:ext uri="{FF2B5EF4-FFF2-40B4-BE49-F238E27FC236}">
                <a16:creationId xmlns:a16="http://schemas.microsoft.com/office/drawing/2014/main" id="{706E2563-0909-E62E-08EE-7F08ED37809E}"/>
              </a:ext>
            </a:extLst>
          </p:cNvPr>
          <p:cNvCxnSpPr>
            <a:cxnSpLocks/>
            <a:stCxn id="831" idx="3"/>
            <a:endCxn id="494" idx="2"/>
          </p:cNvCxnSpPr>
          <p:nvPr/>
        </p:nvCxnSpPr>
        <p:spPr>
          <a:xfrm flipV="1">
            <a:off x="7357825" y="3969110"/>
            <a:ext cx="423611" cy="70466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2" name="Straight Connector 26">
            <a:extLst>
              <a:ext uri="{FF2B5EF4-FFF2-40B4-BE49-F238E27FC236}">
                <a16:creationId xmlns:a16="http://schemas.microsoft.com/office/drawing/2014/main" id="{A2682212-34DB-C88F-6832-F825E99B56BE}"/>
              </a:ext>
            </a:extLst>
          </p:cNvPr>
          <p:cNvCxnSpPr>
            <a:cxnSpLocks/>
            <a:stCxn id="1183" idx="3"/>
            <a:endCxn id="494" idx="2"/>
          </p:cNvCxnSpPr>
          <p:nvPr/>
        </p:nvCxnSpPr>
        <p:spPr>
          <a:xfrm>
            <a:off x="7442004" y="3855176"/>
            <a:ext cx="339433" cy="11393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5" name="Straight Connector 26">
            <a:extLst>
              <a:ext uri="{FF2B5EF4-FFF2-40B4-BE49-F238E27FC236}">
                <a16:creationId xmlns:a16="http://schemas.microsoft.com/office/drawing/2014/main" id="{39E48804-86B1-99BB-77FB-D316498A7112}"/>
              </a:ext>
            </a:extLst>
          </p:cNvPr>
          <p:cNvCxnSpPr>
            <a:cxnSpLocks/>
            <a:stCxn id="468" idx="3"/>
            <a:endCxn id="494" idx="2"/>
          </p:cNvCxnSpPr>
          <p:nvPr/>
        </p:nvCxnSpPr>
        <p:spPr>
          <a:xfrm>
            <a:off x="7322623" y="2664217"/>
            <a:ext cx="458814" cy="130489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2" name="Straight Connector 26">
            <a:extLst>
              <a:ext uri="{FF2B5EF4-FFF2-40B4-BE49-F238E27FC236}">
                <a16:creationId xmlns:a16="http://schemas.microsoft.com/office/drawing/2014/main" id="{02121C39-0D13-2DE0-BFC4-274792C2597F}"/>
              </a:ext>
            </a:extLst>
          </p:cNvPr>
          <p:cNvCxnSpPr>
            <a:cxnSpLocks/>
            <a:stCxn id="834" idx="6"/>
            <a:endCxn id="835" idx="1"/>
          </p:cNvCxnSpPr>
          <p:nvPr/>
        </p:nvCxnSpPr>
        <p:spPr>
          <a:xfrm flipV="1">
            <a:off x="6862421" y="736772"/>
            <a:ext cx="328626" cy="9728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5" name="Diamond 1144">
            <a:extLst>
              <a:ext uri="{FF2B5EF4-FFF2-40B4-BE49-F238E27FC236}">
                <a16:creationId xmlns:a16="http://schemas.microsoft.com/office/drawing/2014/main" id="{18530D02-767C-D9D5-4AC6-0A319048B2C7}"/>
              </a:ext>
            </a:extLst>
          </p:cNvPr>
          <p:cNvSpPr/>
          <p:nvPr/>
        </p:nvSpPr>
        <p:spPr>
          <a:xfrm>
            <a:off x="7079525" y="795661"/>
            <a:ext cx="249569" cy="13912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P11</a:t>
            </a:r>
          </a:p>
        </p:txBody>
      </p:sp>
      <p:cxnSp>
        <p:nvCxnSpPr>
          <p:cNvPr id="1148" name="Straight Connector 26">
            <a:extLst>
              <a:ext uri="{FF2B5EF4-FFF2-40B4-BE49-F238E27FC236}">
                <a16:creationId xmlns:a16="http://schemas.microsoft.com/office/drawing/2014/main" id="{D93EFF24-059B-6D26-8F4A-67BC4FD94E03}"/>
              </a:ext>
            </a:extLst>
          </p:cNvPr>
          <p:cNvCxnSpPr>
            <a:cxnSpLocks/>
            <a:stCxn id="834" idx="6"/>
            <a:endCxn id="1145" idx="1"/>
          </p:cNvCxnSpPr>
          <p:nvPr/>
        </p:nvCxnSpPr>
        <p:spPr>
          <a:xfrm>
            <a:off x="6862421" y="834056"/>
            <a:ext cx="217104" cy="3116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1" name="Straight Connector 26">
            <a:extLst>
              <a:ext uri="{FF2B5EF4-FFF2-40B4-BE49-F238E27FC236}">
                <a16:creationId xmlns:a16="http://schemas.microsoft.com/office/drawing/2014/main" id="{72F3BA9B-A813-816C-3ACD-0AC47FA8C652}"/>
              </a:ext>
            </a:extLst>
          </p:cNvPr>
          <p:cNvCxnSpPr>
            <a:cxnSpLocks/>
            <a:stCxn id="835" idx="3"/>
            <a:endCxn id="719" idx="2"/>
          </p:cNvCxnSpPr>
          <p:nvPr/>
        </p:nvCxnSpPr>
        <p:spPr>
          <a:xfrm>
            <a:off x="7450451" y="736773"/>
            <a:ext cx="342996" cy="34620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Straight Connector 26">
            <a:extLst>
              <a:ext uri="{FF2B5EF4-FFF2-40B4-BE49-F238E27FC236}">
                <a16:creationId xmlns:a16="http://schemas.microsoft.com/office/drawing/2014/main" id="{5619E5A4-2D62-ADAB-AA39-E260B13EF580}"/>
              </a:ext>
            </a:extLst>
          </p:cNvPr>
          <p:cNvCxnSpPr>
            <a:cxnSpLocks/>
            <a:stCxn id="1145" idx="3"/>
            <a:endCxn id="720" idx="2"/>
          </p:cNvCxnSpPr>
          <p:nvPr/>
        </p:nvCxnSpPr>
        <p:spPr>
          <a:xfrm>
            <a:off x="7329094" y="865225"/>
            <a:ext cx="483972" cy="70764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7" name="Straight Connector 26">
            <a:extLst>
              <a:ext uri="{FF2B5EF4-FFF2-40B4-BE49-F238E27FC236}">
                <a16:creationId xmlns:a16="http://schemas.microsoft.com/office/drawing/2014/main" id="{79282DD4-FF2D-47D5-418F-9A5618744600}"/>
              </a:ext>
            </a:extLst>
          </p:cNvPr>
          <p:cNvCxnSpPr>
            <a:cxnSpLocks/>
            <a:stCxn id="465" idx="3"/>
            <a:endCxn id="719" idx="2"/>
          </p:cNvCxnSpPr>
          <p:nvPr/>
        </p:nvCxnSpPr>
        <p:spPr>
          <a:xfrm flipV="1">
            <a:off x="7335734" y="1082977"/>
            <a:ext cx="457713" cy="92817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2" name="Straight Connector 26">
            <a:extLst>
              <a:ext uri="{FF2B5EF4-FFF2-40B4-BE49-F238E27FC236}">
                <a16:creationId xmlns:a16="http://schemas.microsoft.com/office/drawing/2014/main" id="{241F2C2D-4285-8CD4-2318-77111163CA60}"/>
              </a:ext>
            </a:extLst>
          </p:cNvPr>
          <p:cNvCxnSpPr>
            <a:cxnSpLocks/>
            <a:stCxn id="466" idx="3"/>
            <a:endCxn id="720" idx="2"/>
          </p:cNvCxnSpPr>
          <p:nvPr/>
        </p:nvCxnSpPr>
        <p:spPr>
          <a:xfrm flipV="1">
            <a:off x="7342155" y="1572871"/>
            <a:ext cx="470911" cy="64584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4" name="Straight Connector 26">
            <a:extLst>
              <a:ext uri="{FF2B5EF4-FFF2-40B4-BE49-F238E27FC236}">
                <a16:creationId xmlns:a16="http://schemas.microsoft.com/office/drawing/2014/main" id="{15C9D495-F366-4331-15B5-25B48C6988AB}"/>
              </a:ext>
            </a:extLst>
          </p:cNvPr>
          <p:cNvCxnSpPr>
            <a:cxnSpLocks/>
            <a:stCxn id="467" idx="3"/>
            <a:endCxn id="493" idx="2"/>
          </p:cNvCxnSpPr>
          <p:nvPr/>
        </p:nvCxnSpPr>
        <p:spPr>
          <a:xfrm>
            <a:off x="7338803" y="2448527"/>
            <a:ext cx="453624" cy="97023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7" name="Straight Connector 26">
            <a:extLst>
              <a:ext uri="{FF2B5EF4-FFF2-40B4-BE49-F238E27FC236}">
                <a16:creationId xmlns:a16="http://schemas.microsoft.com/office/drawing/2014/main" id="{B715A8D9-9F59-2139-FE2E-6D677A50E4ED}"/>
              </a:ext>
            </a:extLst>
          </p:cNvPr>
          <p:cNvCxnSpPr>
            <a:cxnSpLocks/>
            <a:stCxn id="830" idx="3"/>
            <a:endCxn id="493" idx="2"/>
          </p:cNvCxnSpPr>
          <p:nvPr/>
        </p:nvCxnSpPr>
        <p:spPr>
          <a:xfrm flipV="1">
            <a:off x="7319534" y="3418764"/>
            <a:ext cx="472893" cy="29722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3" name="Diamond 1182">
            <a:extLst>
              <a:ext uri="{FF2B5EF4-FFF2-40B4-BE49-F238E27FC236}">
                <a16:creationId xmlns:a16="http://schemas.microsoft.com/office/drawing/2014/main" id="{025FDB01-3682-CB57-8070-4047E8E99399}"/>
              </a:ext>
            </a:extLst>
          </p:cNvPr>
          <p:cNvSpPr/>
          <p:nvPr/>
        </p:nvSpPr>
        <p:spPr>
          <a:xfrm>
            <a:off x="7178072" y="3781478"/>
            <a:ext cx="263931" cy="14739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P17</a:t>
            </a:r>
          </a:p>
        </p:txBody>
      </p:sp>
      <p:cxnSp>
        <p:nvCxnSpPr>
          <p:cNvPr id="1188" name="Straight Connector 26">
            <a:extLst>
              <a:ext uri="{FF2B5EF4-FFF2-40B4-BE49-F238E27FC236}">
                <a16:creationId xmlns:a16="http://schemas.microsoft.com/office/drawing/2014/main" id="{66FE3142-3743-715C-069C-6389E153B99B}"/>
              </a:ext>
            </a:extLst>
          </p:cNvPr>
          <p:cNvCxnSpPr>
            <a:cxnSpLocks/>
            <a:stCxn id="828" idx="6"/>
            <a:endCxn id="1183" idx="1"/>
          </p:cNvCxnSpPr>
          <p:nvPr/>
        </p:nvCxnSpPr>
        <p:spPr>
          <a:xfrm>
            <a:off x="6855900" y="3834887"/>
            <a:ext cx="322172" cy="2028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Rounded Rectangle 520">
            <a:extLst>
              <a:ext uri="{FF2B5EF4-FFF2-40B4-BE49-F238E27FC236}">
                <a16:creationId xmlns:a16="http://schemas.microsoft.com/office/drawing/2014/main" id="{B21D042D-BF1B-C17E-4B9C-895C06AC4C11}"/>
              </a:ext>
            </a:extLst>
          </p:cNvPr>
          <p:cNvSpPr/>
          <p:nvPr/>
        </p:nvSpPr>
        <p:spPr>
          <a:xfrm>
            <a:off x="9232968" y="2759225"/>
            <a:ext cx="521915" cy="10659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619" name="Rounded Rectangle 618">
            <a:extLst>
              <a:ext uri="{FF2B5EF4-FFF2-40B4-BE49-F238E27FC236}">
                <a16:creationId xmlns:a16="http://schemas.microsoft.com/office/drawing/2014/main" id="{699031F9-1EB5-4964-90AC-5FDF13C18FD6}"/>
              </a:ext>
            </a:extLst>
          </p:cNvPr>
          <p:cNvSpPr/>
          <p:nvPr/>
        </p:nvSpPr>
        <p:spPr>
          <a:xfrm>
            <a:off x="9799798" y="2750483"/>
            <a:ext cx="521915" cy="107471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194" name="Rounded Rectangle 1193">
            <a:extLst>
              <a:ext uri="{FF2B5EF4-FFF2-40B4-BE49-F238E27FC236}">
                <a16:creationId xmlns:a16="http://schemas.microsoft.com/office/drawing/2014/main" id="{4A038F8A-52C7-44AE-8EF3-C983A8686097}"/>
              </a:ext>
            </a:extLst>
          </p:cNvPr>
          <p:cNvSpPr/>
          <p:nvPr/>
        </p:nvSpPr>
        <p:spPr>
          <a:xfrm>
            <a:off x="9823423" y="3938502"/>
            <a:ext cx="521915" cy="112702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195" name="Rounded Rectangle 1194">
            <a:extLst>
              <a:ext uri="{FF2B5EF4-FFF2-40B4-BE49-F238E27FC236}">
                <a16:creationId xmlns:a16="http://schemas.microsoft.com/office/drawing/2014/main" id="{A3F46BAA-713F-9D67-5980-A1E94836E211}"/>
              </a:ext>
            </a:extLst>
          </p:cNvPr>
          <p:cNvSpPr/>
          <p:nvPr/>
        </p:nvSpPr>
        <p:spPr>
          <a:xfrm>
            <a:off x="9245149" y="3938502"/>
            <a:ext cx="521915" cy="112702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519" name="Oval 518">
            <a:extLst>
              <a:ext uri="{FF2B5EF4-FFF2-40B4-BE49-F238E27FC236}">
                <a16:creationId xmlns:a16="http://schemas.microsoft.com/office/drawing/2014/main" id="{8A96D50E-3888-3714-3F06-03C90BDE481C}"/>
              </a:ext>
            </a:extLst>
          </p:cNvPr>
          <p:cNvSpPr/>
          <p:nvPr/>
        </p:nvSpPr>
        <p:spPr>
          <a:xfrm>
            <a:off x="9319213" y="3287839"/>
            <a:ext cx="344886" cy="1571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Recy3</a:t>
            </a:r>
          </a:p>
        </p:txBody>
      </p:sp>
      <p:sp>
        <p:nvSpPr>
          <p:cNvPr id="520" name="Oval 519">
            <a:extLst>
              <a:ext uri="{FF2B5EF4-FFF2-40B4-BE49-F238E27FC236}">
                <a16:creationId xmlns:a16="http://schemas.microsoft.com/office/drawing/2014/main" id="{43B41ACF-ACA9-6439-6C38-D8B7B4D62D89}"/>
              </a:ext>
            </a:extLst>
          </p:cNvPr>
          <p:cNvSpPr/>
          <p:nvPr/>
        </p:nvSpPr>
        <p:spPr>
          <a:xfrm>
            <a:off x="9352571" y="4362783"/>
            <a:ext cx="325266" cy="1571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Recy4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1C609B2E-C643-32F1-CF45-8488E341EABD}"/>
              </a:ext>
            </a:extLst>
          </p:cNvPr>
          <p:cNvSpPr txBox="1"/>
          <p:nvPr/>
        </p:nvSpPr>
        <p:spPr>
          <a:xfrm>
            <a:off x="9236052" y="2763658"/>
            <a:ext cx="521915" cy="3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Recycler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</a:t>
            </a: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78315E77-EAB2-2F07-0EFF-25EA28455176}"/>
              </a:ext>
            </a:extLst>
          </p:cNvPr>
          <p:cNvSpPr txBox="1"/>
          <p:nvPr/>
        </p:nvSpPr>
        <p:spPr>
          <a:xfrm>
            <a:off x="9748010" y="2750920"/>
            <a:ext cx="610289" cy="34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Scrap steel &amp; copper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623" name="Diamond 622">
            <a:extLst>
              <a:ext uri="{FF2B5EF4-FFF2-40B4-BE49-F238E27FC236}">
                <a16:creationId xmlns:a16="http://schemas.microsoft.com/office/drawing/2014/main" id="{F043EC8F-9595-1C9B-12AA-A20EA597CF44}"/>
              </a:ext>
            </a:extLst>
          </p:cNvPr>
          <p:cNvSpPr/>
          <p:nvPr/>
        </p:nvSpPr>
        <p:spPr>
          <a:xfrm>
            <a:off x="9986074" y="4274866"/>
            <a:ext cx="296864" cy="175834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RP3</a:t>
            </a:r>
          </a:p>
        </p:txBody>
      </p:sp>
      <p:cxnSp>
        <p:nvCxnSpPr>
          <p:cNvPr id="624" name="Straight Connector 26">
            <a:extLst>
              <a:ext uri="{FF2B5EF4-FFF2-40B4-BE49-F238E27FC236}">
                <a16:creationId xmlns:a16="http://schemas.microsoft.com/office/drawing/2014/main" id="{32C34066-7CBA-6F01-83D1-B4437755713D}"/>
              </a:ext>
            </a:extLst>
          </p:cNvPr>
          <p:cNvCxnSpPr>
            <a:cxnSpLocks/>
            <a:stCxn id="519" idx="6"/>
          </p:cNvCxnSpPr>
          <p:nvPr/>
        </p:nvCxnSpPr>
        <p:spPr>
          <a:xfrm flipV="1">
            <a:off x="9664100" y="3292208"/>
            <a:ext cx="328869" cy="7419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26">
            <a:extLst>
              <a:ext uri="{FF2B5EF4-FFF2-40B4-BE49-F238E27FC236}">
                <a16:creationId xmlns:a16="http://schemas.microsoft.com/office/drawing/2014/main" id="{BB3A2DDE-BFEB-2F8E-6C74-188BD9559EC0}"/>
              </a:ext>
            </a:extLst>
          </p:cNvPr>
          <p:cNvCxnSpPr>
            <a:cxnSpLocks/>
            <a:stCxn id="519" idx="6"/>
          </p:cNvCxnSpPr>
          <p:nvPr/>
        </p:nvCxnSpPr>
        <p:spPr>
          <a:xfrm>
            <a:off x="9664100" y="3366404"/>
            <a:ext cx="319386" cy="17797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26">
            <a:extLst>
              <a:ext uri="{FF2B5EF4-FFF2-40B4-BE49-F238E27FC236}">
                <a16:creationId xmlns:a16="http://schemas.microsoft.com/office/drawing/2014/main" id="{FDE15ECF-7FCF-D20A-032F-DDC7A3756BE5}"/>
              </a:ext>
            </a:extLst>
          </p:cNvPr>
          <p:cNvCxnSpPr>
            <a:cxnSpLocks/>
            <a:stCxn id="520" idx="6"/>
            <a:endCxn id="623" idx="1"/>
          </p:cNvCxnSpPr>
          <p:nvPr/>
        </p:nvCxnSpPr>
        <p:spPr>
          <a:xfrm flipV="1">
            <a:off x="9677838" y="4362783"/>
            <a:ext cx="308236" cy="7856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1" name="TextBox 790">
            <a:extLst>
              <a:ext uri="{FF2B5EF4-FFF2-40B4-BE49-F238E27FC236}">
                <a16:creationId xmlns:a16="http://schemas.microsoft.com/office/drawing/2014/main" id="{A69FF088-58A5-68AD-09A4-A89848C924AB}"/>
              </a:ext>
            </a:extLst>
          </p:cNvPr>
          <p:cNvSpPr txBox="1"/>
          <p:nvPr/>
        </p:nvSpPr>
        <p:spPr>
          <a:xfrm>
            <a:off x="9129682" y="206770"/>
            <a:ext cx="1278494" cy="19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643" b="1" dirty="0">
                <a:solidFill>
                  <a:prstClr val="white"/>
                </a:solidFill>
                <a:latin typeface="Aptos" panose="02110004020202020204"/>
              </a:rPr>
              <a:t>Specialised Recyclers</a:t>
            </a:r>
          </a:p>
        </p:txBody>
      </p:sp>
      <p:sp>
        <p:nvSpPr>
          <p:cNvPr id="1219" name="TextBox 1218">
            <a:extLst>
              <a:ext uri="{FF2B5EF4-FFF2-40B4-BE49-F238E27FC236}">
                <a16:creationId xmlns:a16="http://schemas.microsoft.com/office/drawing/2014/main" id="{03165DB5-B1E4-9EB4-681A-B31B80FCB539}"/>
              </a:ext>
            </a:extLst>
          </p:cNvPr>
          <p:cNvSpPr txBox="1"/>
          <p:nvPr/>
        </p:nvSpPr>
        <p:spPr>
          <a:xfrm>
            <a:off x="9177486" y="3938502"/>
            <a:ext cx="6459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00" b="1" dirty="0">
                <a:solidFill>
                  <a:prstClr val="black"/>
                </a:solidFill>
                <a:latin typeface="Aptos" panose="02110004020202020204"/>
              </a:rPr>
              <a:t>Remanufacture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</a:t>
            </a:r>
          </a:p>
        </p:txBody>
      </p:sp>
      <p:sp>
        <p:nvSpPr>
          <p:cNvPr id="1220" name="TextBox 1219">
            <a:extLst>
              <a:ext uri="{FF2B5EF4-FFF2-40B4-BE49-F238E27FC236}">
                <a16:creationId xmlns:a16="http://schemas.microsoft.com/office/drawing/2014/main" id="{E1FFBC0D-9801-B512-D604-7A4C339ED9F3}"/>
              </a:ext>
            </a:extLst>
          </p:cNvPr>
          <p:cNvSpPr txBox="1"/>
          <p:nvPr/>
        </p:nvSpPr>
        <p:spPr>
          <a:xfrm>
            <a:off x="9763997" y="3933823"/>
            <a:ext cx="638901" cy="421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Refurbished Motors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Model id / serial id</a:t>
            </a:r>
          </a:p>
        </p:txBody>
      </p:sp>
      <p:sp>
        <p:nvSpPr>
          <p:cNvPr id="1230" name="Rounded Rectangle 1229">
            <a:extLst>
              <a:ext uri="{FF2B5EF4-FFF2-40B4-BE49-F238E27FC236}">
                <a16:creationId xmlns:a16="http://schemas.microsoft.com/office/drawing/2014/main" id="{012E6F2D-6129-B70C-DAAF-0B62CF240813}"/>
              </a:ext>
            </a:extLst>
          </p:cNvPr>
          <p:cNvSpPr/>
          <p:nvPr/>
        </p:nvSpPr>
        <p:spPr>
          <a:xfrm>
            <a:off x="9208377" y="384521"/>
            <a:ext cx="521915" cy="10659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231" name="Rounded Rectangle 1230">
            <a:extLst>
              <a:ext uri="{FF2B5EF4-FFF2-40B4-BE49-F238E27FC236}">
                <a16:creationId xmlns:a16="http://schemas.microsoft.com/office/drawing/2014/main" id="{767C8CD7-1F0E-2321-96F4-CB7A87F9AAC5}"/>
              </a:ext>
            </a:extLst>
          </p:cNvPr>
          <p:cNvSpPr/>
          <p:nvPr/>
        </p:nvSpPr>
        <p:spPr>
          <a:xfrm>
            <a:off x="9784250" y="385350"/>
            <a:ext cx="521915" cy="107471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232" name="Rounded Rectangle 1231">
            <a:extLst>
              <a:ext uri="{FF2B5EF4-FFF2-40B4-BE49-F238E27FC236}">
                <a16:creationId xmlns:a16="http://schemas.microsoft.com/office/drawing/2014/main" id="{0167C31C-9085-7146-2F13-7170A0CB3FB3}"/>
              </a:ext>
            </a:extLst>
          </p:cNvPr>
          <p:cNvSpPr/>
          <p:nvPr/>
        </p:nvSpPr>
        <p:spPr>
          <a:xfrm>
            <a:off x="9798831" y="1563799"/>
            <a:ext cx="521915" cy="107471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233" name="Rounded Rectangle 1232">
            <a:extLst>
              <a:ext uri="{FF2B5EF4-FFF2-40B4-BE49-F238E27FC236}">
                <a16:creationId xmlns:a16="http://schemas.microsoft.com/office/drawing/2014/main" id="{62318455-AAEB-868D-E219-73EA0A440EF9}"/>
              </a:ext>
            </a:extLst>
          </p:cNvPr>
          <p:cNvSpPr/>
          <p:nvPr/>
        </p:nvSpPr>
        <p:spPr>
          <a:xfrm>
            <a:off x="9220558" y="1563799"/>
            <a:ext cx="521915" cy="107471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234" name="Oval 1233">
            <a:extLst>
              <a:ext uri="{FF2B5EF4-FFF2-40B4-BE49-F238E27FC236}">
                <a16:creationId xmlns:a16="http://schemas.microsoft.com/office/drawing/2014/main" id="{10388BED-E921-1100-9CCF-BB6393BDED8F}"/>
              </a:ext>
            </a:extLst>
          </p:cNvPr>
          <p:cNvSpPr/>
          <p:nvPr/>
        </p:nvSpPr>
        <p:spPr>
          <a:xfrm>
            <a:off x="9310173" y="974328"/>
            <a:ext cx="344886" cy="1571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Recy1</a:t>
            </a:r>
          </a:p>
        </p:txBody>
      </p:sp>
      <p:sp>
        <p:nvSpPr>
          <p:cNvPr id="1235" name="Oval 1234">
            <a:extLst>
              <a:ext uri="{FF2B5EF4-FFF2-40B4-BE49-F238E27FC236}">
                <a16:creationId xmlns:a16="http://schemas.microsoft.com/office/drawing/2014/main" id="{0B5CE340-D9C2-B558-C12D-6A8CFA779387}"/>
              </a:ext>
            </a:extLst>
          </p:cNvPr>
          <p:cNvSpPr/>
          <p:nvPr/>
        </p:nvSpPr>
        <p:spPr>
          <a:xfrm>
            <a:off x="9327980" y="1977620"/>
            <a:ext cx="325266" cy="1571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Recy2</a:t>
            </a:r>
          </a:p>
        </p:txBody>
      </p:sp>
      <p:sp>
        <p:nvSpPr>
          <p:cNvPr id="1236" name="TextBox 1235">
            <a:extLst>
              <a:ext uri="{FF2B5EF4-FFF2-40B4-BE49-F238E27FC236}">
                <a16:creationId xmlns:a16="http://schemas.microsoft.com/office/drawing/2014/main" id="{A0DB61DA-568E-39D3-01BD-24B9AF209A0A}"/>
              </a:ext>
            </a:extLst>
          </p:cNvPr>
          <p:cNvSpPr txBox="1"/>
          <p:nvPr/>
        </p:nvSpPr>
        <p:spPr>
          <a:xfrm>
            <a:off x="9211460" y="388954"/>
            <a:ext cx="521915" cy="421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Electronics recycler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</a:t>
            </a:r>
          </a:p>
        </p:txBody>
      </p:sp>
      <p:sp>
        <p:nvSpPr>
          <p:cNvPr id="1237" name="TextBox 1236">
            <a:extLst>
              <a:ext uri="{FF2B5EF4-FFF2-40B4-BE49-F238E27FC236}">
                <a16:creationId xmlns:a16="http://schemas.microsoft.com/office/drawing/2014/main" id="{07174C87-DEC0-4EED-A5A7-D543765EA256}"/>
              </a:ext>
            </a:extLst>
          </p:cNvPr>
          <p:cNvSpPr txBox="1"/>
          <p:nvPr/>
        </p:nvSpPr>
        <p:spPr>
          <a:xfrm>
            <a:off x="9693060" y="398377"/>
            <a:ext cx="665682" cy="432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Precious metals &amp; minerals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1240" name="Diamond 1239">
            <a:extLst>
              <a:ext uri="{FF2B5EF4-FFF2-40B4-BE49-F238E27FC236}">
                <a16:creationId xmlns:a16="http://schemas.microsoft.com/office/drawing/2014/main" id="{E8E33320-C2A1-AE90-F05C-5BF44990AB01}"/>
              </a:ext>
            </a:extLst>
          </p:cNvPr>
          <p:cNvSpPr/>
          <p:nvPr/>
        </p:nvSpPr>
        <p:spPr>
          <a:xfrm>
            <a:off x="9910137" y="2026388"/>
            <a:ext cx="302561" cy="142608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RP1</a:t>
            </a:r>
          </a:p>
        </p:txBody>
      </p:sp>
      <p:cxnSp>
        <p:nvCxnSpPr>
          <p:cNvPr id="1241" name="Straight Connector 26">
            <a:extLst>
              <a:ext uri="{FF2B5EF4-FFF2-40B4-BE49-F238E27FC236}">
                <a16:creationId xmlns:a16="http://schemas.microsoft.com/office/drawing/2014/main" id="{EBEF0416-87F4-CAD9-0D4F-06277D1D5C2E}"/>
              </a:ext>
            </a:extLst>
          </p:cNvPr>
          <p:cNvCxnSpPr>
            <a:cxnSpLocks/>
            <a:stCxn id="1234" idx="6"/>
          </p:cNvCxnSpPr>
          <p:nvPr/>
        </p:nvCxnSpPr>
        <p:spPr>
          <a:xfrm flipV="1">
            <a:off x="9655060" y="917505"/>
            <a:ext cx="313318" cy="13538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Straight Connector 26">
            <a:extLst>
              <a:ext uri="{FF2B5EF4-FFF2-40B4-BE49-F238E27FC236}">
                <a16:creationId xmlns:a16="http://schemas.microsoft.com/office/drawing/2014/main" id="{19F7E931-2AED-455D-49C3-3560592AFA26}"/>
              </a:ext>
            </a:extLst>
          </p:cNvPr>
          <p:cNvCxnSpPr>
            <a:cxnSpLocks/>
            <a:stCxn id="1235" idx="6"/>
            <a:endCxn id="1240" idx="1"/>
          </p:cNvCxnSpPr>
          <p:nvPr/>
        </p:nvCxnSpPr>
        <p:spPr>
          <a:xfrm>
            <a:off x="9653246" y="2056185"/>
            <a:ext cx="256891" cy="4150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4" name="TextBox 1243">
            <a:extLst>
              <a:ext uri="{FF2B5EF4-FFF2-40B4-BE49-F238E27FC236}">
                <a16:creationId xmlns:a16="http://schemas.microsoft.com/office/drawing/2014/main" id="{A3C918B2-9E08-76D8-2409-7FE8A6061E85}"/>
              </a:ext>
            </a:extLst>
          </p:cNvPr>
          <p:cNvSpPr txBox="1"/>
          <p:nvPr/>
        </p:nvSpPr>
        <p:spPr>
          <a:xfrm>
            <a:off x="9152895" y="1563798"/>
            <a:ext cx="6459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00" b="1" dirty="0">
                <a:solidFill>
                  <a:prstClr val="black"/>
                </a:solidFill>
                <a:latin typeface="Aptos" panose="02110004020202020204"/>
              </a:rPr>
              <a:t>Remanufacture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</a:t>
            </a:r>
          </a:p>
        </p:txBody>
      </p:sp>
      <p:sp>
        <p:nvSpPr>
          <p:cNvPr id="1245" name="TextBox 1244">
            <a:extLst>
              <a:ext uri="{FF2B5EF4-FFF2-40B4-BE49-F238E27FC236}">
                <a16:creationId xmlns:a16="http://schemas.microsoft.com/office/drawing/2014/main" id="{43C62037-01CD-8B02-8FC3-14E0040CA130}"/>
              </a:ext>
            </a:extLst>
          </p:cNvPr>
          <p:cNvSpPr txBox="1"/>
          <p:nvPr/>
        </p:nvSpPr>
        <p:spPr>
          <a:xfrm>
            <a:off x="9726303" y="1551170"/>
            <a:ext cx="665704" cy="421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Repurposed Batteries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Model id / serial id</a:t>
            </a:r>
          </a:p>
        </p:txBody>
      </p:sp>
      <p:cxnSp>
        <p:nvCxnSpPr>
          <p:cNvPr id="574" name="Straight Connector 26">
            <a:extLst>
              <a:ext uri="{FF2B5EF4-FFF2-40B4-BE49-F238E27FC236}">
                <a16:creationId xmlns:a16="http://schemas.microsoft.com/office/drawing/2014/main" id="{5EB35DF5-CA82-C416-4CA1-82DDE1FCA36C}"/>
              </a:ext>
            </a:extLst>
          </p:cNvPr>
          <p:cNvCxnSpPr>
            <a:cxnSpLocks/>
            <a:stCxn id="502" idx="3"/>
            <a:endCxn id="519" idx="2"/>
          </p:cNvCxnSpPr>
          <p:nvPr/>
        </p:nvCxnSpPr>
        <p:spPr>
          <a:xfrm flipV="1">
            <a:off x="8763550" y="3366404"/>
            <a:ext cx="555664" cy="19995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Straight Connector 26">
            <a:extLst>
              <a:ext uri="{FF2B5EF4-FFF2-40B4-BE49-F238E27FC236}">
                <a16:creationId xmlns:a16="http://schemas.microsoft.com/office/drawing/2014/main" id="{1F5C7BDB-6751-B265-C3F6-5A326B3F8509}"/>
              </a:ext>
            </a:extLst>
          </p:cNvPr>
          <p:cNvCxnSpPr>
            <a:cxnSpLocks/>
            <a:stCxn id="726" idx="3"/>
            <a:endCxn id="1234" idx="2"/>
          </p:cNvCxnSpPr>
          <p:nvPr/>
        </p:nvCxnSpPr>
        <p:spPr>
          <a:xfrm flipV="1">
            <a:off x="8962253" y="1052894"/>
            <a:ext cx="347921" cy="13795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0" name="Straight Connector 26">
            <a:extLst>
              <a:ext uri="{FF2B5EF4-FFF2-40B4-BE49-F238E27FC236}">
                <a16:creationId xmlns:a16="http://schemas.microsoft.com/office/drawing/2014/main" id="{D3C4B1B2-8817-4515-3DAB-009AC379FA28}"/>
              </a:ext>
            </a:extLst>
          </p:cNvPr>
          <p:cNvCxnSpPr>
            <a:cxnSpLocks/>
            <a:stCxn id="725" idx="3"/>
            <a:endCxn id="1234" idx="2"/>
          </p:cNvCxnSpPr>
          <p:nvPr/>
        </p:nvCxnSpPr>
        <p:spPr>
          <a:xfrm>
            <a:off x="8836349" y="985552"/>
            <a:ext cx="473825" cy="6734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26">
            <a:extLst>
              <a:ext uri="{FF2B5EF4-FFF2-40B4-BE49-F238E27FC236}">
                <a16:creationId xmlns:a16="http://schemas.microsoft.com/office/drawing/2014/main" id="{51C64E0E-3F57-CA11-1BC6-35440BA3020F}"/>
              </a:ext>
            </a:extLst>
          </p:cNvPr>
          <p:cNvCxnSpPr>
            <a:cxnSpLocks/>
            <a:stCxn id="724" idx="3"/>
            <a:endCxn id="1235" idx="2"/>
          </p:cNvCxnSpPr>
          <p:nvPr/>
        </p:nvCxnSpPr>
        <p:spPr>
          <a:xfrm>
            <a:off x="8670421" y="1310409"/>
            <a:ext cx="657559" cy="74577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26">
            <a:extLst>
              <a:ext uri="{FF2B5EF4-FFF2-40B4-BE49-F238E27FC236}">
                <a16:creationId xmlns:a16="http://schemas.microsoft.com/office/drawing/2014/main" id="{760CD265-E2E2-DCB9-DD05-C8DD885340CC}"/>
              </a:ext>
            </a:extLst>
          </p:cNvPr>
          <p:cNvCxnSpPr>
            <a:cxnSpLocks/>
            <a:endCxn id="1235" idx="2"/>
          </p:cNvCxnSpPr>
          <p:nvPr/>
        </p:nvCxnSpPr>
        <p:spPr>
          <a:xfrm flipV="1">
            <a:off x="8961993" y="2056185"/>
            <a:ext cx="365986" cy="131525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Straight Connector 26">
            <a:extLst>
              <a:ext uri="{FF2B5EF4-FFF2-40B4-BE49-F238E27FC236}">
                <a16:creationId xmlns:a16="http://schemas.microsoft.com/office/drawing/2014/main" id="{1AD2B04C-70CA-E229-D70B-338838D8CC0A}"/>
              </a:ext>
            </a:extLst>
          </p:cNvPr>
          <p:cNvCxnSpPr>
            <a:cxnSpLocks/>
            <a:stCxn id="501" idx="3"/>
            <a:endCxn id="520" idx="2"/>
          </p:cNvCxnSpPr>
          <p:nvPr/>
        </p:nvCxnSpPr>
        <p:spPr>
          <a:xfrm>
            <a:off x="8640497" y="3839806"/>
            <a:ext cx="712074" cy="60154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26">
            <a:extLst>
              <a:ext uri="{FF2B5EF4-FFF2-40B4-BE49-F238E27FC236}">
                <a16:creationId xmlns:a16="http://schemas.microsoft.com/office/drawing/2014/main" id="{A241AF34-A51B-4CD0-24DE-A60A963293CD}"/>
              </a:ext>
            </a:extLst>
          </p:cNvPr>
          <p:cNvCxnSpPr>
            <a:cxnSpLocks/>
            <a:stCxn id="502" idx="3"/>
            <a:endCxn id="520" idx="2"/>
          </p:cNvCxnSpPr>
          <p:nvPr/>
        </p:nvCxnSpPr>
        <p:spPr>
          <a:xfrm>
            <a:off x="8763550" y="3566360"/>
            <a:ext cx="589021" cy="87498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9" name="Straight Connector 26">
            <a:extLst>
              <a:ext uri="{FF2B5EF4-FFF2-40B4-BE49-F238E27FC236}">
                <a16:creationId xmlns:a16="http://schemas.microsoft.com/office/drawing/2014/main" id="{47AB2F3E-6F35-4C72-AFB2-2DD4EC4E02E9}"/>
              </a:ext>
            </a:extLst>
          </p:cNvPr>
          <p:cNvCxnSpPr>
            <a:cxnSpLocks/>
            <a:stCxn id="1234" idx="6"/>
          </p:cNvCxnSpPr>
          <p:nvPr/>
        </p:nvCxnSpPr>
        <p:spPr>
          <a:xfrm>
            <a:off x="9655059" y="1052893"/>
            <a:ext cx="311409" cy="7856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2" name="Diamond 1281">
            <a:extLst>
              <a:ext uri="{FF2B5EF4-FFF2-40B4-BE49-F238E27FC236}">
                <a16:creationId xmlns:a16="http://schemas.microsoft.com/office/drawing/2014/main" id="{E2D8D13C-B9DD-80A7-7F1A-2AF6BD955B3F}"/>
              </a:ext>
            </a:extLst>
          </p:cNvPr>
          <p:cNvSpPr/>
          <p:nvPr/>
        </p:nvSpPr>
        <p:spPr>
          <a:xfrm>
            <a:off x="9920200" y="2232632"/>
            <a:ext cx="279130" cy="161911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RP2</a:t>
            </a:r>
          </a:p>
        </p:txBody>
      </p:sp>
      <p:cxnSp>
        <p:nvCxnSpPr>
          <p:cNvPr id="1283" name="Straight Connector 26">
            <a:extLst>
              <a:ext uri="{FF2B5EF4-FFF2-40B4-BE49-F238E27FC236}">
                <a16:creationId xmlns:a16="http://schemas.microsoft.com/office/drawing/2014/main" id="{45382A6F-1E18-B16A-F3E9-8A44A4E51BE1}"/>
              </a:ext>
            </a:extLst>
          </p:cNvPr>
          <p:cNvCxnSpPr>
            <a:cxnSpLocks/>
            <a:stCxn id="1235" idx="6"/>
            <a:endCxn id="1282" idx="1"/>
          </p:cNvCxnSpPr>
          <p:nvPr/>
        </p:nvCxnSpPr>
        <p:spPr>
          <a:xfrm>
            <a:off x="9653246" y="2056185"/>
            <a:ext cx="266954" cy="25740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0" name="Diamond 1299">
            <a:extLst>
              <a:ext uri="{FF2B5EF4-FFF2-40B4-BE49-F238E27FC236}">
                <a16:creationId xmlns:a16="http://schemas.microsoft.com/office/drawing/2014/main" id="{184CED20-E03E-4B56-03BC-E71865BD5C0F}"/>
              </a:ext>
            </a:extLst>
          </p:cNvPr>
          <p:cNvSpPr/>
          <p:nvPr/>
        </p:nvSpPr>
        <p:spPr>
          <a:xfrm>
            <a:off x="9942726" y="4503165"/>
            <a:ext cx="286596" cy="180346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RP4</a:t>
            </a:r>
          </a:p>
        </p:txBody>
      </p:sp>
      <p:cxnSp>
        <p:nvCxnSpPr>
          <p:cNvPr id="1301" name="Straight Connector 26">
            <a:extLst>
              <a:ext uri="{FF2B5EF4-FFF2-40B4-BE49-F238E27FC236}">
                <a16:creationId xmlns:a16="http://schemas.microsoft.com/office/drawing/2014/main" id="{A06F6720-75DA-0F84-D979-0A7FCB4EC924}"/>
              </a:ext>
            </a:extLst>
          </p:cNvPr>
          <p:cNvCxnSpPr>
            <a:cxnSpLocks/>
            <a:stCxn id="520" idx="6"/>
            <a:endCxn id="1300" idx="1"/>
          </p:cNvCxnSpPr>
          <p:nvPr/>
        </p:nvCxnSpPr>
        <p:spPr>
          <a:xfrm>
            <a:off x="9677837" y="4441349"/>
            <a:ext cx="264889" cy="15198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5" name="Rounded Rectangle 1304">
            <a:extLst>
              <a:ext uri="{FF2B5EF4-FFF2-40B4-BE49-F238E27FC236}">
                <a16:creationId xmlns:a16="http://schemas.microsoft.com/office/drawing/2014/main" id="{C41BEFD8-C36C-C404-64DE-8E8F663EDF22}"/>
              </a:ext>
            </a:extLst>
          </p:cNvPr>
          <p:cNvSpPr/>
          <p:nvPr/>
        </p:nvSpPr>
        <p:spPr>
          <a:xfrm>
            <a:off x="5886515" y="4833800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306" name="Rounded Rectangle 1305">
            <a:extLst>
              <a:ext uri="{FF2B5EF4-FFF2-40B4-BE49-F238E27FC236}">
                <a16:creationId xmlns:a16="http://schemas.microsoft.com/office/drawing/2014/main" id="{690D8D0D-FB8F-999C-ADA9-5B1DF20BBD8F}"/>
              </a:ext>
            </a:extLst>
          </p:cNvPr>
          <p:cNvSpPr/>
          <p:nvPr/>
        </p:nvSpPr>
        <p:spPr>
          <a:xfrm>
            <a:off x="5893655" y="4939914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307" name="Rounded Rectangle 1306">
            <a:extLst>
              <a:ext uri="{FF2B5EF4-FFF2-40B4-BE49-F238E27FC236}">
                <a16:creationId xmlns:a16="http://schemas.microsoft.com/office/drawing/2014/main" id="{7A1FD2AD-346D-8D6E-082E-C771925C0DA8}"/>
              </a:ext>
            </a:extLst>
          </p:cNvPr>
          <p:cNvSpPr/>
          <p:nvPr/>
        </p:nvSpPr>
        <p:spPr>
          <a:xfrm>
            <a:off x="5376598" y="4817782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308" name="Rounded Rectangle 1307">
            <a:extLst>
              <a:ext uri="{FF2B5EF4-FFF2-40B4-BE49-F238E27FC236}">
                <a16:creationId xmlns:a16="http://schemas.microsoft.com/office/drawing/2014/main" id="{0122D83C-1470-C335-4118-FD6569969C3F}"/>
              </a:ext>
            </a:extLst>
          </p:cNvPr>
          <p:cNvSpPr/>
          <p:nvPr/>
        </p:nvSpPr>
        <p:spPr>
          <a:xfrm>
            <a:off x="5368753" y="4932402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LWG</a:t>
            </a:r>
          </a:p>
        </p:txBody>
      </p:sp>
      <p:sp>
        <p:nvSpPr>
          <p:cNvPr id="1309" name="Rounded Rectangle 1308">
            <a:extLst>
              <a:ext uri="{FF2B5EF4-FFF2-40B4-BE49-F238E27FC236}">
                <a16:creationId xmlns:a16="http://schemas.microsoft.com/office/drawing/2014/main" id="{E30AEA8E-5DAE-197C-E562-052429F2D4D9}"/>
              </a:ext>
            </a:extLst>
          </p:cNvPr>
          <p:cNvSpPr/>
          <p:nvPr/>
        </p:nvSpPr>
        <p:spPr>
          <a:xfrm>
            <a:off x="7106900" y="4823115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310" name="Rounded Rectangle 1309">
            <a:extLst>
              <a:ext uri="{FF2B5EF4-FFF2-40B4-BE49-F238E27FC236}">
                <a16:creationId xmlns:a16="http://schemas.microsoft.com/office/drawing/2014/main" id="{D0EE1A67-AB0C-0EFC-C2E8-BA364AB0EC50}"/>
              </a:ext>
            </a:extLst>
          </p:cNvPr>
          <p:cNvSpPr/>
          <p:nvPr/>
        </p:nvSpPr>
        <p:spPr>
          <a:xfrm>
            <a:off x="7114041" y="4929229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311" name="Rounded Rectangle 1310">
            <a:extLst>
              <a:ext uri="{FF2B5EF4-FFF2-40B4-BE49-F238E27FC236}">
                <a16:creationId xmlns:a16="http://schemas.microsoft.com/office/drawing/2014/main" id="{42D8987D-8D43-5738-B36A-B3EFA37D05AB}"/>
              </a:ext>
            </a:extLst>
          </p:cNvPr>
          <p:cNvSpPr/>
          <p:nvPr/>
        </p:nvSpPr>
        <p:spPr>
          <a:xfrm>
            <a:off x="6596983" y="4830424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312" name="Rounded Rectangle 1311">
            <a:extLst>
              <a:ext uri="{FF2B5EF4-FFF2-40B4-BE49-F238E27FC236}">
                <a16:creationId xmlns:a16="http://schemas.microsoft.com/office/drawing/2014/main" id="{AD321257-56F9-D137-AF60-010ED300933C}"/>
              </a:ext>
            </a:extLst>
          </p:cNvPr>
          <p:cNvSpPr/>
          <p:nvPr/>
        </p:nvSpPr>
        <p:spPr>
          <a:xfrm>
            <a:off x="6589138" y="4945044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VAP</a:t>
            </a:r>
          </a:p>
        </p:txBody>
      </p:sp>
      <p:sp>
        <p:nvSpPr>
          <p:cNvPr id="1313" name="Rounded Rectangle 1312">
            <a:extLst>
              <a:ext uri="{FF2B5EF4-FFF2-40B4-BE49-F238E27FC236}">
                <a16:creationId xmlns:a16="http://schemas.microsoft.com/office/drawing/2014/main" id="{52F6AE45-95A6-7751-0E6A-734C56E8168B}"/>
              </a:ext>
            </a:extLst>
          </p:cNvPr>
          <p:cNvSpPr/>
          <p:nvPr/>
        </p:nvSpPr>
        <p:spPr>
          <a:xfrm>
            <a:off x="7116970" y="3962328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314" name="Rounded Rectangle 1313">
            <a:extLst>
              <a:ext uri="{FF2B5EF4-FFF2-40B4-BE49-F238E27FC236}">
                <a16:creationId xmlns:a16="http://schemas.microsoft.com/office/drawing/2014/main" id="{348D41E9-BB20-2486-7431-8C744CAEE64A}"/>
              </a:ext>
            </a:extLst>
          </p:cNvPr>
          <p:cNvSpPr/>
          <p:nvPr/>
        </p:nvSpPr>
        <p:spPr>
          <a:xfrm>
            <a:off x="7124110" y="4068442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315" name="Rounded Rectangle 1314">
            <a:extLst>
              <a:ext uri="{FF2B5EF4-FFF2-40B4-BE49-F238E27FC236}">
                <a16:creationId xmlns:a16="http://schemas.microsoft.com/office/drawing/2014/main" id="{B206B924-1DEA-1E40-C8A1-C0EE70CCF530}"/>
              </a:ext>
            </a:extLst>
          </p:cNvPr>
          <p:cNvSpPr/>
          <p:nvPr/>
        </p:nvSpPr>
        <p:spPr>
          <a:xfrm>
            <a:off x="6607053" y="3950139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316" name="Rounded Rectangle 1315">
            <a:extLst>
              <a:ext uri="{FF2B5EF4-FFF2-40B4-BE49-F238E27FC236}">
                <a16:creationId xmlns:a16="http://schemas.microsoft.com/office/drawing/2014/main" id="{911CCD61-351D-3551-690F-4AF935E78D7F}"/>
              </a:ext>
            </a:extLst>
          </p:cNvPr>
          <p:cNvSpPr/>
          <p:nvPr/>
        </p:nvSpPr>
        <p:spPr>
          <a:xfrm>
            <a:off x="6599208" y="4064759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VAP</a:t>
            </a:r>
          </a:p>
        </p:txBody>
      </p:sp>
      <p:sp>
        <p:nvSpPr>
          <p:cNvPr id="1327" name="Rounded Rectangle 1326">
            <a:extLst>
              <a:ext uri="{FF2B5EF4-FFF2-40B4-BE49-F238E27FC236}">
                <a16:creationId xmlns:a16="http://schemas.microsoft.com/office/drawing/2014/main" id="{4EFED181-46A9-FDEA-1BF6-E483332EF6A5}"/>
              </a:ext>
            </a:extLst>
          </p:cNvPr>
          <p:cNvSpPr/>
          <p:nvPr/>
        </p:nvSpPr>
        <p:spPr>
          <a:xfrm>
            <a:off x="5881173" y="3930271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328" name="Rounded Rectangle 1327">
            <a:extLst>
              <a:ext uri="{FF2B5EF4-FFF2-40B4-BE49-F238E27FC236}">
                <a16:creationId xmlns:a16="http://schemas.microsoft.com/office/drawing/2014/main" id="{B7EA58F0-F24A-9483-7B04-F1EC7CE471F7}"/>
              </a:ext>
            </a:extLst>
          </p:cNvPr>
          <p:cNvSpPr/>
          <p:nvPr/>
        </p:nvSpPr>
        <p:spPr>
          <a:xfrm>
            <a:off x="5888313" y="4036385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329" name="Rounded Rectangle 1328">
            <a:extLst>
              <a:ext uri="{FF2B5EF4-FFF2-40B4-BE49-F238E27FC236}">
                <a16:creationId xmlns:a16="http://schemas.microsoft.com/office/drawing/2014/main" id="{C54A27E9-F798-2AAC-DD88-00DC87DCC19D}"/>
              </a:ext>
            </a:extLst>
          </p:cNvPr>
          <p:cNvSpPr/>
          <p:nvPr/>
        </p:nvSpPr>
        <p:spPr>
          <a:xfrm>
            <a:off x="5371255" y="3937579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330" name="Rounded Rectangle 1329">
            <a:extLst>
              <a:ext uri="{FF2B5EF4-FFF2-40B4-BE49-F238E27FC236}">
                <a16:creationId xmlns:a16="http://schemas.microsoft.com/office/drawing/2014/main" id="{C0FED6B1-008C-88E2-704D-4C83655EBAEF}"/>
              </a:ext>
            </a:extLst>
          </p:cNvPr>
          <p:cNvSpPr/>
          <p:nvPr/>
        </p:nvSpPr>
        <p:spPr>
          <a:xfrm>
            <a:off x="5363410" y="4052199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VAP</a:t>
            </a:r>
          </a:p>
        </p:txBody>
      </p:sp>
      <p:sp>
        <p:nvSpPr>
          <p:cNvPr id="1331" name="Rounded Rectangle 1330">
            <a:extLst>
              <a:ext uri="{FF2B5EF4-FFF2-40B4-BE49-F238E27FC236}">
                <a16:creationId xmlns:a16="http://schemas.microsoft.com/office/drawing/2014/main" id="{0A776ED8-8231-82B6-37D5-0A746657B2B7}"/>
              </a:ext>
            </a:extLst>
          </p:cNvPr>
          <p:cNvSpPr/>
          <p:nvPr/>
        </p:nvSpPr>
        <p:spPr>
          <a:xfrm>
            <a:off x="5904498" y="2986947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332" name="Rounded Rectangle 1331">
            <a:extLst>
              <a:ext uri="{FF2B5EF4-FFF2-40B4-BE49-F238E27FC236}">
                <a16:creationId xmlns:a16="http://schemas.microsoft.com/office/drawing/2014/main" id="{836F71B5-AB7F-4B03-4C77-9DE7589E7259}"/>
              </a:ext>
            </a:extLst>
          </p:cNvPr>
          <p:cNvSpPr/>
          <p:nvPr/>
        </p:nvSpPr>
        <p:spPr>
          <a:xfrm>
            <a:off x="5911638" y="3093062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333" name="Rounded Rectangle 1332">
            <a:extLst>
              <a:ext uri="{FF2B5EF4-FFF2-40B4-BE49-F238E27FC236}">
                <a16:creationId xmlns:a16="http://schemas.microsoft.com/office/drawing/2014/main" id="{E693F808-47FF-54D3-F5F2-6F860C1E3F62}"/>
              </a:ext>
            </a:extLst>
          </p:cNvPr>
          <p:cNvSpPr/>
          <p:nvPr/>
        </p:nvSpPr>
        <p:spPr>
          <a:xfrm>
            <a:off x="5394580" y="2994256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334" name="Rounded Rectangle 1333">
            <a:extLst>
              <a:ext uri="{FF2B5EF4-FFF2-40B4-BE49-F238E27FC236}">
                <a16:creationId xmlns:a16="http://schemas.microsoft.com/office/drawing/2014/main" id="{3838C393-21A8-8CC3-6A92-5D34F1A86190}"/>
              </a:ext>
            </a:extLst>
          </p:cNvPr>
          <p:cNvSpPr/>
          <p:nvPr/>
        </p:nvSpPr>
        <p:spPr>
          <a:xfrm>
            <a:off x="5386735" y="3108876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VAP</a:t>
            </a:r>
          </a:p>
        </p:txBody>
      </p:sp>
      <p:cxnSp>
        <p:nvCxnSpPr>
          <p:cNvPr id="1338" name="Straight Connector 26">
            <a:extLst>
              <a:ext uri="{FF2B5EF4-FFF2-40B4-BE49-F238E27FC236}">
                <a16:creationId xmlns:a16="http://schemas.microsoft.com/office/drawing/2014/main" id="{36D34BC0-E983-4A9A-4493-90F4AF9236CA}"/>
              </a:ext>
            </a:extLst>
          </p:cNvPr>
          <p:cNvCxnSpPr>
            <a:cxnSpLocks/>
            <a:stCxn id="446" idx="3"/>
            <a:endCxn id="457" idx="2"/>
          </p:cNvCxnSpPr>
          <p:nvPr/>
        </p:nvCxnSpPr>
        <p:spPr>
          <a:xfrm flipV="1">
            <a:off x="6109147" y="2378963"/>
            <a:ext cx="414705" cy="16838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1" name="Rounded Rectangle 1340">
            <a:extLst>
              <a:ext uri="{FF2B5EF4-FFF2-40B4-BE49-F238E27FC236}">
                <a16:creationId xmlns:a16="http://schemas.microsoft.com/office/drawing/2014/main" id="{1F225D8E-8EAE-6CD0-458D-193305FB3810}"/>
              </a:ext>
            </a:extLst>
          </p:cNvPr>
          <p:cNvSpPr/>
          <p:nvPr/>
        </p:nvSpPr>
        <p:spPr>
          <a:xfrm>
            <a:off x="5898067" y="1919460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342" name="Rounded Rectangle 1341">
            <a:extLst>
              <a:ext uri="{FF2B5EF4-FFF2-40B4-BE49-F238E27FC236}">
                <a16:creationId xmlns:a16="http://schemas.microsoft.com/office/drawing/2014/main" id="{73F5BC50-6A5C-7DF0-041E-8963BA74FCA2}"/>
              </a:ext>
            </a:extLst>
          </p:cNvPr>
          <p:cNvSpPr/>
          <p:nvPr/>
        </p:nvSpPr>
        <p:spPr>
          <a:xfrm>
            <a:off x="5901443" y="2029932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343" name="Rounded Rectangle 1342">
            <a:extLst>
              <a:ext uri="{FF2B5EF4-FFF2-40B4-BE49-F238E27FC236}">
                <a16:creationId xmlns:a16="http://schemas.microsoft.com/office/drawing/2014/main" id="{27E4AD62-FA56-7889-6C2A-7BEBE356F9FB}"/>
              </a:ext>
            </a:extLst>
          </p:cNvPr>
          <p:cNvSpPr/>
          <p:nvPr/>
        </p:nvSpPr>
        <p:spPr>
          <a:xfrm>
            <a:off x="5381485" y="1920092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344" name="Rounded Rectangle 1343">
            <a:extLst>
              <a:ext uri="{FF2B5EF4-FFF2-40B4-BE49-F238E27FC236}">
                <a16:creationId xmlns:a16="http://schemas.microsoft.com/office/drawing/2014/main" id="{A22D5191-2352-4A03-FDA2-971CB2AC8779}"/>
              </a:ext>
            </a:extLst>
          </p:cNvPr>
          <p:cNvSpPr/>
          <p:nvPr/>
        </p:nvSpPr>
        <p:spPr>
          <a:xfrm>
            <a:off x="5389583" y="2028287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VAP</a:t>
            </a:r>
          </a:p>
        </p:txBody>
      </p:sp>
      <p:sp>
        <p:nvSpPr>
          <p:cNvPr id="1349" name="Rounded Rectangle 1348">
            <a:extLst>
              <a:ext uri="{FF2B5EF4-FFF2-40B4-BE49-F238E27FC236}">
                <a16:creationId xmlns:a16="http://schemas.microsoft.com/office/drawing/2014/main" id="{2A4882CD-BF57-D6E4-88E7-49AB1FEAFCF7}"/>
              </a:ext>
            </a:extLst>
          </p:cNvPr>
          <p:cNvSpPr/>
          <p:nvPr/>
        </p:nvSpPr>
        <p:spPr>
          <a:xfrm>
            <a:off x="5359745" y="1566426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374" name="Rounded Rectangle 1373">
            <a:extLst>
              <a:ext uri="{FF2B5EF4-FFF2-40B4-BE49-F238E27FC236}">
                <a16:creationId xmlns:a16="http://schemas.microsoft.com/office/drawing/2014/main" id="{AEB759F5-E7B7-949D-C5E0-B3649B57F1DA}"/>
              </a:ext>
            </a:extLst>
          </p:cNvPr>
          <p:cNvSpPr/>
          <p:nvPr/>
        </p:nvSpPr>
        <p:spPr>
          <a:xfrm>
            <a:off x="5385515" y="2439015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375" name="Rounded Rectangle 1374">
            <a:extLst>
              <a:ext uri="{FF2B5EF4-FFF2-40B4-BE49-F238E27FC236}">
                <a16:creationId xmlns:a16="http://schemas.microsoft.com/office/drawing/2014/main" id="{73815678-485F-4106-24FC-0DC63AEA6D62}"/>
              </a:ext>
            </a:extLst>
          </p:cNvPr>
          <p:cNvSpPr/>
          <p:nvPr/>
        </p:nvSpPr>
        <p:spPr>
          <a:xfrm>
            <a:off x="5372766" y="3576424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376" name="Rounded Rectangle 1375">
            <a:extLst>
              <a:ext uri="{FF2B5EF4-FFF2-40B4-BE49-F238E27FC236}">
                <a16:creationId xmlns:a16="http://schemas.microsoft.com/office/drawing/2014/main" id="{10A11303-11DC-7254-AE8B-D005D81BD383}"/>
              </a:ext>
            </a:extLst>
          </p:cNvPr>
          <p:cNvSpPr/>
          <p:nvPr/>
        </p:nvSpPr>
        <p:spPr>
          <a:xfrm>
            <a:off x="5385758" y="4479772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377" name="Rounded Rectangle 1376">
            <a:extLst>
              <a:ext uri="{FF2B5EF4-FFF2-40B4-BE49-F238E27FC236}">
                <a16:creationId xmlns:a16="http://schemas.microsoft.com/office/drawing/2014/main" id="{FA1D1578-599B-75FD-78C4-6577ADBF626E}"/>
              </a:ext>
            </a:extLst>
          </p:cNvPr>
          <p:cNvSpPr/>
          <p:nvPr/>
        </p:nvSpPr>
        <p:spPr>
          <a:xfrm>
            <a:off x="6617028" y="4501785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396" name="Rounded Rectangle 1395">
            <a:extLst>
              <a:ext uri="{FF2B5EF4-FFF2-40B4-BE49-F238E27FC236}">
                <a16:creationId xmlns:a16="http://schemas.microsoft.com/office/drawing/2014/main" id="{F0C00D6F-F7ED-F733-C60C-7A99FD1E7764}"/>
              </a:ext>
            </a:extLst>
          </p:cNvPr>
          <p:cNvSpPr/>
          <p:nvPr/>
        </p:nvSpPr>
        <p:spPr>
          <a:xfrm>
            <a:off x="7129414" y="982873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397" name="Rounded Rectangle 1396">
            <a:extLst>
              <a:ext uri="{FF2B5EF4-FFF2-40B4-BE49-F238E27FC236}">
                <a16:creationId xmlns:a16="http://schemas.microsoft.com/office/drawing/2014/main" id="{18AFA2F2-7419-0169-5927-8C8E2F40C60D}"/>
              </a:ext>
            </a:extLst>
          </p:cNvPr>
          <p:cNvSpPr/>
          <p:nvPr/>
        </p:nvSpPr>
        <p:spPr>
          <a:xfrm>
            <a:off x="7132790" y="1093344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398" name="Rounded Rectangle 1397">
            <a:extLst>
              <a:ext uri="{FF2B5EF4-FFF2-40B4-BE49-F238E27FC236}">
                <a16:creationId xmlns:a16="http://schemas.microsoft.com/office/drawing/2014/main" id="{AEE300A6-73EF-E3F2-79F2-BBC49C237339}"/>
              </a:ext>
            </a:extLst>
          </p:cNvPr>
          <p:cNvSpPr/>
          <p:nvPr/>
        </p:nvSpPr>
        <p:spPr>
          <a:xfrm>
            <a:off x="6612832" y="978630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399" name="Rounded Rectangle 1398">
            <a:extLst>
              <a:ext uri="{FF2B5EF4-FFF2-40B4-BE49-F238E27FC236}">
                <a16:creationId xmlns:a16="http://schemas.microsoft.com/office/drawing/2014/main" id="{83240E4E-9223-2FAD-5AD9-2D213D8BC02B}"/>
              </a:ext>
            </a:extLst>
          </p:cNvPr>
          <p:cNvSpPr/>
          <p:nvPr/>
        </p:nvSpPr>
        <p:spPr>
          <a:xfrm>
            <a:off x="6620930" y="1086826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VAP</a:t>
            </a:r>
          </a:p>
        </p:txBody>
      </p:sp>
      <p:sp>
        <p:nvSpPr>
          <p:cNvPr id="1400" name="Rounded Rectangle 1399">
            <a:extLst>
              <a:ext uri="{FF2B5EF4-FFF2-40B4-BE49-F238E27FC236}">
                <a16:creationId xmlns:a16="http://schemas.microsoft.com/office/drawing/2014/main" id="{482CD051-7A41-AB74-E73F-DCC8A6B7EB8A}"/>
              </a:ext>
            </a:extLst>
          </p:cNvPr>
          <p:cNvSpPr/>
          <p:nvPr/>
        </p:nvSpPr>
        <p:spPr>
          <a:xfrm>
            <a:off x="6628495" y="606786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401" name="Rounded Rectangle 1400">
            <a:extLst>
              <a:ext uri="{FF2B5EF4-FFF2-40B4-BE49-F238E27FC236}">
                <a16:creationId xmlns:a16="http://schemas.microsoft.com/office/drawing/2014/main" id="{4EE98A77-4484-3C25-E839-3CFE7E6EE4AC}"/>
              </a:ext>
            </a:extLst>
          </p:cNvPr>
          <p:cNvSpPr/>
          <p:nvPr/>
        </p:nvSpPr>
        <p:spPr>
          <a:xfrm>
            <a:off x="7139704" y="2856060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402" name="Rounded Rectangle 1401">
            <a:extLst>
              <a:ext uri="{FF2B5EF4-FFF2-40B4-BE49-F238E27FC236}">
                <a16:creationId xmlns:a16="http://schemas.microsoft.com/office/drawing/2014/main" id="{DCD276DB-C034-8408-1E21-8917BF582AEF}"/>
              </a:ext>
            </a:extLst>
          </p:cNvPr>
          <p:cNvSpPr/>
          <p:nvPr/>
        </p:nvSpPr>
        <p:spPr>
          <a:xfrm>
            <a:off x="7143080" y="2966532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403" name="Rounded Rectangle 1402">
            <a:extLst>
              <a:ext uri="{FF2B5EF4-FFF2-40B4-BE49-F238E27FC236}">
                <a16:creationId xmlns:a16="http://schemas.microsoft.com/office/drawing/2014/main" id="{282943F0-4967-528B-9AB1-3F900FC2F786}"/>
              </a:ext>
            </a:extLst>
          </p:cNvPr>
          <p:cNvSpPr/>
          <p:nvPr/>
        </p:nvSpPr>
        <p:spPr>
          <a:xfrm>
            <a:off x="6567500" y="2848085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404" name="Rounded Rectangle 1403">
            <a:extLst>
              <a:ext uri="{FF2B5EF4-FFF2-40B4-BE49-F238E27FC236}">
                <a16:creationId xmlns:a16="http://schemas.microsoft.com/office/drawing/2014/main" id="{215921B8-F8DF-F944-AFFD-CF6F517E98CA}"/>
              </a:ext>
            </a:extLst>
          </p:cNvPr>
          <p:cNvSpPr/>
          <p:nvPr/>
        </p:nvSpPr>
        <p:spPr>
          <a:xfrm>
            <a:off x="6575598" y="2956281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VAP</a:t>
            </a:r>
          </a:p>
        </p:txBody>
      </p:sp>
      <p:sp>
        <p:nvSpPr>
          <p:cNvPr id="1405" name="Rounded Rectangle 1404">
            <a:extLst>
              <a:ext uri="{FF2B5EF4-FFF2-40B4-BE49-F238E27FC236}">
                <a16:creationId xmlns:a16="http://schemas.microsoft.com/office/drawing/2014/main" id="{93F77BC1-78DC-30F8-95CC-15E1AF261124}"/>
              </a:ext>
            </a:extLst>
          </p:cNvPr>
          <p:cNvSpPr/>
          <p:nvPr/>
        </p:nvSpPr>
        <p:spPr>
          <a:xfrm>
            <a:off x="6601330" y="1814795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406" name="Rounded Rectangle 1405">
            <a:extLst>
              <a:ext uri="{FF2B5EF4-FFF2-40B4-BE49-F238E27FC236}">
                <a16:creationId xmlns:a16="http://schemas.microsoft.com/office/drawing/2014/main" id="{6517CD3B-1A87-9E42-471C-71A36D28EEEB}"/>
              </a:ext>
            </a:extLst>
          </p:cNvPr>
          <p:cNvSpPr/>
          <p:nvPr/>
        </p:nvSpPr>
        <p:spPr>
          <a:xfrm>
            <a:off x="8410635" y="3130024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407" name="Rounded Rectangle 1406">
            <a:extLst>
              <a:ext uri="{FF2B5EF4-FFF2-40B4-BE49-F238E27FC236}">
                <a16:creationId xmlns:a16="http://schemas.microsoft.com/office/drawing/2014/main" id="{D763388A-B0CF-137A-641B-98AF19637935}"/>
              </a:ext>
            </a:extLst>
          </p:cNvPr>
          <p:cNvSpPr/>
          <p:nvPr/>
        </p:nvSpPr>
        <p:spPr>
          <a:xfrm>
            <a:off x="8670421" y="3133814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408" name="Rounded Rectangle 1407">
            <a:extLst>
              <a:ext uri="{FF2B5EF4-FFF2-40B4-BE49-F238E27FC236}">
                <a16:creationId xmlns:a16="http://schemas.microsoft.com/office/drawing/2014/main" id="{A290F077-4E2B-06F1-ABB4-79999028AF0C}"/>
              </a:ext>
            </a:extLst>
          </p:cNvPr>
          <p:cNvSpPr/>
          <p:nvPr/>
        </p:nvSpPr>
        <p:spPr>
          <a:xfrm>
            <a:off x="7862012" y="4788992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409" name="Rounded Rectangle 1408">
            <a:extLst>
              <a:ext uri="{FF2B5EF4-FFF2-40B4-BE49-F238E27FC236}">
                <a16:creationId xmlns:a16="http://schemas.microsoft.com/office/drawing/2014/main" id="{989CC3F7-F325-C9FD-BF71-83B727925FC8}"/>
              </a:ext>
            </a:extLst>
          </p:cNvPr>
          <p:cNvSpPr/>
          <p:nvPr/>
        </p:nvSpPr>
        <p:spPr>
          <a:xfrm>
            <a:off x="7862012" y="4913119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IFRS</a:t>
            </a:r>
          </a:p>
        </p:txBody>
      </p:sp>
      <p:sp>
        <p:nvSpPr>
          <p:cNvPr id="1410" name="Rounded Rectangle 1409">
            <a:extLst>
              <a:ext uri="{FF2B5EF4-FFF2-40B4-BE49-F238E27FC236}">
                <a16:creationId xmlns:a16="http://schemas.microsoft.com/office/drawing/2014/main" id="{C32E3039-8E49-1C91-326E-0E184C9FE6AE}"/>
              </a:ext>
            </a:extLst>
          </p:cNvPr>
          <p:cNvSpPr/>
          <p:nvPr/>
        </p:nvSpPr>
        <p:spPr>
          <a:xfrm>
            <a:off x="7887103" y="3188732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421" name="Rounded Rectangle 1420">
            <a:extLst>
              <a:ext uri="{FF2B5EF4-FFF2-40B4-BE49-F238E27FC236}">
                <a16:creationId xmlns:a16="http://schemas.microsoft.com/office/drawing/2014/main" id="{1CF7210A-1F21-A63B-FAEE-24236277E050}"/>
              </a:ext>
            </a:extLst>
          </p:cNvPr>
          <p:cNvSpPr/>
          <p:nvPr/>
        </p:nvSpPr>
        <p:spPr>
          <a:xfrm>
            <a:off x="6604279" y="3644244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448" name="Rounded Rectangle 1447">
            <a:extLst>
              <a:ext uri="{FF2B5EF4-FFF2-40B4-BE49-F238E27FC236}">
                <a16:creationId xmlns:a16="http://schemas.microsoft.com/office/drawing/2014/main" id="{FFF4FE7E-113D-97AB-E6E1-050AA9ABCB4F}"/>
              </a:ext>
            </a:extLst>
          </p:cNvPr>
          <p:cNvSpPr/>
          <p:nvPr/>
        </p:nvSpPr>
        <p:spPr>
          <a:xfrm>
            <a:off x="8469753" y="2969774"/>
            <a:ext cx="383931" cy="9980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Registration</a:t>
            </a:r>
          </a:p>
        </p:txBody>
      </p:sp>
      <p:sp>
        <p:nvSpPr>
          <p:cNvPr id="1456" name="Triangle 1455">
            <a:extLst>
              <a:ext uri="{FF2B5EF4-FFF2-40B4-BE49-F238E27FC236}">
                <a16:creationId xmlns:a16="http://schemas.microsoft.com/office/drawing/2014/main" id="{D6F3ABB3-4894-1E56-C76E-60A26E28768E}"/>
              </a:ext>
            </a:extLst>
          </p:cNvPr>
          <p:cNvSpPr/>
          <p:nvPr/>
        </p:nvSpPr>
        <p:spPr>
          <a:xfrm>
            <a:off x="2483366" y="648011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M1</a:t>
            </a:r>
          </a:p>
        </p:txBody>
      </p:sp>
      <p:sp>
        <p:nvSpPr>
          <p:cNvPr id="1457" name="Triangle 1456">
            <a:extLst>
              <a:ext uri="{FF2B5EF4-FFF2-40B4-BE49-F238E27FC236}">
                <a16:creationId xmlns:a16="http://schemas.microsoft.com/office/drawing/2014/main" id="{69AAFC00-CADC-BE6D-3A43-71822E2B1197}"/>
              </a:ext>
            </a:extLst>
          </p:cNvPr>
          <p:cNvSpPr/>
          <p:nvPr/>
        </p:nvSpPr>
        <p:spPr>
          <a:xfrm>
            <a:off x="2450558" y="1804291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M2</a:t>
            </a:r>
          </a:p>
        </p:txBody>
      </p:sp>
      <p:sp>
        <p:nvSpPr>
          <p:cNvPr id="1458" name="Triangle 1457">
            <a:extLst>
              <a:ext uri="{FF2B5EF4-FFF2-40B4-BE49-F238E27FC236}">
                <a16:creationId xmlns:a16="http://schemas.microsoft.com/office/drawing/2014/main" id="{0D37B1BE-7622-507B-5D6C-F20065EDACBC}"/>
              </a:ext>
            </a:extLst>
          </p:cNvPr>
          <p:cNvSpPr/>
          <p:nvPr/>
        </p:nvSpPr>
        <p:spPr>
          <a:xfrm>
            <a:off x="2657197" y="1980499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M3</a:t>
            </a:r>
          </a:p>
        </p:txBody>
      </p:sp>
      <p:sp>
        <p:nvSpPr>
          <p:cNvPr id="1459" name="Triangle 1458">
            <a:extLst>
              <a:ext uri="{FF2B5EF4-FFF2-40B4-BE49-F238E27FC236}">
                <a16:creationId xmlns:a16="http://schemas.microsoft.com/office/drawing/2014/main" id="{25EB6BA9-A014-F798-F690-667F27139D44}"/>
              </a:ext>
            </a:extLst>
          </p:cNvPr>
          <p:cNvSpPr/>
          <p:nvPr/>
        </p:nvSpPr>
        <p:spPr>
          <a:xfrm>
            <a:off x="2435760" y="2156523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M4</a:t>
            </a:r>
          </a:p>
        </p:txBody>
      </p:sp>
      <p:sp>
        <p:nvSpPr>
          <p:cNvPr id="1460" name="Triangle 1459">
            <a:extLst>
              <a:ext uri="{FF2B5EF4-FFF2-40B4-BE49-F238E27FC236}">
                <a16:creationId xmlns:a16="http://schemas.microsoft.com/office/drawing/2014/main" id="{072D03D5-FEBD-99C1-B79B-F10179A47D01}"/>
              </a:ext>
            </a:extLst>
          </p:cNvPr>
          <p:cNvSpPr/>
          <p:nvPr/>
        </p:nvSpPr>
        <p:spPr>
          <a:xfrm>
            <a:off x="2579140" y="2350787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M5</a:t>
            </a:r>
          </a:p>
        </p:txBody>
      </p:sp>
      <p:sp>
        <p:nvSpPr>
          <p:cNvPr id="1461" name="Triangle 1460">
            <a:extLst>
              <a:ext uri="{FF2B5EF4-FFF2-40B4-BE49-F238E27FC236}">
                <a16:creationId xmlns:a16="http://schemas.microsoft.com/office/drawing/2014/main" id="{B6589CD7-638B-3038-6940-94A9FB0C17E8}"/>
              </a:ext>
            </a:extLst>
          </p:cNvPr>
          <p:cNvSpPr/>
          <p:nvPr/>
        </p:nvSpPr>
        <p:spPr>
          <a:xfrm>
            <a:off x="2519813" y="3545982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M6</a:t>
            </a:r>
          </a:p>
        </p:txBody>
      </p:sp>
      <p:sp>
        <p:nvSpPr>
          <p:cNvPr id="1462" name="Triangle 1461">
            <a:extLst>
              <a:ext uri="{FF2B5EF4-FFF2-40B4-BE49-F238E27FC236}">
                <a16:creationId xmlns:a16="http://schemas.microsoft.com/office/drawing/2014/main" id="{835D12CE-84DD-4C30-C89F-09BE926DA0CB}"/>
              </a:ext>
            </a:extLst>
          </p:cNvPr>
          <p:cNvSpPr/>
          <p:nvPr/>
        </p:nvSpPr>
        <p:spPr>
          <a:xfrm>
            <a:off x="4595520" y="645271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M13</a:t>
            </a:r>
          </a:p>
        </p:txBody>
      </p:sp>
      <p:sp>
        <p:nvSpPr>
          <p:cNvPr id="1464" name="Triangle 1463">
            <a:extLst>
              <a:ext uri="{FF2B5EF4-FFF2-40B4-BE49-F238E27FC236}">
                <a16:creationId xmlns:a16="http://schemas.microsoft.com/office/drawing/2014/main" id="{051A6CD3-913A-475F-AC43-ADC616D2D9A3}"/>
              </a:ext>
            </a:extLst>
          </p:cNvPr>
          <p:cNvSpPr/>
          <p:nvPr/>
        </p:nvSpPr>
        <p:spPr>
          <a:xfrm>
            <a:off x="4771357" y="766953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M14</a:t>
            </a:r>
          </a:p>
        </p:txBody>
      </p:sp>
      <p:sp>
        <p:nvSpPr>
          <p:cNvPr id="1468" name="Triangle 1467">
            <a:extLst>
              <a:ext uri="{FF2B5EF4-FFF2-40B4-BE49-F238E27FC236}">
                <a16:creationId xmlns:a16="http://schemas.microsoft.com/office/drawing/2014/main" id="{08637181-EE8D-001D-A8C1-B4BAF71CD5F1}"/>
              </a:ext>
            </a:extLst>
          </p:cNvPr>
          <p:cNvSpPr/>
          <p:nvPr/>
        </p:nvSpPr>
        <p:spPr>
          <a:xfrm>
            <a:off x="4650615" y="1749750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M15</a:t>
            </a:r>
          </a:p>
        </p:txBody>
      </p:sp>
      <p:sp>
        <p:nvSpPr>
          <p:cNvPr id="1472" name="Triangle 1471">
            <a:extLst>
              <a:ext uri="{FF2B5EF4-FFF2-40B4-BE49-F238E27FC236}">
                <a16:creationId xmlns:a16="http://schemas.microsoft.com/office/drawing/2014/main" id="{2427F777-AFF2-8FDD-55CD-AAB128391387}"/>
              </a:ext>
            </a:extLst>
          </p:cNvPr>
          <p:cNvSpPr/>
          <p:nvPr/>
        </p:nvSpPr>
        <p:spPr>
          <a:xfrm>
            <a:off x="4652576" y="2023576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M16</a:t>
            </a:r>
          </a:p>
        </p:txBody>
      </p:sp>
      <p:sp>
        <p:nvSpPr>
          <p:cNvPr id="1473" name="Triangle 1472">
            <a:extLst>
              <a:ext uri="{FF2B5EF4-FFF2-40B4-BE49-F238E27FC236}">
                <a16:creationId xmlns:a16="http://schemas.microsoft.com/office/drawing/2014/main" id="{96D42793-05D4-3786-8B1B-25D630BF7D2A}"/>
              </a:ext>
            </a:extLst>
          </p:cNvPr>
          <p:cNvSpPr/>
          <p:nvPr/>
        </p:nvSpPr>
        <p:spPr>
          <a:xfrm>
            <a:off x="4654536" y="2297401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M17</a:t>
            </a:r>
          </a:p>
        </p:txBody>
      </p:sp>
      <p:sp>
        <p:nvSpPr>
          <p:cNvPr id="1474" name="Triangle 1473">
            <a:extLst>
              <a:ext uri="{FF2B5EF4-FFF2-40B4-BE49-F238E27FC236}">
                <a16:creationId xmlns:a16="http://schemas.microsoft.com/office/drawing/2014/main" id="{AB574402-4978-50A2-7531-24FF602739AE}"/>
              </a:ext>
            </a:extLst>
          </p:cNvPr>
          <p:cNvSpPr/>
          <p:nvPr/>
        </p:nvSpPr>
        <p:spPr>
          <a:xfrm>
            <a:off x="4652491" y="2530111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M18</a:t>
            </a:r>
          </a:p>
        </p:txBody>
      </p:sp>
      <p:sp>
        <p:nvSpPr>
          <p:cNvPr id="1475" name="Triangle 1474">
            <a:extLst>
              <a:ext uri="{FF2B5EF4-FFF2-40B4-BE49-F238E27FC236}">
                <a16:creationId xmlns:a16="http://schemas.microsoft.com/office/drawing/2014/main" id="{9080468B-705A-7746-F4A4-A2B42C068252}"/>
              </a:ext>
            </a:extLst>
          </p:cNvPr>
          <p:cNvSpPr/>
          <p:nvPr/>
        </p:nvSpPr>
        <p:spPr>
          <a:xfrm>
            <a:off x="4668230" y="3575386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M19</a:t>
            </a:r>
          </a:p>
        </p:txBody>
      </p:sp>
      <p:sp>
        <p:nvSpPr>
          <p:cNvPr id="1477" name="Triangle 1476">
            <a:extLst>
              <a:ext uri="{FF2B5EF4-FFF2-40B4-BE49-F238E27FC236}">
                <a16:creationId xmlns:a16="http://schemas.microsoft.com/office/drawing/2014/main" id="{712181A1-9683-7750-DDF6-28C142705F4A}"/>
              </a:ext>
            </a:extLst>
          </p:cNvPr>
          <p:cNvSpPr/>
          <p:nvPr/>
        </p:nvSpPr>
        <p:spPr>
          <a:xfrm>
            <a:off x="3602690" y="4592381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M20</a:t>
            </a:r>
          </a:p>
        </p:txBody>
      </p:sp>
      <p:sp>
        <p:nvSpPr>
          <p:cNvPr id="1478" name="Triangle 1477">
            <a:extLst>
              <a:ext uri="{FF2B5EF4-FFF2-40B4-BE49-F238E27FC236}">
                <a16:creationId xmlns:a16="http://schemas.microsoft.com/office/drawing/2014/main" id="{A4B6E90E-633A-269F-FB1B-8DE9461EF518}"/>
              </a:ext>
            </a:extLst>
          </p:cNvPr>
          <p:cNvSpPr/>
          <p:nvPr/>
        </p:nvSpPr>
        <p:spPr>
          <a:xfrm>
            <a:off x="4675180" y="4577758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M21</a:t>
            </a:r>
          </a:p>
        </p:txBody>
      </p:sp>
      <p:sp>
        <p:nvSpPr>
          <p:cNvPr id="1480" name="Triangle 1479">
            <a:extLst>
              <a:ext uri="{FF2B5EF4-FFF2-40B4-BE49-F238E27FC236}">
                <a16:creationId xmlns:a16="http://schemas.microsoft.com/office/drawing/2014/main" id="{5AA24730-1C8E-8A82-363A-AC798997E7CF}"/>
              </a:ext>
            </a:extLst>
          </p:cNvPr>
          <p:cNvSpPr/>
          <p:nvPr/>
        </p:nvSpPr>
        <p:spPr>
          <a:xfrm>
            <a:off x="3701459" y="1856874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M8</a:t>
            </a:r>
          </a:p>
        </p:txBody>
      </p:sp>
      <p:sp>
        <p:nvSpPr>
          <p:cNvPr id="1481" name="Triangle 1480">
            <a:extLst>
              <a:ext uri="{FF2B5EF4-FFF2-40B4-BE49-F238E27FC236}">
                <a16:creationId xmlns:a16="http://schemas.microsoft.com/office/drawing/2014/main" id="{BD5C9507-2785-C138-4242-963878B9C903}"/>
              </a:ext>
            </a:extLst>
          </p:cNvPr>
          <p:cNvSpPr/>
          <p:nvPr/>
        </p:nvSpPr>
        <p:spPr>
          <a:xfrm>
            <a:off x="3522743" y="2030998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M9</a:t>
            </a:r>
          </a:p>
        </p:txBody>
      </p:sp>
      <p:sp>
        <p:nvSpPr>
          <p:cNvPr id="1482" name="Triangle 1481">
            <a:extLst>
              <a:ext uri="{FF2B5EF4-FFF2-40B4-BE49-F238E27FC236}">
                <a16:creationId xmlns:a16="http://schemas.microsoft.com/office/drawing/2014/main" id="{72F2615F-52FA-26A9-4E9C-258D0F1C087F}"/>
              </a:ext>
            </a:extLst>
          </p:cNvPr>
          <p:cNvSpPr/>
          <p:nvPr/>
        </p:nvSpPr>
        <p:spPr>
          <a:xfrm>
            <a:off x="3696817" y="2195106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M10</a:t>
            </a:r>
          </a:p>
        </p:txBody>
      </p:sp>
      <p:sp>
        <p:nvSpPr>
          <p:cNvPr id="1483" name="Triangle 1482">
            <a:extLst>
              <a:ext uri="{FF2B5EF4-FFF2-40B4-BE49-F238E27FC236}">
                <a16:creationId xmlns:a16="http://schemas.microsoft.com/office/drawing/2014/main" id="{450F9823-6EF3-066D-9A9B-2E69192AD998}"/>
              </a:ext>
            </a:extLst>
          </p:cNvPr>
          <p:cNvSpPr/>
          <p:nvPr/>
        </p:nvSpPr>
        <p:spPr>
          <a:xfrm>
            <a:off x="3544138" y="2364320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M11</a:t>
            </a:r>
          </a:p>
        </p:txBody>
      </p:sp>
      <p:sp>
        <p:nvSpPr>
          <p:cNvPr id="1484" name="Triangle 1483">
            <a:extLst>
              <a:ext uri="{FF2B5EF4-FFF2-40B4-BE49-F238E27FC236}">
                <a16:creationId xmlns:a16="http://schemas.microsoft.com/office/drawing/2014/main" id="{86C5E09D-211F-75CD-1427-DA3FD663A856}"/>
              </a:ext>
            </a:extLst>
          </p:cNvPr>
          <p:cNvSpPr/>
          <p:nvPr/>
        </p:nvSpPr>
        <p:spPr>
          <a:xfrm>
            <a:off x="3605591" y="3534248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M12</a:t>
            </a:r>
          </a:p>
        </p:txBody>
      </p:sp>
      <p:sp>
        <p:nvSpPr>
          <p:cNvPr id="1485" name="Triangle 1484">
            <a:extLst>
              <a:ext uri="{FF2B5EF4-FFF2-40B4-BE49-F238E27FC236}">
                <a16:creationId xmlns:a16="http://schemas.microsoft.com/office/drawing/2014/main" id="{B9F2E8CC-582A-ACB0-D705-48F6A198E063}"/>
              </a:ext>
            </a:extLst>
          </p:cNvPr>
          <p:cNvSpPr/>
          <p:nvPr/>
        </p:nvSpPr>
        <p:spPr>
          <a:xfrm>
            <a:off x="3605591" y="645271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M7</a:t>
            </a:r>
          </a:p>
        </p:txBody>
      </p:sp>
      <p:sp>
        <p:nvSpPr>
          <p:cNvPr id="1494" name="Rounded Rectangle 1493">
            <a:extLst>
              <a:ext uri="{FF2B5EF4-FFF2-40B4-BE49-F238E27FC236}">
                <a16:creationId xmlns:a16="http://schemas.microsoft.com/office/drawing/2014/main" id="{1488EA18-5EA3-1000-BC0A-EA14A26669D9}"/>
              </a:ext>
            </a:extLst>
          </p:cNvPr>
          <p:cNvSpPr/>
          <p:nvPr/>
        </p:nvSpPr>
        <p:spPr>
          <a:xfrm>
            <a:off x="7065606" y="1803660"/>
            <a:ext cx="307594" cy="8874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ESPR DPP</a:t>
            </a:r>
          </a:p>
        </p:txBody>
      </p:sp>
      <p:sp>
        <p:nvSpPr>
          <p:cNvPr id="1497" name="Rounded Rectangle 1496">
            <a:extLst>
              <a:ext uri="{FF2B5EF4-FFF2-40B4-BE49-F238E27FC236}">
                <a16:creationId xmlns:a16="http://schemas.microsoft.com/office/drawing/2014/main" id="{BAF6F250-F068-B989-11CA-551EC0D3B25E}"/>
              </a:ext>
            </a:extLst>
          </p:cNvPr>
          <p:cNvSpPr/>
          <p:nvPr/>
        </p:nvSpPr>
        <p:spPr>
          <a:xfrm>
            <a:off x="8500015" y="623991"/>
            <a:ext cx="307594" cy="8874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ESPR DPP</a:t>
            </a:r>
          </a:p>
        </p:txBody>
      </p:sp>
      <p:sp>
        <p:nvSpPr>
          <p:cNvPr id="501" name="Diamond 500">
            <a:extLst>
              <a:ext uri="{FF2B5EF4-FFF2-40B4-BE49-F238E27FC236}">
                <a16:creationId xmlns:a16="http://schemas.microsoft.com/office/drawing/2014/main" id="{DE73123E-A083-1804-E90A-54BABA516A14}"/>
              </a:ext>
            </a:extLst>
          </p:cNvPr>
          <p:cNvSpPr/>
          <p:nvPr/>
        </p:nvSpPr>
        <p:spPr>
          <a:xfrm>
            <a:off x="8304368" y="3761350"/>
            <a:ext cx="336129" cy="156912"/>
          </a:xfrm>
          <a:prstGeom prst="diamond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FP6</a:t>
            </a:r>
          </a:p>
        </p:txBody>
      </p:sp>
      <p:sp>
        <p:nvSpPr>
          <p:cNvPr id="1588" name="Triangle 1587">
            <a:extLst>
              <a:ext uri="{FF2B5EF4-FFF2-40B4-BE49-F238E27FC236}">
                <a16:creationId xmlns:a16="http://schemas.microsoft.com/office/drawing/2014/main" id="{527197A3-159C-F14A-DB1A-9F9E10666FB6}"/>
              </a:ext>
            </a:extLst>
          </p:cNvPr>
          <p:cNvSpPr/>
          <p:nvPr/>
        </p:nvSpPr>
        <p:spPr>
          <a:xfrm>
            <a:off x="9933928" y="827241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RM1</a:t>
            </a:r>
          </a:p>
        </p:txBody>
      </p:sp>
      <p:sp>
        <p:nvSpPr>
          <p:cNvPr id="1589" name="Triangle 1588">
            <a:extLst>
              <a:ext uri="{FF2B5EF4-FFF2-40B4-BE49-F238E27FC236}">
                <a16:creationId xmlns:a16="http://schemas.microsoft.com/office/drawing/2014/main" id="{0654FD79-65BD-40B8-CEBA-EDAD67C11788}"/>
              </a:ext>
            </a:extLst>
          </p:cNvPr>
          <p:cNvSpPr/>
          <p:nvPr/>
        </p:nvSpPr>
        <p:spPr>
          <a:xfrm>
            <a:off x="9940428" y="1045755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RM2</a:t>
            </a:r>
          </a:p>
        </p:txBody>
      </p:sp>
      <p:sp>
        <p:nvSpPr>
          <p:cNvPr id="1590" name="Triangle 1589">
            <a:extLst>
              <a:ext uri="{FF2B5EF4-FFF2-40B4-BE49-F238E27FC236}">
                <a16:creationId xmlns:a16="http://schemas.microsoft.com/office/drawing/2014/main" id="{635CDFC4-53CA-0668-5A10-1471E6662F10}"/>
              </a:ext>
            </a:extLst>
          </p:cNvPr>
          <p:cNvSpPr/>
          <p:nvPr/>
        </p:nvSpPr>
        <p:spPr>
          <a:xfrm>
            <a:off x="9950176" y="3209017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RM3</a:t>
            </a:r>
          </a:p>
        </p:txBody>
      </p:sp>
      <p:sp>
        <p:nvSpPr>
          <p:cNvPr id="1591" name="Triangle 1590">
            <a:extLst>
              <a:ext uri="{FF2B5EF4-FFF2-40B4-BE49-F238E27FC236}">
                <a16:creationId xmlns:a16="http://schemas.microsoft.com/office/drawing/2014/main" id="{18611ED0-5812-AB33-68E9-C52744471847}"/>
              </a:ext>
            </a:extLst>
          </p:cNvPr>
          <p:cNvSpPr/>
          <p:nvPr/>
        </p:nvSpPr>
        <p:spPr>
          <a:xfrm>
            <a:off x="9956675" y="3427531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RM4</a:t>
            </a:r>
          </a:p>
        </p:txBody>
      </p:sp>
      <p:sp>
        <p:nvSpPr>
          <p:cNvPr id="1592" name="Rounded Rectangle 1591">
            <a:extLst>
              <a:ext uri="{FF2B5EF4-FFF2-40B4-BE49-F238E27FC236}">
                <a16:creationId xmlns:a16="http://schemas.microsoft.com/office/drawing/2014/main" id="{63E63A8A-0A58-36DF-74A0-C6EC84CC3A40}"/>
              </a:ext>
            </a:extLst>
          </p:cNvPr>
          <p:cNvSpPr/>
          <p:nvPr/>
        </p:nvSpPr>
        <p:spPr>
          <a:xfrm>
            <a:off x="7855540" y="2100043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593" name="Rounded Rectangle 1592">
            <a:extLst>
              <a:ext uri="{FF2B5EF4-FFF2-40B4-BE49-F238E27FC236}">
                <a16:creationId xmlns:a16="http://schemas.microsoft.com/office/drawing/2014/main" id="{33284109-2F8C-DAFA-9721-B1A167AA2AA8}"/>
              </a:ext>
            </a:extLst>
          </p:cNvPr>
          <p:cNvSpPr/>
          <p:nvPr/>
        </p:nvSpPr>
        <p:spPr>
          <a:xfrm>
            <a:off x="7855540" y="2224169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IFRS</a:t>
            </a:r>
          </a:p>
        </p:txBody>
      </p:sp>
      <p:sp>
        <p:nvSpPr>
          <p:cNvPr id="1594" name="Rounded Rectangle 1593">
            <a:extLst>
              <a:ext uri="{FF2B5EF4-FFF2-40B4-BE49-F238E27FC236}">
                <a16:creationId xmlns:a16="http://schemas.microsoft.com/office/drawing/2014/main" id="{41450769-99D0-A669-7B45-C14E59FE6488}"/>
              </a:ext>
            </a:extLst>
          </p:cNvPr>
          <p:cNvSpPr/>
          <p:nvPr/>
        </p:nvSpPr>
        <p:spPr>
          <a:xfrm>
            <a:off x="7873166" y="675195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595" name="Rounded Rectangle 1594">
            <a:extLst>
              <a:ext uri="{FF2B5EF4-FFF2-40B4-BE49-F238E27FC236}">
                <a16:creationId xmlns:a16="http://schemas.microsoft.com/office/drawing/2014/main" id="{7EC6B462-AC31-3FF5-5AAD-4AF65FA2F4EE}"/>
              </a:ext>
            </a:extLst>
          </p:cNvPr>
          <p:cNvSpPr/>
          <p:nvPr/>
        </p:nvSpPr>
        <p:spPr>
          <a:xfrm>
            <a:off x="8444568" y="762787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596" name="Rounded Rectangle 1595">
            <a:extLst>
              <a:ext uri="{FF2B5EF4-FFF2-40B4-BE49-F238E27FC236}">
                <a16:creationId xmlns:a16="http://schemas.microsoft.com/office/drawing/2014/main" id="{050CA821-D17E-D5B3-8EDA-93A199DBB813}"/>
              </a:ext>
            </a:extLst>
          </p:cNvPr>
          <p:cNvSpPr/>
          <p:nvPr/>
        </p:nvSpPr>
        <p:spPr>
          <a:xfrm>
            <a:off x="8704353" y="766577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597" name="Rounded Rectangle 1596">
            <a:extLst>
              <a:ext uri="{FF2B5EF4-FFF2-40B4-BE49-F238E27FC236}">
                <a16:creationId xmlns:a16="http://schemas.microsoft.com/office/drawing/2014/main" id="{C8CC2218-3CEF-B888-5CDA-B560755C6897}"/>
              </a:ext>
            </a:extLst>
          </p:cNvPr>
          <p:cNvSpPr/>
          <p:nvPr/>
        </p:nvSpPr>
        <p:spPr>
          <a:xfrm>
            <a:off x="8588215" y="2096452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598" name="Rounded Rectangle 1597">
            <a:extLst>
              <a:ext uri="{FF2B5EF4-FFF2-40B4-BE49-F238E27FC236}">
                <a16:creationId xmlns:a16="http://schemas.microsoft.com/office/drawing/2014/main" id="{102D1DC7-A372-A376-0EA1-A4CB9EF86FF5}"/>
              </a:ext>
            </a:extLst>
          </p:cNvPr>
          <p:cNvSpPr/>
          <p:nvPr/>
        </p:nvSpPr>
        <p:spPr>
          <a:xfrm>
            <a:off x="8580650" y="1947771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599" name="TextBox 1598">
            <a:extLst>
              <a:ext uri="{FF2B5EF4-FFF2-40B4-BE49-F238E27FC236}">
                <a16:creationId xmlns:a16="http://schemas.microsoft.com/office/drawing/2014/main" id="{E625F214-AA38-BCAB-1AB6-F6CFFCD8F520}"/>
              </a:ext>
            </a:extLst>
          </p:cNvPr>
          <p:cNvSpPr txBox="1"/>
          <p:nvPr/>
        </p:nvSpPr>
        <p:spPr>
          <a:xfrm>
            <a:off x="8285599" y="4834698"/>
            <a:ext cx="807804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Facility ID</a:t>
            </a:r>
          </a:p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Service/Repair</a:t>
            </a:r>
          </a:p>
        </p:txBody>
      </p:sp>
      <p:sp>
        <p:nvSpPr>
          <p:cNvPr id="1600" name="Rounded Rectangle 1599">
            <a:extLst>
              <a:ext uri="{FF2B5EF4-FFF2-40B4-BE49-F238E27FC236}">
                <a16:creationId xmlns:a16="http://schemas.microsoft.com/office/drawing/2014/main" id="{BAC80ADC-0C55-9607-C544-8F3EB49167C6}"/>
              </a:ext>
            </a:extLst>
          </p:cNvPr>
          <p:cNvSpPr/>
          <p:nvPr/>
        </p:nvSpPr>
        <p:spPr>
          <a:xfrm>
            <a:off x="8606432" y="4748238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601" name="Rounded Rectangle 1600">
            <a:extLst>
              <a:ext uri="{FF2B5EF4-FFF2-40B4-BE49-F238E27FC236}">
                <a16:creationId xmlns:a16="http://schemas.microsoft.com/office/drawing/2014/main" id="{7832079A-315F-776D-DD30-30CD14A407E2}"/>
              </a:ext>
            </a:extLst>
          </p:cNvPr>
          <p:cNvSpPr/>
          <p:nvPr/>
        </p:nvSpPr>
        <p:spPr>
          <a:xfrm>
            <a:off x="8597668" y="4628802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602" name="Rounded Rectangle 1601">
            <a:extLst>
              <a:ext uri="{FF2B5EF4-FFF2-40B4-BE49-F238E27FC236}">
                <a16:creationId xmlns:a16="http://schemas.microsoft.com/office/drawing/2014/main" id="{236D8FFE-7E6D-86CC-0607-0A4B79D99259}"/>
              </a:ext>
            </a:extLst>
          </p:cNvPr>
          <p:cNvSpPr/>
          <p:nvPr/>
        </p:nvSpPr>
        <p:spPr>
          <a:xfrm>
            <a:off x="9920200" y="1879317"/>
            <a:ext cx="307594" cy="8874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ESPR DPP</a:t>
            </a:r>
          </a:p>
        </p:txBody>
      </p:sp>
      <p:sp>
        <p:nvSpPr>
          <p:cNvPr id="1607" name="Rounded Rectangle 1606">
            <a:extLst>
              <a:ext uri="{FF2B5EF4-FFF2-40B4-BE49-F238E27FC236}">
                <a16:creationId xmlns:a16="http://schemas.microsoft.com/office/drawing/2014/main" id="{5351738F-D9C2-79A1-788D-9C7AAB4914BE}"/>
              </a:ext>
            </a:extLst>
          </p:cNvPr>
          <p:cNvSpPr/>
          <p:nvPr/>
        </p:nvSpPr>
        <p:spPr>
          <a:xfrm>
            <a:off x="9827125" y="2506357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608" name="Rounded Rectangle 1607">
            <a:extLst>
              <a:ext uri="{FF2B5EF4-FFF2-40B4-BE49-F238E27FC236}">
                <a16:creationId xmlns:a16="http://schemas.microsoft.com/office/drawing/2014/main" id="{5D3E369F-FBCC-8E34-D352-C10954C7AD68}"/>
              </a:ext>
            </a:extLst>
          </p:cNvPr>
          <p:cNvSpPr/>
          <p:nvPr/>
        </p:nvSpPr>
        <p:spPr>
          <a:xfrm>
            <a:off x="10086910" y="2510147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609" name="Rounded Rectangle 1608">
            <a:extLst>
              <a:ext uri="{FF2B5EF4-FFF2-40B4-BE49-F238E27FC236}">
                <a16:creationId xmlns:a16="http://schemas.microsoft.com/office/drawing/2014/main" id="{FDA1B319-3CD4-FE72-759F-AC51F9327BF6}"/>
              </a:ext>
            </a:extLst>
          </p:cNvPr>
          <p:cNvSpPr/>
          <p:nvPr/>
        </p:nvSpPr>
        <p:spPr>
          <a:xfrm>
            <a:off x="9842260" y="3700767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610" name="Rounded Rectangle 1609">
            <a:extLst>
              <a:ext uri="{FF2B5EF4-FFF2-40B4-BE49-F238E27FC236}">
                <a16:creationId xmlns:a16="http://schemas.microsoft.com/office/drawing/2014/main" id="{1A8EC5A2-9B1B-B260-523C-7B2964F02E5E}"/>
              </a:ext>
            </a:extLst>
          </p:cNvPr>
          <p:cNvSpPr/>
          <p:nvPr/>
        </p:nvSpPr>
        <p:spPr>
          <a:xfrm>
            <a:off x="10102046" y="3704556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611" name="Rounded Rectangle 1610">
            <a:extLst>
              <a:ext uri="{FF2B5EF4-FFF2-40B4-BE49-F238E27FC236}">
                <a16:creationId xmlns:a16="http://schemas.microsoft.com/office/drawing/2014/main" id="{6DE41312-2B69-16CF-B267-04E8BFDB057C}"/>
              </a:ext>
            </a:extLst>
          </p:cNvPr>
          <p:cNvSpPr/>
          <p:nvPr/>
        </p:nvSpPr>
        <p:spPr>
          <a:xfrm>
            <a:off x="9859567" y="4906319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612" name="Rounded Rectangle 1611">
            <a:extLst>
              <a:ext uri="{FF2B5EF4-FFF2-40B4-BE49-F238E27FC236}">
                <a16:creationId xmlns:a16="http://schemas.microsoft.com/office/drawing/2014/main" id="{5F3D3D10-5603-8409-66FA-19A8EE9275AC}"/>
              </a:ext>
            </a:extLst>
          </p:cNvPr>
          <p:cNvSpPr/>
          <p:nvPr/>
        </p:nvSpPr>
        <p:spPr>
          <a:xfrm>
            <a:off x="10119353" y="4910108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613" name="Rounded Rectangle 1612">
            <a:extLst>
              <a:ext uri="{FF2B5EF4-FFF2-40B4-BE49-F238E27FC236}">
                <a16:creationId xmlns:a16="http://schemas.microsoft.com/office/drawing/2014/main" id="{E7684239-7AA1-B5B7-99CF-74779328C08B}"/>
              </a:ext>
            </a:extLst>
          </p:cNvPr>
          <p:cNvSpPr/>
          <p:nvPr/>
        </p:nvSpPr>
        <p:spPr>
          <a:xfrm>
            <a:off x="9440497" y="4832008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614" name="Rounded Rectangle 1613">
            <a:extLst>
              <a:ext uri="{FF2B5EF4-FFF2-40B4-BE49-F238E27FC236}">
                <a16:creationId xmlns:a16="http://schemas.microsoft.com/office/drawing/2014/main" id="{1E1FA850-2504-A6D4-B01E-1C2E74911557}"/>
              </a:ext>
            </a:extLst>
          </p:cNvPr>
          <p:cNvSpPr/>
          <p:nvPr/>
        </p:nvSpPr>
        <p:spPr>
          <a:xfrm>
            <a:off x="9416125" y="4938365"/>
            <a:ext cx="242915" cy="8817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License</a:t>
            </a:r>
          </a:p>
        </p:txBody>
      </p:sp>
      <p:sp>
        <p:nvSpPr>
          <p:cNvPr id="1615" name="Rounded Rectangle 1614">
            <a:extLst>
              <a:ext uri="{FF2B5EF4-FFF2-40B4-BE49-F238E27FC236}">
                <a16:creationId xmlns:a16="http://schemas.microsoft.com/office/drawing/2014/main" id="{19EA7E08-A0DF-D3EA-4F54-0C6C70925706}"/>
              </a:ext>
            </a:extLst>
          </p:cNvPr>
          <p:cNvSpPr/>
          <p:nvPr/>
        </p:nvSpPr>
        <p:spPr>
          <a:xfrm>
            <a:off x="9414433" y="3591649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616" name="Rounded Rectangle 1615">
            <a:extLst>
              <a:ext uri="{FF2B5EF4-FFF2-40B4-BE49-F238E27FC236}">
                <a16:creationId xmlns:a16="http://schemas.microsoft.com/office/drawing/2014/main" id="{C7A29F02-22A2-8166-1CDF-54C8E29FC99D}"/>
              </a:ext>
            </a:extLst>
          </p:cNvPr>
          <p:cNvSpPr/>
          <p:nvPr/>
        </p:nvSpPr>
        <p:spPr>
          <a:xfrm>
            <a:off x="9390061" y="3698007"/>
            <a:ext cx="242915" cy="8817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License</a:t>
            </a:r>
          </a:p>
        </p:txBody>
      </p:sp>
      <p:sp>
        <p:nvSpPr>
          <p:cNvPr id="1617" name="Rounded Rectangle 1616">
            <a:extLst>
              <a:ext uri="{FF2B5EF4-FFF2-40B4-BE49-F238E27FC236}">
                <a16:creationId xmlns:a16="http://schemas.microsoft.com/office/drawing/2014/main" id="{42EFC645-C114-C55F-734F-9A8721651EA8}"/>
              </a:ext>
            </a:extLst>
          </p:cNvPr>
          <p:cNvSpPr/>
          <p:nvPr/>
        </p:nvSpPr>
        <p:spPr>
          <a:xfrm>
            <a:off x="9394501" y="2401754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618" name="Rounded Rectangle 1617">
            <a:extLst>
              <a:ext uri="{FF2B5EF4-FFF2-40B4-BE49-F238E27FC236}">
                <a16:creationId xmlns:a16="http://schemas.microsoft.com/office/drawing/2014/main" id="{37962059-F306-7CFB-54A4-97B74E388C2B}"/>
              </a:ext>
            </a:extLst>
          </p:cNvPr>
          <p:cNvSpPr/>
          <p:nvPr/>
        </p:nvSpPr>
        <p:spPr>
          <a:xfrm>
            <a:off x="9370130" y="2508111"/>
            <a:ext cx="242915" cy="8817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License</a:t>
            </a:r>
          </a:p>
        </p:txBody>
      </p:sp>
      <p:sp>
        <p:nvSpPr>
          <p:cNvPr id="1619" name="Rounded Rectangle 1618">
            <a:extLst>
              <a:ext uri="{FF2B5EF4-FFF2-40B4-BE49-F238E27FC236}">
                <a16:creationId xmlns:a16="http://schemas.microsoft.com/office/drawing/2014/main" id="{C8AEBAB3-A977-9FA6-0A67-F692D7A3750E}"/>
              </a:ext>
            </a:extLst>
          </p:cNvPr>
          <p:cNvSpPr/>
          <p:nvPr/>
        </p:nvSpPr>
        <p:spPr>
          <a:xfrm>
            <a:off x="9392968" y="1221233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620" name="Rounded Rectangle 1619">
            <a:extLst>
              <a:ext uri="{FF2B5EF4-FFF2-40B4-BE49-F238E27FC236}">
                <a16:creationId xmlns:a16="http://schemas.microsoft.com/office/drawing/2014/main" id="{7DFBB620-7FD4-2773-0E60-451D4026D95B}"/>
              </a:ext>
            </a:extLst>
          </p:cNvPr>
          <p:cNvSpPr/>
          <p:nvPr/>
        </p:nvSpPr>
        <p:spPr>
          <a:xfrm>
            <a:off x="9368596" y="1327590"/>
            <a:ext cx="242915" cy="8817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License</a:t>
            </a:r>
          </a:p>
        </p:txBody>
      </p:sp>
      <p:sp>
        <p:nvSpPr>
          <p:cNvPr id="1621" name="Rounded Rectangle 1620">
            <a:extLst>
              <a:ext uri="{FF2B5EF4-FFF2-40B4-BE49-F238E27FC236}">
                <a16:creationId xmlns:a16="http://schemas.microsoft.com/office/drawing/2014/main" id="{2264A180-C982-6922-0F0F-D27336E96D5B}"/>
              </a:ext>
            </a:extLst>
          </p:cNvPr>
          <p:cNvSpPr/>
          <p:nvPr/>
        </p:nvSpPr>
        <p:spPr>
          <a:xfrm>
            <a:off x="9385180" y="1856329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622" name="Rounded Rectangle 1621">
            <a:extLst>
              <a:ext uri="{FF2B5EF4-FFF2-40B4-BE49-F238E27FC236}">
                <a16:creationId xmlns:a16="http://schemas.microsoft.com/office/drawing/2014/main" id="{07B55BB8-70E4-40D9-748E-37CEB092CA58}"/>
              </a:ext>
            </a:extLst>
          </p:cNvPr>
          <p:cNvSpPr/>
          <p:nvPr/>
        </p:nvSpPr>
        <p:spPr>
          <a:xfrm>
            <a:off x="9385180" y="862618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623" name="Rounded Rectangle 1622">
            <a:extLst>
              <a:ext uri="{FF2B5EF4-FFF2-40B4-BE49-F238E27FC236}">
                <a16:creationId xmlns:a16="http://schemas.microsoft.com/office/drawing/2014/main" id="{00B6F5E7-7482-7310-FF96-6624F1A0ACF6}"/>
              </a:ext>
            </a:extLst>
          </p:cNvPr>
          <p:cNvSpPr/>
          <p:nvPr/>
        </p:nvSpPr>
        <p:spPr>
          <a:xfrm>
            <a:off x="9836088" y="1326895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624" name="Rounded Rectangle 1623">
            <a:extLst>
              <a:ext uri="{FF2B5EF4-FFF2-40B4-BE49-F238E27FC236}">
                <a16:creationId xmlns:a16="http://schemas.microsoft.com/office/drawing/2014/main" id="{FB632C5D-03D1-6AB6-BD1C-AD3051CEF095}"/>
              </a:ext>
            </a:extLst>
          </p:cNvPr>
          <p:cNvSpPr/>
          <p:nvPr/>
        </p:nvSpPr>
        <p:spPr>
          <a:xfrm>
            <a:off x="10095873" y="1330684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625" name="Rounded Rectangle 1624">
            <a:extLst>
              <a:ext uri="{FF2B5EF4-FFF2-40B4-BE49-F238E27FC236}">
                <a16:creationId xmlns:a16="http://schemas.microsoft.com/office/drawing/2014/main" id="{1B9EC3DD-352F-A257-8254-F51E618654B3}"/>
              </a:ext>
            </a:extLst>
          </p:cNvPr>
          <p:cNvSpPr/>
          <p:nvPr/>
        </p:nvSpPr>
        <p:spPr>
          <a:xfrm>
            <a:off x="9435893" y="4236567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630" name="Rounded Rectangle 1629">
            <a:extLst>
              <a:ext uri="{FF2B5EF4-FFF2-40B4-BE49-F238E27FC236}">
                <a16:creationId xmlns:a16="http://schemas.microsoft.com/office/drawing/2014/main" id="{E0097456-1620-95AC-EEF5-B662230ED7F1}"/>
              </a:ext>
            </a:extLst>
          </p:cNvPr>
          <p:cNvSpPr/>
          <p:nvPr/>
        </p:nvSpPr>
        <p:spPr>
          <a:xfrm>
            <a:off x="9428226" y="3151582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cxnSp>
        <p:nvCxnSpPr>
          <p:cNvPr id="1632" name="Straight Connector 1631">
            <a:extLst>
              <a:ext uri="{FF2B5EF4-FFF2-40B4-BE49-F238E27FC236}">
                <a16:creationId xmlns:a16="http://schemas.microsoft.com/office/drawing/2014/main" id="{A231F5C8-75A0-34C6-469B-8CFB25FF0A66}"/>
              </a:ext>
            </a:extLst>
          </p:cNvPr>
          <p:cNvCxnSpPr>
            <a:stCxn id="793" idx="3"/>
            <a:endCxn id="799" idx="2"/>
          </p:cNvCxnSpPr>
          <p:nvPr/>
        </p:nvCxnSpPr>
        <p:spPr>
          <a:xfrm flipH="1">
            <a:off x="3894731" y="5389196"/>
            <a:ext cx="6469988" cy="146406"/>
          </a:xfrm>
          <a:prstGeom prst="bentConnector4">
            <a:avLst>
              <a:gd name="adj1" fmla="val -1659"/>
              <a:gd name="adj2" fmla="val 211530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4" name="Straight Connector 1631">
            <a:extLst>
              <a:ext uri="{FF2B5EF4-FFF2-40B4-BE49-F238E27FC236}">
                <a16:creationId xmlns:a16="http://schemas.microsoft.com/office/drawing/2014/main" id="{771D3B25-0EB0-A49F-E853-B9C1D5739A12}"/>
              </a:ext>
            </a:extLst>
          </p:cNvPr>
          <p:cNvCxnSpPr>
            <a:cxnSpLocks/>
            <a:stCxn id="793" idx="3"/>
            <a:endCxn id="796" idx="2"/>
          </p:cNvCxnSpPr>
          <p:nvPr/>
        </p:nvCxnSpPr>
        <p:spPr>
          <a:xfrm flipH="1">
            <a:off x="6752214" y="5389196"/>
            <a:ext cx="3612505" cy="146406"/>
          </a:xfrm>
          <a:prstGeom prst="bentConnector4">
            <a:avLst>
              <a:gd name="adj1" fmla="val -2970"/>
              <a:gd name="adj2" fmla="val 211530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8" name="TextBox 1637">
            <a:extLst>
              <a:ext uri="{FF2B5EF4-FFF2-40B4-BE49-F238E27FC236}">
                <a16:creationId xmlns:a16="http://schemas.microsoft.com/office/drawing/2014/main" id="{559E9137-2871-1A9C-9869-8BE991DE8211}"/>
              </a:ext>
            </a:extLst>
          </p:cNvPr>
          <p:cNvSpPr txBox="1"/>
          <p:nvPr/>
        </p:nvSpPr>
        <p:spPr>
          <a:xfrm>
            <a:off x="6798221" y="5552708"/>
            <a:ext cx="1184940" cy="19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6578"/>
            <a:r>
              <a:rPr lang="en-AU" sz="643" dirty="0">
                <a:solidFill>
                  <a:prstClr val="black"/>
                </a:solidFill>
                <a:latin typeface="Aptos" panose="02110004020202020204"/>
              </a:rPr>
              <a:t>Repurpose / Remanufacture</a:t>
            </a:r>
          </a:p>
        </p:txBody>
      </p:sp>
      <p:sp>
        <p:nvSpPr>
          <p:cNvPr id="1639" name="TextBox 1638">
            <a:extLst>
              <a:ext uri="{FF2B5EF4-FFF2-40B4-BE49-F238E27FC236}">
                <a16:creationId xmlns:a16="http://schemas.microsoft.com/office/drawing/2014/main" id="{09AAF7DD-A3CA-C87B-F9B6-BAC5C8E2A258}"/>
              </a:ext>
            </a:extLst>
          </p:cNvPr>
          <p:cNvSpPr txBox="1"/>
          <p:nvPr/>
        </p:nvSpPr>
        <p:spPr>
          <a:xfrm>
            <a:off x="3889045" y="5549598"/>
            <a:ext cx="465192" cy="19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6578"/>
            <a:r>
              <a:rPr lang="en-AU" sz="643" dirty="0">
                <a:solidFill>
                  <a:prstClr val="black"/>
                </a:solidFill>
                <a:latin typeface="Aptos" panose="02110004020202020204"/>
              </a:rPr>
              <a:t>Recycle</a:t>
            </a:r>
          </a:p>
        </p:txBody>
      </p:sp>
      <p:sp>
        <p:nvSpPr>
          <p:cNvPr id="1640" name="Rounded Rectangle 1639">
            <a:extLst>
              <a:ext uri="{FF2B5EF4-FFF2-40B4-BE49-F238E27FC236}">
                <a16:creationId xmlns:a16="http://schemas.microsoft.com/office/drawing/2014/main" id="{BA74E8EB-E809-66FA-8356-B690FBDCF21D}"/>
              </a:ext>
            </a:extLst>
          </p:cNvPr>
          <p:cNvSpPr/>
          <p:nvPr/>
        </p:nvSpPr>
        <p:spPr>
          <a:xfrm>
            <a:off x="1910793" y="5744846"/>
            <a:ext cx="357516" cy="12971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714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641" name="Rounded Rectangle 1640">
            <a:extLst>
              <a:ext uri="{FF2B5EF4-FFF2-40B4-BE49-F238E27FC236}">
                <a16:creationId xmlns:a16="http://schemas.microsoft.com/office/drawing/2014/main" id="{06D7120C-0CAF-44D3-5018-1FDFF818F709}"/>
              </a:ext>
            </a:extLst>
          </p:cNvPr>
          <p:cNvSpPr/>
          <p:nvPr/>
        </p:nvSpPr>
        <p:spPr>
          <a:xfrm>
            <a:off x="1910793" y="5920979"/>
            <a:ext cx="357516" cy="12971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714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642" name="Rounded Rectangle 1641">
            <a:extLst>
              <a:ext uri="{FF2B5EF4-FFF2-40B4-BE49-F238E27FC236}">
                <a16:creationId xmlns:a16="http://schemas.microsoft.com/office/drawing/2014/main" id="{364232C4-E9D5-5381-5AB0-905A8C28F466}"/>
              </a:ext>
            </a:extLst>
          </p:cNvPr>
          <p:cNvSpPr/>
          <p:nvPr/>
        </p:nvSpPr>
        <p:spPr>
          <a:xfrm>
            <a:off x="1910793" y="6097113"/>
            <a:ext cx="357516" cy="12971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714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643" name="Rounded Rectangle 1642">
            <a:extLst>
              <a:ext uri="{FF2B5EF4-FFF2-40B4-BE49-F238E27FC236}">
                <a16:creationId xmlns:a16="http://schemas.microsoft.com/office/drawing/2014/main" id="{D0600E70-C987-B327-3EFA-0333996A9CA7}"/>
              </a:ext>
            </a:extLst>
          </p:cNvPr>
          <p:cNvSpPr/>
          <p:nvPr/>
        </p:nvSpPr>
        <p:spPr>
          <a:xfrm>
            <a:off x="1910793" y="6273246"/>
            <a:ext cx="357516" cy="129716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714" dirty="0">
                <a:solidFill>
                  <a:prstClr val="black"/>
                </a:solidFill>
                <a:latin typeface="Aptos" panose="02110004020202020204"/>
              </a:rPr>
              <a:t>DCC</a:t>
            </a:r>
          </a:p>
        </p:txBody>
      </p:sp>
      <p:sp>
        <p:nvSpPr>
          <p:cNvPr id="1644" name="Rounded Rectangle 1643">
            <a:extLst>
              <a:ext uri="{FF2B5EF4-FFF2-40B4-BE49-F238E27FC236}">
                <a16:creationId xmlns:a16="http://schemas.microsoft.com/office/drawing/2014/main" id="{D693F45E-D05D-6C89-4BFE-073CBB0ECF49}"/>
              </a:ext>
            </a:extLst>
          </p:cNvPr>
          <p:cNvSpPr/>
          <p:nvPr/>
        </p:nvSpPr>
        <p:spPr>
          <a:xfrm>
            <a:off x="1910793" y="6449381"/>
            <a:ext cx="357516" cy="12971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714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645" name="TextBox 1644">
            <a:extLst>
              <a:ext uri="{FF2B5EF4-FFF2-40B4-BE49-F238E27FC236}">
                <a16:creationId xmlns:a16="http://schemas.microsoft.com/office/drawing/2014/main" id="{A9277B03-29CB-A0D1-905D-D85D855B16EB}"/>
              </a:ext>
            </a:extLst>
          </p:cNvPr>
          <p:cNvSpPr txBox="1"/>
          <p:nvPr/>
        </p:nvSpPr>
        <p:spPr>
          <a:xfrm>
            <a:off x="2271906" y="5731548"/>
            <a:ext cx="1043876" cy="19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6578"/>
            <a:r>
              <a:rPr lang="en-AU" sz="643" dirty="0">
                <a:solidFill>
                  <a:prstClr val="black"/>
                </a:solidFill>
                <a:latin typeface="Aptos" panose="02110004020202020204"/>
              </a:rPr>
              <a:t>Digital Product Passport</a:t>
            </a:r>
          </a:p>
        </p:txBody>
      </p:sp>
      <p:sp>
        <p:nvSpPr>
          <p:cNvPr id="1646" name="TextBox 1645">
            <a:extLst>
              <a:ext uri="{FF2B5EF4-FFF2-40B4-BE49-F238E27FC236}">
                <a16:creationId xmlns:a16="http://schemas.microsoft.com/office/drawing/2014/main" id="{D1E058EE-0E79-CA5A-9D07-3ADB7F062DBD}"/>
              </a:ext>
            </a:extLst>
          </p:cNvPr>
          <p:cNvSpPr txBox="1"/>
          <p:nvPr/>
        </p:nvSpPr>
        <p:spPr>
          <a:xfrm>
            <a:off x="2271906" y="5893878"/>
            <a:ext cx="950901" cy="19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6578"/>
            <a:r>
              <a:rPr lang="en-AU" sz="643" dirty="0">
                <a:solidFill>
                  <a:prstClr val="black"/>
                </a:solidFill>
                <a:latin typeface="Aptos" panose="02110004020202020204"/>
              </a:rPr>
              <a:t>Digital Facility Record</a:t>
            </a:r>
          </a:p>
        </p:txBody>
      </p:sp>
      <p:sp>
        <p:nvSpPr>
          <p:cNvPr id="1647" name="TextBox 1646">
            <a:extLst>
              <a:ext uri="{FF2B5EF4-FFF2-40B4-BE49-F238E27FC236}">
                <a16:creationId xmlns:a16="http://schemas.microsoft.com/office/drawing/2014/main" id="{D782C11E-06E7-69D2-E2B7-3244656ED115}"/>
              </a:ext>
            </a:extLst>
          </p:cNvPr>
          <p:cNvSpPr txBox="1"/>
          <p:nvPr/>
        </p:nvSpPr>
        <p:spPr>
          <a:xfrm>
            <a:off x="2272012" y="6079126"/>
            <a:ext cx="1051891" cy="19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6578"/>
            <a:r>
              <a:rPr lang="en-AU" sz="643" dirty="0">
                <a:solidFill>
                  <a:prstClr val="black"/>
                </a:solidFill>
                <a:latin typeface="Aptos" panose="02110004020202020204"/>
              </a:rPr>
              <a:t>Digital Traceability Event</a:t>
            </a:r>
          </a:p>
        </p:txBody>
      </p:sp>
      <p:sp>
        <p:nvSpPr>
          <p:cNvPr id="1648" name="TextBox 1647">
            <a:extLst>
              <a:ext uri="{FF2B5EF4-FFF2-40B4-BE49-F238E27FC236}">
                <a16:creationId xmlns:a16="http://schemas.microsoft.com/office/drawing/2014/main" id="{1FBA1B40-BBE6-8FB4-0420-9CEB663FE7F9}"/>
              </a:ext>
            </a:extLst>
          </p:cNvPr>
          <p:cNvSpPr txBox="1"/>
          <p:nvPr/>
        </p:nvSpPr>
        <p:spPr>
          <a:xfrm>
            <a:off x="2271906" y="6260555"/>
            <a:ext cx="1213794" cy="19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6578"/>
            <a:r>
              <a:rPr lang="en-AU" sz="643" dirty="0">
                <a:solidFill>
                  <a:prstClr val="black"/>
                </a:solidFill>
                <a:latin typeface="Aptos" panose="02110004020202020204"/>
              </a:rPr>
              <a:t>Digital Conformity Credential</a:t>
            </a:r>
          </a:p>
        </p:txBody>
      </p:sp>
      <p:sp>
        <p:nvSpPr>
          <p:cNvPr id="1649" name="TextBox 1648">
            <a:extLst>
              <a:ext uri="{FF2B5EF4-FFF2-40B4-BE49-F238E27FC236}">
                <a16:creationId xmlns:a16="http://schemas.microsoft.com/office/drawing/2014/main" id="{CBBA6646-087A-C12A-B9F5-2D5C4F2A24EF}"/>
              </a:ext>
            </a:extLst>
          </p:cNvPr>
          <p:cNvSpPr txBox="1"/>
          <p:nvPr/>
        </p:nvSpPr>
        <p:spPr>
          <a:xfrm>
            <a:off x="2271800" y="6441983"/>
            <a:ext cx="962123" cy="19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6578"/>
            <a:r>
              <a:rPr lang="en-AU" sz="643" dirty="0">
                <a:solidFill>
                  <a:prstClr val="black"/>
                </a:solidFill>
                <a:latin typeface="Aptos" panose="02110004020202020204"/>
              </a:rPr>
              <a:t>Digital Identity Anchor</a:t>
            </a:r>
          </a:p>
        </p:txBody>
      </p:sp>
      <p:sp>
        <p:nvSpPr>
          <p:cNvPr id="1650" name="TextBox 1649">
            <a:extLst>
              <a:ext uri="{FF2B5EF4-FFF2-40B4-BE49-F238E27FC236}">
                <a16:creationId xmlns:a16="http://schemas.microsoft.com/office/drawing/2014/main" id="{B816E2FD-9252-4DDE-A040-0991BD4F24E5}"/>
              </a:ext>
            </a:extLst>
          </p:cNvPr>
          <p:cNvSpPr txBox="1"/>
          <p:nvPr/>
        </p:nvSpPr>
        <p:spPr>
          <a:xfrm>
            <a:off x="1820055" y="5592133"/>
            <a:ext cx="596638" cy="19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6578"/>
            <a:r>
              <a:rPr lang="en-AU" sz="643" b="1" dirty="0">
                <a:solidFill>
                  <a:prstClr val="black"/>
                </a:solidFill>
                <a:latin typeface="Aptos" panose="02110004020202020204"/>
              </a:rPr>
              <a:t>Data Types</a:t>
            </a:r>
          </a:p>
        </p:txBody>
      </p:sp>
      <p:sp>
        <p:nvSpPr>
          <p:cNvPr id="1651" name="TextBox 1650">
            <a:extLst>
              <a:ext uri="{FF2B5EF4-FFF2-40B4-BE49-F238E27FC236}">
                <a16:creationId xmlns:a16="http://schemas.microsoft.com/office/drawing/2014/main" id="{7DE892BC-9BA4-87BD-396C-751B04D20CF9}"/>
              </a:ext>
            </a:extLst>
          </p:cNvPr>
          <p:cNvSpPr txBox="1"/>
          <p:nvPr/>
        </p:nvSpPr>
        <p:spPr>
          <a:xfrm>
            <a:off x="3554191" y="5811933"/>
            <a:ext cx="635110" cy="19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6578"/>
            <a:r>
              <a:rPr lang="en-AU" sz="643" b="1" dirty="0">
                <a:solidFill>
                  <a:prstClr val="black"/>
                </a:solidFill>
                <a:latin typeface="Aptos" panose="02110004020202020204"/>
              </a:rPr>
              <a:t>Entity Types</a:t>
            </a:r>
          </a:p>
        </p:txBody>
      </p:sp>
      <p:sp>
        <p:nvSpPr>
          <p:cNvPr id="1652" name="Oval 1651">
            <a:extLst>
              <a:ext uri="{FF2B5EF4-FFF2-40B4-BE49-F238E27FC236}">
                <a16:creationId xmlns:a16="http://schemas.microsoft.com/office/drawing/2014/main" id="{1FFDDE5D-3108-F59E-E5CA-78F022C3D654}"/>
              </a:ext>
            </a:extLst>
          </p:cNvPr>
          <p:cNvSpPr/>
          <p:nvPr/>
        </p:nvSpPr>
        <p:spPr>
          <a:xfrm>
            <a:off x="3646205" y="5994772"/>
            <a:ext cx="408776" cy="178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Type</a:t>
            </a:r>
          </a:p>
        </p:txBody>
      </p:sp>
      <p:sp>
        <p:nvSpPr>
          <p:cNvPr id="1653" name="Triangle 1652">
            <a:extLst>
              <a:ext uri="{FF2B5EF4-FFF2-40B4-BE49-F238E27FC236}">
                <a16:creationId xmlns:a16="http://schemas.microsoft.com/office/drawing/2014/main" id="{7F8470FD-0974-1F5D-B9CC-FA17160A4EF3}"/>
              </a:ext>
            </a:extLst>
          </p:cNvPr>
          <p:cNvSpPr/>
          <p:nvPr/>
        </p:nvSpPr>
        <p:spPr>
          <a:xfrm>
            <a:off x="3662249" y="6218981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M</a:t>
            </a:r>
          </a:p>
        </p:txBody>
      </p:sp>
      <p:sp>
        <p:nvSpPr>
          <p:cNvPr id="1654" name="Diamond 1653">
            <a:extLst>
              <a:ext uri="{FF2B5EF4-FFF2-40B4-BE49-F238E27FC236}">
                <a16:creationId xmlns:a16="http://schemas.microsoft.com/office/drawing/2014/main" id="{D46A9530-020A-F4D4-903B-A1ABE4424E3C}"/>
              </a:ext>
            </a:extLst>
          </p:cNvPr>
          <p:cNvSpPr/>
          <p:nvPr/>
        </p:nvSpPr>
        <p:spPr>
          <a:xfrm>
            <a:off x="3614981" y="6464791"/>
            <a:ext cx="350649" cy="151514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</a:t>
            </a:r>
          </a:p>
        </p:txBody>
      </p:sp>
      <p:sp>
        <p:nvSpPr>
          <p:cNvPr id="1655" name="Triangle 1654">
            <a:extLst>
              <a:ext uri="{FF2B5EF4-FFF2-40B4-BE49-F238E27FC236}">
                <a16:creationId xmlns:a16="http://schemas.microsoft.com/office/drawing/2014/main" id="{E28392E4-711D-EA81-7227-321669C149AE}"/>
              </a:ext>
            </a:extLst>
          </p:cNvPr>
          <p:cNvSpPr/>
          <p:nvPr/>
        </p:nvSpPr>
        <p:spPr>
          <a:xfrm>
            <a:off x="3897950" y="6229445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</a:t>
            </a:r>
          </a:p>
        </p:txBody>
      </p:sp>
      <p:sp>
        <p:nvSpPr>
          <p:cNvPr id="1656" name="Diamond 1655">
            <a:extLst>
              <a:ext uri="{FF2B5EF4-FFF2-40B4-BE49-F238E27FC236}">
                <a16:creationId xmlns:a16="http://schemas.microsoft.com/office/drawing/2014/main" id="{EF76B2D9-0A4D-E5D8-B487-CB5806825655}"/>
              </a:ext>
            </a:extLst>
          </p:cNvPr>
          <p:cNvSpPr/>
          <p:nvPr/>
        </p:nvSpPr>
        <p:spPr>
          <a:xfrm>
            <a:off x="3992313" y="6467732"/>
            <a:ext cx="300860" cy="145631"/>
          </a:xfrm>
          <a:prstGeom prst="diamond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P</a:t>
            </a:r>
          </a:p>
        </p:txBody>
      </p:sp>
      <p:sp>
        <p:nvSpPr>
          <p:cNvPr id="1657" name="TextBox 1656">
            <a:extLst>
              <a:ext uri="{FF2B5EF4-FFF2-40B4-BE49-F238E27FC236}">
                <a16:creationId xmlns:a16="http://schemas.microsoft.com/office/drawing/2014/main" id="{9ED6185D-05B2-A6E9-8606-FD052CA38803}"/>
              </a:ext>
            </a:extLst>
          </p:cNvPr>
          <p:cNvSpPr txBox="1"/>
          <p:nvPr/>
        </p:nvSpPr>
        <p:spPr>
          <a:xfrm>
            <a:off x="4093146" y="5963506"/>
            <a:ext cx="1051083" cy="29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AU" sz="643" dirty="0">
                <a:solidFill>
                  <a:prstClr val="black"/>
                </a:solidFill>
                <a:latin typeface="Aptos" panose="02110004020202020204"/>
              </a:rPr>
              <a:t>Production / manufacturing facilities</a:t>
            </a:r>
          </a:p>
        </p:txBody>
      </p:sp>
      <p:sp>
        <p:nvSpPr>
          <p:cNvPr id="1658" name="TextBox 1657">
            <a:extLst>
              <a:ext uri="{FF2B5EF4-FFF2-40B4-BE49-F238E27FC236}">
                <a16:creationId xmlns:a16="http://schemas.microsoft.com/office/drawing/2014/main" id="{8F6F1B5F-2964-46F0-C3EA-BBF845D69A3B}"/>
              </a:ext>
            </a:extLst>
          </p:cNvPr>
          <p:cNvSpPr txBox="1"/>
          <p:nvPr/>
        </p:nvSpPr>
        <p:spPr>
          <a:xfrm>
            <a:off x="4136122" y="6234533"/>
            <a:ext cx="1051083" cy="19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AU" sz="643" dirty="0">
                <a:solidFill>
                  <a:prstClr val="black"/>
                </a:solidFill>
                <a:latin typeface="Aptos" panose="02110004020202020204"/>
              </a:rPr>
              <a:t>Bulk materials (Traded)</a:t>
            </a:r>
          </a:p>
        </p:txBody>
      </p:sp>
      <p:sp>
        <p:nvSpPr>
          <p:cNvPr id="1659" name="TextBox 1658">
            <a:extLst>
              <a:ext uri="{FF2B5EF4-FFF2-40B4-BE49-F238E27FC236}">
                <a16:creationId xmlns:a16="http://schemas.microsoft.com/office/drawing/2014/main" id="{C0EE533C-0281-7B95-4DF5-E30C6DBB8BEF}"/>
              </a:ext>
            </a:extLst>
          </p:cNvPr>
          <p:cNvSpPr txBox="1"/>
          <p:nvPr/>
        </p:nvSpPr>
        <p:spPr>
          <a:xfrm>
            <a:off x="4317796" y="6442903"/>
            <a:ext cx="826433" cy="19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AU" sz="643" dirty="0">
                <a:solidFill>
                  <a:prstClr val="black"/>
                </a:solidFill>
                <a:latin typeface="Aptos" panose="02110004020202020204"/>
              </a:rPr>
              <a:t>Products (Traded)</a:t>
            </a:r>
          </a:p>
        </p:txBody>
      </p:sp>
      <p:sp>
        <p:nvSpPr>
          <p:cNvPr id="1660" name="TextBox 1659">
            <a:extLst>
              <a:ext uri="{FF2B5EF4-FFF2-40B4-BE49-F238E27FC236}">
                <a16:creationId xmlns:a16="http://schemas.microsoft.com/office/drawing/2014/main" id="{7CA561D7-5C0A-10AE-3790-9859A000995A}"/>
              </a:ext>
            </a:extLst>
          </p:cNvPr>
          <p:cNvSpPr txBox="1"/>
          <p:nvPr/>
        </p:nvSpPr>
        <p:spPr>
          <a:xfrm>
            <a:off x="6675981" y="5805234"/>
            <a:ext cx="2727029" cy="19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6578"/>
            <a:r>
              <a:rPr lang="en-AU" sz="643" b="1" dirty="0">
                <a:solidFill>
                  <a:prstClr val="black"/>
                </a:solidFill>
                <a:latin typeface="Aptos" panose="02110004020202020204"/>
              </a:rPr>
              <a:t>Despite the apparent complexity, there is a simple repeating pattern</a:t>
            </a:r>
          </a:p>
        </p:txBody>
      </p:sp>
      <p:sp>
        <p:nvSpPr>
          <p:cNvPr id="1661" name="Rounded Rectangle 1660">
            <a:extLst>
              <a:ext uri="{FF2B5EF4-FFF2-40B4-BE49-F238E27FC236}">
                <a16:creationId xmlns:a16="http://schemas.microsoft.com/office/drawing/2014/main" id="{178A12BE-7A4C-D446-DD17-A5C149A11D7B}"/>
              </a:ext>
            </a:extLst>
          </p:cNvPr>
          <p:cNvSpPr/>
          <p:nvPr/>
        </p:nvSpPr>
        <p:spPr>
          <a:xfrm>
            <a:off x="1799970" y="5590187"/>
            <a:ext cx="1656221" cy="1075174"/>
          </a:xfrm>
          <a:prstGeom prst="roundRect">
            <a:avLst>
              <a:gd name="adj" fmla="val 685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286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662" name="Rounded Rectangle 1661">
            <a:extLst>
              <a:ext uri="{FF2B5EF4-FFF2-40B4-BE49-F238E27FC236}">
                <a16:creationId xmlns:a16="http://schemas.microsoft.com/office/drawing/2014/main" id="{E1E84B83-7492-AC80-45E4-8F55CDDF210A}"/>
              </a:ext>
            </a:extLst>
          </p:cNvPr>
          <p:cNvSpPr/>
          <p:nvPr/>
        </p:nvSpPr>
        <p:spPr>
          <a:xfrm>
            <a:off x="3554177" y="5796179"/>
            <a:ext cx="1656221" cy="874206"/>
          </a:xfrm>
          <a:prstGeom prst="roundRect">
            <a:avLst>
              <a:gd name="adj" fmla="val 685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286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663" name="Rounded Rectangle 1662">
            <a:extLst>
              <a:ext uri="{FF2B5EF4-FFF2-40B4-BE49-F238E27FC236}">
                <a16:creationId xmlns:a16="http://schemas.microsoft.com/office/drawing/2014/main" id="{73DAA03F-D7B0-15CD-267B-078E58D6ED32}"/>
              </a:ext>
            </a:extLst>
          </p:cNvPr>
          <p:cNvSpPr/>
          <p:nvPr/>
        </p:nvSpPr>
        <p:spPr>
          <a:xfrm>
            <a:off x="5314755" y="5802007"/>
            <a:ext cx="5197496" cy="874206"/>
          </a:xfrm>
          <a:prstGeom prst="roundRect">
            <a:avLst>
              <a:gd name="adj" fmla="val 685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286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664" name="Oval 1663">
            <a:extLst>
              <a:ext uri="{FF2B5EF4-FFF2-40B4-BE49-F238E27FC236}">
                <a16:creationId xmlns:a16="http://schemas.microsoft.com/office/drawing/2014/main" id="{3C5D6926-D391-6400-3FAD-8F07E576EBC7}"/>
              </a:ext>
            </a:extLst>
          </p:cNvPr>
          <p:cNvSpPr/>
          <p:nvPr/>
        </p:nvSpPr>
        <p:spPr>
          <a:xfrm>
            <a:off x="7337407" y="6170065"/>
            <a:ext cx="701716" cy="2266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A facility</a:t>
            </a:r>
          </a:p>
        </p:txBody>
      </p:sp>
      <p:sp>
        <p:nvSpPr>
          <p:cNvPr id="1665" name="Diamond 1664">
            <a:extLst>
              <a:ext uri="{FF2B5EF4-FFF2-40B4-BE49-F238E27FC236}">
                <a16:creationId xmlns:a16="http://schemas.microsoft.com/office/drawing/2014/main" id="{0B9D2EFD-9360-6393-FC48-3074C5A350F7}"/>
              </a:ext>
            </a:extLst>
          </p:cNvPr>
          <p:cNvSpPr/>
          <p:nvPr/>
        </p:nvSpPr>
        <p:spPr>
          <a:xfrm>
            <a:off x="8560733" y="6154578"/>
            <a:ext cx="741944" cy="257613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Products or </a:t>
            </a:r>
          </a:p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materials</a:t>
            </a:r>
          </a:p>
        </p:txBody>
      </p:sp>
      <p:cxnSp>
        <p:nvCxnSpPr>
          <p:cNvPr id="1668" name="Straight Connector 26">
            <a:extLst>
              <a:ext uri="{FF2B5EF4-FFF2-40B4-BE49-F238E27FC236}">
                <a16:creationId xmlns:a16="http://schemas.microsoft.com/office/drawing/2014/main" id="{47A10AC3-F975-9F71-40EB-45659C3C70B8}"/>
              </a:ext>
            </a:extLst>
          </p:cNvPr>
          <p:cNvCxnSpPr>
            <a:cxnSpLocks/>
            <a:stCxn id="1665" idx="1"/>
            <a:endCxn id="1664" idx="6"/>
          </p:cNvCxnSpPr>
          <p:nvPr/>
        </p:nvCxnSpPr>
        <p:spPr>
          <a:xfrm flipH="1">
            <a:off x="8039123" y="6283384"/>
            <a:ext cx="52161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5" name="Straight Connector 26">
            <a:extLst>
              <a:ext uri="{FF2B5EF4-FFF2-40B4-BE49-F238E27FC236}">
                <a16:creationId xmlns:a16="http://schemas.microsoft.com/office/drawing/2014/main" id="{F49E3A43-C751-FA89-B554-703F61C2AA5E}"/>
              </a:ext>
            </a:extLst>
          </p:cNvPr>
          <p:cNvCxnSpPr>
            <a:cxnSpLocks/>
            <a:stCxn id="1665" idx="3"/>
            <a:endCxn id="1665" idx="2"/>
          </p:cNvCxnSpPr>
          <p:nvPr/>
        </p:nvCxnSpPr>
        <p:spPr>
          <a:xfrm flipH="1">
            <a:off x="8931705" y="6283385"/>
            <a:ext cx="370972" cy="128806"/>
          </a:xfrm>
          <a:prstGeom prst="bentConnector4">
            <a:avLst>
              <a:gd name="adj1" fmla="val -44016"/>
              <a:gd name="adj2" fmla="val 226768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1" name="Rounded Rectangle 1680">
            <a:extLst>
              <a:ext uri="{FF2B5EF4-FFF2-40B4-BE49-F238E27FC236}">
                <a16:creationId xmlns:a16="http://schemas.microsoft.com/office/drawing/2014/main" id="{22612ACD-09FD-5F77-0FEA-8765936D75A0}"/>
              </a:ext>
            </a:extLst>
          </p:cNvPr>
          <p:cNvSpPr/>
          <p:nvPr/>
        </p:nvSpPr>
        <p:spPr>
          <a:xfrm>
            <a:off x="9036423" y="6482407"/>
            <a:ext cx="357516" cy="12971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714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682" name="Rounded Rectangle 1681">
            <a:extLst>
              <a:ext uri="{FF2B5EF4-FFF2-40B4-BE49-F238E27FC236}">
                <a16:creationId xmlns:a16="http://schemas.microsoft.com/office/drawing/2014/main" id="{5E5C28A5-ABB5-3D54-C66A-BA59643CAA19}"/>
              </a:ext>
            </a:extLst>
          </p:cNvPr>
          <p:cNvSpPr/>
          <p:nvPr/>
        </p:nvSpPr>
        <p:spPr>
          <a:xfrm>
            <a:off x="6374936" y="5996016"/>
            <a:ext cx="357516" cy="12971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714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683" name="Rounded Rectangle 1682">
            <a:extLst>
              <a:ext uri="{FF2B5EF4-FFF2-40B4-BE49-F238E27FC236}">
                <a16:creationId xmlns:a16="http://schemas.microsoft.com/office/drawing/2014/main" id="{1A112906-CAF1-026B-9F1B-8FAAE29A2289}"/>
              </a:ext>
            </a:extLst>
          </p:cNvPr>
          <p:cNvSpPr/>
          <p:nvPr/>
        </p:nvSpPr>
        <p:spPr>
          <a:xfrm>
            <a:off x="9605491" y="5959668"/>
            <a:ext cx="357516" cy="12971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714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cxnSp>
        <p:nvCxnSpPr>
          <p:cNvPr id="1689" name="Straight Connector 26">
            <a:extLst>
              <a:ext uri="{FF2B5EF4-FFF2-40B4-BE49-F238E27FC236}">
                <a16:creationId xmlns:a16="http://schemas.microsoft.com/office/drawing/2014/main" id="{55B29584-36EE-1475-B787-FEB6B44D3662}"/>
              </a:ext>
            </a:extLst>
          </p:cNvPr>
          <p:cNvCxnSpPr>
            <a:cxnSpLocks/>
            <a:stCxn id="1665" idx="0"/>
            <a:endCxn id="1683" idx="1"/>
          </p:cNvCxnSpPr>
          <p:nvPr/>
        </p:nvCxnSpPr>
        <p:spPr>
          <a:xfrm rot="5400000" flipH="1" flipV="1">
            <a:off x="9203572" y="5752659"/>
            <a:ext cx="130051" cy="673786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3" name="Straight Connector 26">
            <a:extLst>
              <a:ext uri="{FF2B5EF4-FFF2-40B4-BE49-F238E27FC236}">
                <a16:creationId xmlns:a16="http://schemas.microsoft.com/office/drawing/2014/main" id="{70075C40-C18A-4489-1892-B39B2D5FB81F}"/>
              </a:ext>
            </a:extLst>
          </p:cNvPr>
          <p:cNvCxnSpPr>
            <a:cxnSpLocks/>
            <a:stCxn id="1664" idx="0"/>
            <a:endCxn id="1682" idx="3"/>
          </p:cNvCxnSpPr>
          <p:nvPr/>
        </p:nvCxnSpPr>
        <p:spPr>
          <a:xfrm rot="16200000" flipV="1">
            <a:off x="7155764" y="5637564"/>
            <a:ext cx="109191" cy="955813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7" name="TextBox 1696">
            <a:extLst>
              <a:ext uri="{FF2B5EF4-FFF2-40B4-BE49-F238E27FC236}">
                <a16:creationId xmlns:a16="http://schemas.microsoft.com/office/drawing/2014/main" id="{B8BCCC3E-4C3A-0AA4-1183-0C4509ADFD12}"/>
              </a:ext>
            </a:extLst>
          </p:cNvPr>
          <p:cNvSpPr txBox="1"/>
          <p:nvPr/>
        </p:nvSpPr>
        <p:spPr>
          <a:xfrm>
            <a:off x="8065155" y="6121551"/>
            <a:ext cx="630301" cy="19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6578"/>
            <a:r>
              <a:rPr lang="en-AU" sz="643" dirty="0">
                <a:solidFill>
                  <a:prstClr val="black"/>
                </a:solidFill>
                <a:latin typeface="Aptos" panose="02110004020202020204"/>
              </a:rPr>
              <a:t>Produced by</a:t>
            </a:r>
          </a:p>
        </p:txBody>
      </p:sp>
      <p:sp>
        <p:nvSpPr>
          <p:cNvPr id="1698" name="TextBox 1697">
            <a:extLst>
              <a:ext uri="{FF2B5EF4-FFF2-40B4-BE49-F238E27FC236}">
                <a16:creationId xmlns:a16="http://schemas.microsoft.com/office/drawing/2014/main" id="{31CA78FD-D571-BA4E-D2A5-F0DC008A22FF}"/>
              </a:ext>
            </a:extLst>
          </p:cNvPr>
          <p:cNvSpPr txBox="1"/>
          <p:nvPr/>
        </p:nvSpPr>
        <p:spPr>
          <a:xfrm>
            <a:off x="9455055" y="6419050"/>
            <a:ext cx="566181" cy="19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6578"/>
            <a:r>
              <a:rPr lang="en-AU" sz="643" dirty="0">
                <a:solidFill>
                  <a:prstClr val="black"/>
                </a:solidFill>
                <a:latin typeface="Aptos" panose="02110004020202020204"/>
              </a:rPr>
              <a:t>Made from</a:t>
            </a:r>
          </a:p>
        </p:txBody>
      </p:sp>
      <p:sp>
        <p:nvSpPr>
          <p:cNvPr id="1699" name="TextBox 1698">
            <a:extLst>
              <a:ext uri="{FF2B5EF4-FFF2-40B4-BE49-F238E27FC236}">
                <a16:creationId xmlns:a16="http://schemas.microsoft.com/office/drawing/2014/main" id="{32B5F16E-CA29-2844-CA5E-A02ADA4A270B}"/>
              </a:ext>
            </a:extLst>
          </p:cNvPr>
          <p:cNvSpPr txBox="1"/>
          <p:nvPr/>
        </p:nvSpPr>
        <p:spPr>
          <a:xfrm>
            <a:off x="8963130" y="6006398"/>
            <a:ext cx="649537" cy="19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6578"/>
            <a:r>
              <a:rPr lang="en-AU" sz="643" dirty="0">
                <a:solidFill>
                  <a:prstClr val="black"/>
                </a:solidFill>
                <a:latin typeface="Aptos" panose="02110004020202020204"/>
              </a:rPr>
              <a:t>Described by</a:t>
            </a:r>
          </a:p>
        </p:txBody>
      </p:sp>
      <p:sp>
        <p:nvSpPr>
          <p:cNvPr id="1700" name="TextBox 1699">
            <a:extLst>
              <a:ext uri="{FF2B5EF4-FFF2-40B4-BE49-F238E27FC236}">
                <a16:creationId xmlns:a16="http://schemas.microsoft.com/office/drawing/2014/main" id="{5B7A13C7-51FD-0EDC-49EE-9E3C3610A37A}"/>
              </a:ext>
            </a:extLst>
          </p:cNvPr>
          <p:cNvSpPr txBox="1"/>
          <p:nvPr/>
        </p:nvSpPr>
        <p:spPr>
          <a:xfrm>
            <a:off x="6864083" y="6026486"/>
            <a:ext cx="649537" cy="19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6578"/>
            <a:r>
              <a:rPr lang="en-AU" sz="643" dirty="0">
                <a:solidFill>
                  <a:prstClr val="black"/>
                </a:solidFill>
                <a:latin typeface="Aptos" panose="02110004020202020204"/>
              </a:rPr>
              <a:t>Described by</a:t>
            </a:r>
          </a:p>
        </p:txBody>
      </p:sp>
      <p:pic>
        <p:nvPicPr>
          <p:cNvPr id="1702" name="Picture 2" descr="Government icon (black) - Free vector icons on creazilla.com">
            <a:extLst>
              <a:ext uri="{FF2B5EF4-FFF2-40B4-BE49-F238E27FC236}">
                <a16:creationId xmlns:a16="http://schemas.microsoft.com/office/drawing/2014/main" id="{8DEA9FD1-4611-1979-E28A-D529628F9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6200" y="6125732"/>
            <a:ext cx="352328" cy="336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03" name="TextBox 1702">
            <a:extLst>
              <a:ext uri="{FF2B5EF4-FFF2-40B4-BE49-F238E27FC236}">
                <a16:creationId xmlns:a16="http://schemas.microsoft.com/office/drawing/2014/main" id="{B236A489-0175-2429-9B8E-F742979B65BD}"/>
              </a:ext>
            </a:extLst>
          </p:cNvPr>
          <p:cNvSpPr txBox="1"/>
          <p:nvPr/>
        </p:nvSpPr>
        <p:spPr>
          <a:xfrm>
            <a:off x="5462095" y="5960853"/>
            <a:ext cx="506870" cy="19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6578"/>
            <a:r>
              <a:rPr lang="en-AU" sz="643" dirty="0">
                <a:solidFill>
                  <a:prstClr val="black"/>
                </a:solidFill>
                <a:latin typeface="Aptos" panose="02110004020202020204"/>
              </a:rPr>
              <a:t>Authority</a:t>
            </a:r>
          </a:p>
        </p:txBody>
      </p:sp>
      <p:cxnSp>
        <p:nvCxnSpPr>
          <p:cNvPr id="1704" name="Straight Connector 26">
            <a:extLst>
              <a:ext uri="{FF2B5EF4-FFF2-40B4-BE49-F238E27FC236}">
                <a16:creationId xmlns:a16="http://schemas.microsoft.com/office/drawing/2014/main" id="{1D57261B-06CE-2011-F29C-60CB15E5E441}"/>
              </a:ext>
            </a:extLst>
          </p:cNvPr>
          <p:cNvCxnSpPr>
            <a:cxnSpLocks/>
            <a:stCxn id="1664" idx="2"/>
            <a:endCxn id="1702" idx="3"/>
          </p:cNvCxnSpPr>
          <p:nvPr/>
        </p:nvCxnSpPr>
        <p:spPr>
          <a:xfrm flipH="1">
            <a:off x="5858527" y="6283384"/>
            <a:ext cx="1478880" cy="1079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1" name="Rounded Rectangle 1700">
            <a:extLst>
              <a:ext uri="{FF2B5EF4-FFF2-40B4-BE49-F238E27FC236}">
                <a16:creationId xmlns:a16="http://schemas.microsoft.com/office/drawing/2014/main" id="{CD0D56E8-2BCE-2053-62B8-D79F04E58C79}"/>
              </a:ext>
            </a:extLst>
          </p:cNvPr>
          <p:cNvSpPr/>
          <p:nvPr/>
        </p:nvSpPr>
        <p:spPr>
          <a:xfrm>
            <a:off x="6405999" y="6429388"/>
            <a:ext cx="357516" cy="12971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714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708" name="Rounded Rectangle 1707">
            <a:extLst>
              <a:ext uri="{FF2B5EF4-FFF2-40B4-BE49-F238E27FC236}">
                <a16:creationId xmlns:a16="http://schemas.microsoft.com/office/drawing/2014/main" id="{F16A808C-7FA4-76FC-A95A-7664626F9409}"/>
              </a:ext>
            </a:extLst>
          </p:cNvPr>
          <p:cNvSpPr/>
          <p:nvPr/>
        </p:nvSpPr>
        <p:spPr>
          <a:xfrm>
            <a:off x="6009568" y="6217618"/>
            <a:ext cx="357516" cy="129716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714" dirty="0">
                <a:solidFill>
                  <a:prstClr val="black"/>
                </a:solidFill>
                <a:latin typeface="Aptos" panose="02110004020202020204"/>
              </a:rPr>
              <a:t>DCC</a:t>
            </a:r>
          </a:p>
        </p:txBody>
      </p:sp>
      <p:sp>
        <p:nvSpPr>
          <p:cNvPr id="1709" name="TextBox 1708">
            <a:extLst>
              <a:ext uri="{FF2B5EF4-FFF2-40B4-BE49-F238E27FC236}">
                <a16:creationId xmlns:a16="http://schemas.microsoft.com/office/drawing/2014/main" id="{9038F3E1-5D8C-7DA0-A8B4-00A7E9CE8E6F}"/>
              </a:ext>
            </a:extLst>
          </p:cNvPr>
          <p:cNvSpPr txBox="1"/>
          <p:nvPr/>
        </p:nvSpPr>
        <p:spPr>
          <a:xfrm>
            <a:off x="6366904" y="6264508"/>
            <a:ext cx="952505" cy="19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6578"/>
            <a:r>
              <a:rPr lang="en-AU" sz="643" dirty="0">
                <a:solidFill>
                  <a:prstClr val="black"/>
                </a:solidFill>
                <a:latin typeface="Aptos" panose="02110004020202020204"/>
              </a:rPr>
              <a:t>Certified / licensed by</a:t>
            </a:r>
          </a:p>
        </p:txBody>
      </p:sp>
      <p:cxnSp>
        <p:nvCxnSpPr>
          <p:cNvPr id="1713" name="Straight Connector 26">
            <a:extLst>
              <a:ext uri="{FF2B5EF4-FFF2-40B4-BE49-F238E27FC236}">
                <a16:creationId xmlns:a16="http://schemas.microsoft.com/office/drawing/2014/main" id="{1BB65A1B-B984-06FB-B4E1-1A147406705D}"/>
              </a:ext>
            </a:extLst>
          </p:cNvPr>
          <p:cNvCxnSpPr>
            <a:cxnSpLocks/>
            <a:stCxn id="1664" idx="4"/>
            <a:endCxn id="1701" idx="3"/>
          </p:cNvCxnSpPr>
          <p:nvPr/>
        </p:nvCxnSpPr>
        <p:spPr>
          <a:xfrm rot="5400000">
            <a:off x="7177119" y="5983100"/>
            <a:ext cx="97543" cy="924750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6" name="TextBox 1715">
            <a:extLst>
              <a:ext uri="{FF2B5EF4-FFF2-40B4-BE49-F238E27FC236}">
                <a16:creationId xmlns:a16="http://schemas.microsoft.com/office/drawing/2014/main" id="{6296B170-7DF5-5253-6085-4DCDB9E0AAE2}"/>
              </a:ext>
            </a:extLst>
          </p:cNvPr>
          <p:cNvSpPr txBox="1"/>
          <p:nvPr/>
        </p:nvSpPr>
        <p:spPr>
          <a:xfrm>
            <a:off x="6971937" y="6475522"/>
            <a:ext cx="619080" cy="19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6578"/>
            <a:r>
              <a:rPr lang="en-AU" sz="643" dirty="0">
                <a:solidFill>
                  <a:prstClr val="black"/>
                </a:solidFill>
                <a:latin typeface="Aptos" panose="02110004020202020204"/>
              </a:rPr>
              <a:t>Identified by</a:t>
            </a:r>
          </a:p>
        </p:txBody>
      </p:sp>
      <p:sp>
        <p:nvSpPr>
          <p:cNvPr id="1730" name="TextBox 1729">
            <a:extLst>
              <a:ext uri="{FF2B5EF4-FFF2-40B4-BE49-F238E27FC236}">
                <a16:creationId xmlns:a16="http://schemas.microsoft.com/office/drawing/2014/main" id="{44CFDBA9-344B-775F-A3B2-45686F1B1549}"/>
              </a:ext>
            </a:extLst>
          </p:cNvPr>
          <p:cNvSpPr txBox="1"/>
          <p:nvPr/>
        </p:nvSpPr>
        <p:spPr>
          <a:xfrm>
            <a:off x="9570716" y="6066297"/>
            <a:ext cx="762621" cy="29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AU" sz="643" i="1" dirty="0">
                <a:solidFill>
                  <a:prstClr val="black"/>
                </a:solidFill>
                <a:latin typeface="Aptos" panose="02110004020202020204"/>
              </a:rPr>
              <a:t>At model, batch, or item level</a:t>
            </a:r>
          </a:p>
        </p:txBody>
      </p:sp>
    </p:spTree>
    <p:extLst>
      <p:ext uri="{BB962C8B-B14F-4D97-AF65-F5344CB8AC3E}">
        <p14:creationId xmlns:p14="http://schemas.microsoft.com/office/powerpoint/2010/main" val="57906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5D699-C4D8-39FF-FDB0-1382831BD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Rounded Rectangle 782">
            <a:extLst>
              <a:ext uri="{FF2B5EF4-FFF2-40B4-BE49-F238E27FC236}">
                <a16:creationId xmlns:a16="http://schemas.microsoft.com/office/drawing/2014/main" id="{4CF8C397-A57B-0721-B9AA-A1F722716DD9}"/>
              </a:ext>
            </a:extLst>
          </p:cNvPr>
          <p:cNvSpPr/>
          <p:nvPr/>
        </p:nvSpPr>
        <p:spPr>
          <a:xfrm>
            <a:off x="7605643" y="1154020"/>
            <a:ext cx="1497479" cy="1443241"/>
          </a:xfrm>
          <a:prstGeom prst="roundRect">
            <a:avLst>
              <a:gd name="adj" fmla="val 7444"/>
            </a:avLst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21" name="Rounded Rectangle 720">
            <a:extLst>
              <a:ext uri="{FF2B5EF4-FFF2-40B4-BE49-F238E27FC236}">
                <a16:creationId xmlns:a16="http://schemas.microsoft.com/office/drawing/2014/main" id="{9CBE3C05-2101-9BF1-C4A6-B4A181BA3E07}"/>
              </a:ext>
            </a:extLst>
          </p:cNvPr>
          <p:cNvSpPr/>
          <p:nvPr/>
        </p:nvSpPr>
        <p:spPr>
          <a:xfrm>
            <a:off x="7688265" y="1334818"/>
            <a:ext cx="521915" cy="11979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27" name="Rounded Rectangle 726">
            <a:extLst>
              <a:ext uri="{FF2B5EF4-FFF2-40B4-BE49-F238E27FC236}">
                <a16:creationId xmlns:a16="http://schemas.microsoft.com/office/drawing/2014/main" id="{496C3282-5D66-ED6D-8738-08EF480DC6FB}"/>
              </a:ext>
            </a:extLst>
          </p:cNvPr>
          <p:cNvSpPr/>
          <p:nvPr/>
        </p:nvSpPr>
        <p:spPr>
          <a:xfrm>
            <a:off x="8274694" y="1334818"/>
            <a:ext cx="772015" cy="1197925"/>
          </a:xfrm>
          <a:prstGeom prst="roundRect">
            <a:avLst>
              <a:gd name="adj" fmla="val 14145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51" name="Rounded Rectangle 750">
            <a:extLst>
              <a:ext uri="{FF2B5EF4-FFF2-40B4-BE49-F238E27FC236}">
                <a16:creationId xmlns:a16="http://schemas.microsoft.com/office/drawing/2014/main" id="{45259927-8F19-F16E-9C4F-FD21BC9743FF}"/>
              </a:ext>
            </a:extLst>
          </p:cNvPr>
          <p:cNvSpPr/>
          <p:nvPr/>
        </p:nvSpPr>
        <p:spPr>
          <a:xfrm>
            <a:off x="6361825" y="1468565"/>
            <a:ext cx="1165399" cy="1779615"/>
          </a:xfrm>
          <a:prstGeom prst="roundRect">
            <a:avLst>
              <a:gd name="adj" fmla="val 7444"/>
            </a:avLst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59" name="Rounded Rectangle 458">
            <a:extLst>
              <a:ext uri="{FF2B5EF4-FFF2-40B4-BE49-F238E27FC236}">
                <a16:creationId xmlns:a16="http://schemas.microsoft.com/office/drawing/2014/main" id="{24EEAA5A-0195-A5F3-73A5-C6C1A69EE54F}"/>
              </a:ext>
            </a:extLst>
          </p:cNvPr>
          <p:cNvSpPr/>
          <p:nvPr/>
        </p:nvSpPr>
        <p:spPr>
          <a:xfrm>
            <a:off x="6419935" y="1630821"/>
            <a:ext cx="521915" cy="156037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69" name="Rounded Rectangle 468">
            <a:extLst>
              <a:ext uri="{FF2B5EF4-FFF2-40B4-BE49-F238E27FC236}">
                <a16:creationId xmlns:a16="http://schemas.microsoft.com/office/drawing/2014/main" id="{8C0C007B-53E9-1F5A-7039-9A6E5B3833DE}"/>
              </a:ext>
            </a:extLst>
          </p:cNvPr>
          <p:cNvSpPr/>
          <p:nvPr/>
        </p:nvSpPr>
        <p:spPr>
          <a:xfrm>
            <a:off x="6993891" y="1623378"/>
            <a:ext cx="456560" cy="156037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84" name="Rounded Rectangle 783">
            <a:extLst>
              <a:ext uri="{FF2B5EF4-FFF2-40B4-BE49-F238E27FC236}">
                <a16:creationId xmlns:a16="http://schemas.microsoft.com/office/drawing/2014/main" id="{D76BEED1-5158-FF1B-16F3-29C4D92822D0}"/>
              </a:ext>
            </a:extLst>
          </p:cNvPr>
          <p:cNvSpPr/>
          <p:nvPr/>
        </p:nvSpPr>
        <p:spPr>
          <a:xfrm>
            <a:off x="7607311" y="2662542"/>
            <a:ext cx="1500971" cy="1560848"/>
          </a:xfrm>
          <a:prstGeom prst="roundRect">
            <a:avLst>
              <a:gd name="adj" fmla="val 7444"/>
            </a:avLst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90" name="Rounded Rectangle 789">
            <a:extLst>
              <a:ext uri="{FF2B5EF4-FFF2-40B4-BE49-F238E27FC236}">
                <a16:creationId xmlns:a16="http://schemas.microsoft.com/office/drawing/2014/main" id="{D001406B-1EDF-CDB7-2ABE-0F75E89BB251}"/>
              </a:ext>
            </a:extLst>
          </p:cNvPr>
          <p:cNvSpPr/>
          <p:nvPr/>
        </p:nvSpPr>
        <p:spPr>
          <a:xfrm>
            <a:off x="9160323" y="1508858"/>
            <a:ext cx="1247853" cy="2587577"/>
          </a:xfrm>
          <a:prstGeom prst="roundRect">
            <a:avLst>
              <a:gd name="adj" fmla="val 7444"/>
            </a:avLst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96" name="Rounded Rectangle 495">
            <a:extLst>
              <a:ext uri="{FF2B5EF4-FFF2-40B4-BE49-F238E27FC236}">
                <a16:creationId xmlns:a16="http://schemas.microsoft.com/office/drawing/2014/main" id="{B7EB3D9D-507C-C54F-DA0F-2DD5B76168DF}"/>
              </a:ext>
            </a:extLst>
          </p:cNvPr>
          <p:cNvSpPr/>
          <p:nvPr/>
        </p:nvSpPr>
        <p:spPr>
          <a:xfrm>
            <a:off x="7688265" y="2872610"/>
            <a:ext cx="520896" cy="127464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505" name="Rounded Rectangle 504">
            <a:extLst>
              <a:ext uri="{FF2B5EF4-FFF2-40B4-BE49-F238E27FC236}">
                <a16:creationId xmlns:a16="http://schemas.microsoft.com/office/drawing/2014/main" id="{ECD72236-DE77-6B6C-7C19-1A872D3AEFAF}"/>
              </a:ext>
            </a:extLst>
          </p:cNvPr>
          <p:cNvSpPr/>
          <p:nvPr/>
        </p:nvSpPr>
        <p:spPr>
          <a:xfrm>
            <a:off x="8280829" y="2872608"/>
            <a:ext cx="765880" cy="1274648"/>
          </a:xfrm>
          <a:prstGeom prst="roundRect">
            <a:avLst>
              <a:gd name="adj" fmla="val 14145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55" name="Rounded Rectangle 754">
            <a:extLst>
              <a:ext uri="{FF2B5EF4-FFF2-40B4-BE49-F238E27FC236}">
                <a16:creationId xmlns:a16="http://schemas.microsoft.com/office/drawing/2014/main" id="{0DCD0D1A-5FE1-E61A-5311-58539858328C}"/>
              </a:ext>
            </a:extLst>
          </p:cNvPr>
          <p:cNvSpPr/>
          <p:nvPr/>
        </p:nvSpPr>
        <p:spPr>
          <a:xfrm>
            <a:off x="5144229" y="1344920"/>
            <a:ext cx="1165399" cy="2084080"/>
          </a:xfrm>
          <a:prstGeom prst="roundRect">
            <a:avLst>
              <a:gd name="adj" fmla="val 7444"/>
            </a:avLst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57" name="Rounded Rectangle 756">
            <a:extLst>
              <a:ext uri="{FF2B5EF4-FFF2-40B4-BE49-F238E27FC236}">
                <a16:creationId xmlns:a16="http://schemas.microsoft.com/office/drawing/2014/main" id="{4B65E454-C636-3623-9D85-2189EA5B7557}"/>
              </a:ext>
            </a:extLst>
          </p:cNvPr>
          <p:cNvSpPr/>
          <p:nvPr/>
        </p:nvSpPr>
        <p:spPr>
          <a:xfrm>
            <a:off x="5213487" y="1434636"/>
            <a:ext cx="489147" cy="83778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58" name="Rounded Rectangle 757">
            <a:extLst>
              <a:ext uri="{FF2B5EF4-FFF2-40B4-BE49-F238E27FC236}">
                <a16:creationId xmlns:a16="http://schemas.microsoft.com/office/drawing/2014/main" id="{4D517A55-D571-543F-0F93-75E0FE0EFAB3}"/>
              </a:ext>
            </a:extLst>
          </p:cNvPr>
          <p:cNvSpPr/>
          <p:nvPr/>
        </p:nvSpPr>
        <p:spPr>
          <a:xfrm>
            <a:off x="5746404" y="1434636"/>
            <a:ext cx="489147" cy="8377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59" name="Rounded Rectangle 758">
            <a:extLst>
              <a:ext uri="{FF2B5EF4-FFF2-40B4-BE49-F238E27FC236}">
                <a16:creationId xmlns:a16="http://schemas.microsoft.com/office/drawing/2014/main" id="{E0150C4C-9C49-D06E-92A9-0BAB8931627A}"/>
              </a:ext>
            </a:extLst>
          </p:cNvPr>
          <p:cNvSpPr/>
          <p:nvPr/>
        </p:nvSpPr>
        <p:spPr>
          <a:xfrm>
            <a:off x="5213487" y="2344470"/>
            <a:ext cx="489147" cy="101074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60" name="Rounded Rectangle 759">
            <a:extLst>
              <a:ext uri="{FF2B5EF4-FFF2-40B4-BE49-F238E27FC236}">
                <a16:creationId xmlns:a16="http://schemas.microsoft.com/office/drawing/2014/main" id="{BE68A282-F665-85A9-FEF5-A606DD061615}"/>
              </a:ext>
            </a:extLst>
          </p:cNvPr>
          <p:cNvSpPr/>
          <p:nvPr/>
        </p:nvSpPr>
        <p:spPr>
          <a:xfrm>
            <a:off x="5746404" y="2353003"/>
            <a:ext cx="489147" cy="99011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42" name="Rounded Rectangle 741">
            <a:extLst>
              <a:ext uri="{FF2B5EF4-FFF2-40B4-BE49-F238E27FC236}">
                <a16:creationId xmlns:a16="http://schemas.microsoft.com/office/drawing/2014/main" id="{6068F7BD-744E-7C6E-0476-1182C8268788}"/>
              </a:ext>
            </a:extLst>
          </p:cNvPr>
          <p:cNvSpPr/>
          <p:nvPr/>
        </p:nvSpPr>
        <p:spPr>
          <a:xfrm>
            <a:off x="1799994" y="1344920"/>
            <a:ext cx="3251924" cy="1782441"/>
          </a:xfrm>
          <a:prstGeom prst="roundRect">
            <a:avLst>
              <a:gd name="adj" fmla="val 2362"/>
            </a:avLst>
          </a:prstGeom>
          <a:solidFill>
            <a:schemeClr val="accent4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326578"/>
            <a:endParaRPr lang="en-AU" sz="571" b="1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05" name="Rounded Rectangle 404">
            <a:extLst>
              <a:ext uri="{FF2B5EF4-FFF2-40B4-BE49-F238E27FC236}">
                <a16:creationId xmlns:a16="http://schemas.microsoft.com/office/drawing/2014/main" id="{4167C999-5F40-9358-3D1C-18708453ADF4}"/>
              </a:ext>
            </a:extLst>
          </p:cNvPr>
          <p:cNvSpPr/>
          <p:nvPr/>
        </p:nvSpPr>
        <p:spPr>
          <a:xfrm>
            <a:off x="1849252" y="1508858"/>
            <a:ext cx="489147" cy="158992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11" name="Rounded Rectangle 410">
            <a:extLst>
              <a:ext uri="{FF2B5EF4-FFF2-40B4-BE49-F238E27FC236}">
                <a16:creationId xmlns:a16="http://schemas.microsoft.com/office/drawing/2014/main" id="{16A48090-048C-9A4C-6262-0A8D4D792B2A}"/>
              </a:ext>
            </a:extLst>
          </p:cNvPr>
          <p:cNvSpPr/>
          <p:nvPr/>
        </p:nvSpPr>
        <p:spPr>
          <a:xfrm>
            <a:off x="2380239" y="1508858"/>
            <a:ext cx="489147" cy="158992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12" name="Rounded Rectangle 411">
            <a:extLst>
              <a:ext uri="{FF2B5EF4-FFF2-40B4-BE49-F238E27FC236}">
                <a16:creationId xmlns:a16="http://schemas.microsoft.com/office/drawing/2014/main" id="{0B9670DF-7EDB-BC99-D2D8-938C4D590693}"/>
              </a:ext>
            </a:extLst>
          </p:cNvPr>
          <p:cNvSpPr/>
          <p:nvPr/>
        </p:nvSpPr>
        <p:spPr>
          <a:xfrm>
            <a:off x="2918450" y="1507176"/>
            <a:ext cx="489147" cy="158992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13" name="Rounded Rectangle 412">
            <a:extLst>
              <a:ext uri="{FF2B5EF4-FFF2-40B4-BE49-F238E27FC236}">
                <a16:creationId xmlns:a16="http://schemas.microsoft.com/office/drawing/2014/main" id="{E0675D45-B205-B2A8-FEDA-27B1889A6A3E}"/>
              </a:ext>
            </a:extLst>
          </p:cNvPr>
          <p:cNvSpPr/>
          <p:nvPr/>
        </p:nvSpPr>
        <p:spPr>
          <a:xfrm>
            <a:off x="3456191" y="1511256"/>
            <a:ext cx="489147" cy="158992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24" name="Rounded Rectangle 423">
            <a:extLst>
              <a:ext uri="{FF2B5EF4-FFF2-40B4-BE49-F238E27FC236}">
                <a16:creationId xmlns:a16="http://schemas.microsoft.com/office/drawing/2014/main" id="{BB9C1FB4-4A50-70C4-B30F-1AD7256C01FD}"/>
              </a:ext>
            </a:extLst>
          </p:cNvPr>
          <p:cNvSpPr/>
          <p:nvPr/>
        </p:nvSpPr>
        <p:spPr>
          <a:xfrm>
            <a:off x="3978275" y="1507176"/>
            <a:ext cx="489147" cy="158992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25" name="Rounded Rectangle 424">
            <a:extLst>
              <a:ext uri="{FF2B5EF4-FFF2-40B4-BE49-F238E27FC236}">
                <a16:creationId xmlns:a16="http://schemas.microsoft.com/office/drawing/2014/main" id="{BDB8F248-82FF-482C-8C8F-C86FF0AD77C9}"/>
              </a:ext>
            </a:extLst>
          </p:cNvPr>
          <p:cNvSpPr/>
          <p:nvPr/>
        </p:nvSpPr>
        <p:spPr>
          <a:xfrm>
            <a:off x="4508780" y="1507176"/>
            <a:ext cx="489147" cy="158992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0B610E8-2267-330F-982F-E1822B76155B}"/>
              </a:ext>
            </a:extLst>
          </p:cNvPr>
          <p:cNvSpPr/>
          <p:nvPr/>
        </p:nvSpPr>
        <p:spPr>
          <a:xfrm>
            <a:off x="1927957" y="1907846"/>
            <a:ext cx="343844" cy="1788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Mine2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339A422-AAA6-B93A-DEEE-191097435094}"/>
              </a:ext>
            </a:extLst>
          </p:cNvPr>
          <p:cNvSpPr/>
          <p:nvPr/>
        </p:nvSpPr>
        <p:spPr>
          <a:xfrm>
            <a:off x="2960257" y="2051013"/>
            <a:ext cx="408776" cy="178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Smelter2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DB71884-7139-D9FE-BBCC-F0FE93159BC3}"/>
              </a:ext>
            </a:extLst>
          </p:cNvPr>
          <p:cNvSpPr/>
          <p:nvPr/>
        </p:nvSpPr>
        <p:spPr>
          <a:xfrm>
            <a:off x="5289652" y="1814187"/>
            <a:ext cx="344886" cy="164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Fab2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224BFD0-076F-84F2-E5D6-9D21CD0550DE}"/>
              </a:ext>
            </a:extLst>
          </p:cNvPr>
          <p:cNvSpPr/>
          <p:nvPr/>
        </p:nvSpPr>
        <p:spPr>
          <a:xfrm>
            <a:off x="1938019" y="2236533"/>
            <a:ext cx="343844" cy="1589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Mine3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39C3792-8AA2-E850-31C0-D4BA952199CC}"/>
              </a:ext>
            </a:extLst>
          </p:cNvPr>
          <p:cNvSpPr/>
          <p:nvPr/>
        </p:nvSpPr>
        <p:spPr>
          <a:xfrm>
            <a:off x="1925548" y="2519384"/>
            <a:ext cx="368785" cy="1589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Mine4</a:t>
            </a:r>
          </a:p>
        </p:txBody>
      </p:sp>
      <p:cxnSp>
        <p:nvCxnSpPr>
          <p:cNvPr id="50" name="Straight Connector 26">
            <a:extLst>
              <a:ext uri="{FF2B5EF4-FFF2-40B4-BE49-F238E27FC236}">
                <a16:creationId xmlns:a16="http://schemas.microsoft.com/office/drawing/2014/main" id="{5AAA27DA-9A10-C273-CA49-98A567AEF678}"/>
              </a:ext>
            </a:extLst>
          </p:cNvPr>
          <p:cNvCxnSpPr>
            <a:cxnSpLocks/>
            <a:stCxn id="5" idx="6"/>
            <a:endCxn id="21" idx="2"/>
          </p:cNvCxnSpPr>
          <p:nvPr/>
        </p:nvCxnSpPr>
        <p:spPr>
          <a:xfrm>
            <a:off x="2271801" y="1997264"/>
            <a:ext cx="688456" cy="14316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461933BF-2905-A7C5-3EA5-B744568F4B8C}"/>
              </a:ext>
            </a:extLst>
          </p:cNvPr>
          <p:cNvSpPr/>
          <p:nvPr/>
        </p:nvSpPr>
        <p:spPr>
          <a:xfrm>
            <a:off x="2946491" y="2425802"/>
            <a:ext cx="408776" cy="178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Smelter3</a:t>
            </a:r>
          </a:p>
        </p:txBody>
      </p:sp>
      <p:cxnSp>
        <p:nvCxnSpPr>
          <p:cNvPr id="251" name="Straight Connector 26">
            <a:extLst>
              <a:ext uri="{FF2B5EF4-FFF2-40B4-BE49-F238E27FC236}">
                <a16:creationId xmlns:a16="http://schemas.microsoft.com/office/drawing/2014/main" id="{82EB830D-1872-C251-E460-CA4B78B0BB67}"/>
              </a:ext>
            </a:extLst>
          </p:cNvPr>
          <p:cNvCxnSpPr>
            <a:cxnSpLocks/>
            <a:stCxn id="39" idx="6"/>
            <a:endCxn id="21" idx="2"/>
          </p:cNvCxnSpPr>
          <p:nvPr/>
        </p:nvCxnSpPr>
        <p:spPr>
          <a:xfrm flipV="1">
            <a:off x="2281863" y="2140432"/>
            <a:ext cx="678394" cy="17556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6">
            <a:extLst>
              <a:ext uri="{FF2B5EF4-FFF2-40B4-BE49-F238E27FC236}">
                <a16:creationId xmlns:a16="http://schemas.microsoft.com/office/drawing/2014/main" id="{3CA37295-C3A6-82C4-795F-ECE5C78328F0}"/>
              </a:ext>
            </a:extLst>
          </p:cNvPr>
          <p:cNvCxnSpPr>
            <a:cxnSpLocks/>
            <a:stCxn id="5" idx="6"/>
            <a:endCxn id="146" idx="2"/>
          </p:cNvCxnSpPr>
          <p:nvPr/>
        </p:nvCxnSpPr>
        <p:spPr>
          <a:xfrm>
            <a:off x="2271800" y="1997264"/>
            <a:ext cx="674690" cy="51795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6">
            <a:extLst>
              <a:ext uri="{FF2B5EF4-FFF2-40B4-BE49-F238E27FC236}">
                <a16:creationId xmlns:a16="http://schemas.microsoft.com/office/drawing/2014/main" id="{3D5D0309-5230-9DD5-ABE0-851F63A6A9CC}"/>
              </a:ext>
            </a:extLst>
          </p:cNvPr>
          <p:cNvCxnSpPr>
            <a:cxnSpLocks/>
            <a:stCxn id="39" idx="6"/>
            <a:endCxn id="146" idx="2"/>
          </p:cNvCxnSpPr>
          <p:nvPr/>
        </p:nvCxnSpPr>
        <p:spPr>
          <a:xfrm>
            <a:off x="2281863" y="2315997"/>
            <a:ext cx="664627" cy="19922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6">
            <a:extLst>
              <a:ext uri="{FF2B5EF4-FFF2-40B4-BE49-F238E27FC236}">
                <a16:creationId xmlns:a16="http://schemas.microsoft.com/office/drawing/2014/main" id="{6ECF4267-5429-546F-7546-E1A38520F003}"/>
              </a:ext>
            </a:extLst>
          </p:cNvPr>
          <p:cNvCxnSpPr>
            <a:cxnSpLocks/>
            <a:stCxn id="40" idx="6"/>
            <a:endCxn id="146" idx="2"/>
          </p:cNvCxnSpPr>
          <p:nvPr/>
        </p:nvCxnSpPr>
        <p:spPr>
          <a:xfrm flipV="1">
            <a:off x="2294333" y="2515220"/>
            <a:ext cx="652157" cy="83628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5" name="Oval 334">
            <a:extLst>
              <a:ext uri="{FF2B5EF4-FFF2-40B4-BE49-F238E27FC236}">
                <a16:creationId xmlns:a16="http://schemas.microsoft.com/office/drawing/2014/main" id="{0D75CB0F-F9F9-48AA-5C01-86F2B63661F3}"/>
              </a:ext>
            </a:extLst>
          </p:cNvPr>
          <p:cNvSpPr/>
          <p:nvPr/>
        </p:nvSpPr>
        <p:spPr>
          <a:xfrm>
            <a:off x="3998434" y="1952214"/>
            <a:ext cx="408776" cy="178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Refiner2</a:t>
            </a:r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3C5BCA4F-B6F1-2377-AB1E-2F044E53FC57}"/>
              </a:ext>
            </a:extLst>
          </p:cNvPr>
          <p:cNvSpPr/>
          <p:nvPr/>
        </p:nvSpPr>
        <p:spPr>
          <a:xfrm>
            <a:off x="3998434" y="2262076"/>
            <a:ext cx="408776" cy="178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Refiner3</a:t>
            </a:r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8EA608B5-D22F-A3F4-5D34-5A63BD334775}"/>
              </a:ext>
            </a:extLst>
          </p:cNvPr>
          <p:cNvSpPr/>
          <p:nvPr/>
        </p:nvSpPr>
        <p:spPr>
          <a:xfrm>
            <a:off x="4008007" y="2534288"/>
            <a:ext cx="408776" cy="1788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Refiner4</a:t>
            </a:r>
          </a:p>
        </p:txBody>
      </p:sp>
      <p:cxnSp>
        <p:nvCxnSpPr>
          <p:cNvPr id="344" name="Straight Connector 26">
            <a:extLst>
              <a:ext uri="{FF2B5EF4-FFF2-40B4-BE49-F238E27FC236}">
                <a16:creationId xmlns:a16="http://schemas.microsoft.com/office/drawing/2014/main" id="{8E2C7984-0B2B-FDEA-A53C-F54780CF2406}"/>
              </a:ext>
            </a:extLst>
          </p:cNvPr>
          <p:cNvCxnSpPr>
            <a:cxnSpLocks/>
            <a:stCxn id="21" idx="6"/>
            <a:endCxn id="335" idx="2"/>
          </p:cNvCxnSpPr>
          <p:nvPr/>
        </p:nvCxnSpPr>
        <p:spPr>
          <a:xfrm flipV="1">
            <a:off x="3369033" y="2041633"/>
            <a:ext cx="629401" cy="9879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26">
            <a:extLst>
              <a:ext uri="{FF2B5EF4-FFF2-40B4-BE49-F238E27FC236}">
                <a16:creationId xmlns:a16="http://schemas.microsoft.com/office/drawing/2014/main" id="{6FABA3CD-F7AC-FCD2-709A-DC316EF594AB}"/>
              </a:ext>
            </a:extLst>
          </p:cNvPr>
          <p:cNvCxnSpPr>
            <a:cxnSpLocks/>
            <a:stCxn id="21" idx="6"/>
            <a:endCxn id="336" idx="2"/>
          </p:cNvCxnSpPr>
          <p:nvPr/>
        </p:nvCxnSpPr>
        <p:spPr>
          <a:xfrm>
            <a:off x="3369033" y="2140431"/>
            <a:ext cx="629401" cy="21106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26">
            <a:extLst>
              <a:ext uri="{FF2B5EF4-FFF2-40B4-BE49-F238E27FC236}">
                <a16:creationId xmlns:a16="http://schemas.microsoft.com/office/drawing/2014/main" id="{9F90E804-53BF-D4B8-D2CC-82AD391D42DC}"/>
              </a:ext>
            </a:extLst>
          </p:cNvPr>
          <p:cNvCxnSpPr>
            <a:cxnSpLocks/>
            <a:stCxn id="146" idx="6"/>
            <a:endCxn id="337" idx="2"/>
          </p:cNvCxnSpPr>
          <p:nvPr/>
        </p:nvCxnSpPr>
        <p:spPr>
          <a:xfrm>
            <a:off x="3355266" y="2515221"/>
            <a:ext cx="652740" cy="10848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26">
            <a:extLst>
              <a:ext uri="{FF2B5EF4-FFF2-40B4-BE49-F238E27FC236}">
                <a16:creationId xmlns:a16="http://schemas.microsoft.com/office/drawing/2014/main" id="{B7716CDA-AEB2-54E5-1FB9-7503A225F1D8}"/>
              </a:ext>
            </a:extLst>
          </p:cNvPr>
          <p:cNvCxnSpPr>
            <a:cxnSpLocks/>
            <a:stCxn id="146" idx="6"/>
            <a:endCxn id="336" idx="2"/>
          </p:cNvCxnSpPr>
          <p:nvPr/>
        </p:nvCxnSpPr>
        <p:spPr>
          <a:xfrm flipV="1">
            <a:off x="3355267" y="2351494"/>
            <a:ext cx="643167" cy="16372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3" name="Oval 362">
            <a:extLst>
              <a:ext uri="{FF2B5EF4-FFF2-40B4-BE49-F238E27FC236}">
                <a16:creationId xmlns:a16="http://schemas.microsoft.com/office/drawing/2014/main" id="{52CE3100-BB7B-FCB0-C775-DFBE893FA649}"/>
              </a:ext>
            </a:extLst>
          </p:cNvPr>
          <p:cNvSpPr/>
          <p:nvPr/>
        </p:nvSpPr>
        <p:spPr>
          <a:xfrm>
            <a:off x="5306703" y="2661037"/>
            <a:ext cx="325266" cy="164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Fab3</a:t>
            </a:r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CB9CB75C-5104-6B8C-3ED3-413426B1C14B}"/>
              </a:ext>
            </a:extLst>
          </p:cNvPr>
          <p:cNvSpPr/>
          <p:nvPr/>
        </p:nvSpPr>
        <p:spPr>
          <a:xfrm>
            <a:off x="5301898" y="2901123"/>
            <a:ext cx="325266" cy="164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Fab4</a:t>
            </a:r>
          </a:p>
        </p:txBody>
      </p:sp>
      <p:cxnSp>
        <p:nvCxnSpPr>
          <p:cNvPr id="369" name="Straight Connector 26">
            <a:extLst>
              <a:ext uri="{FF2B5EF4-FFF2-40B4-BE49-F238E27FC236}">
                <a16:creationId xmlns:a16="http://schemas.microsoft.com/office/drawing/2014/main" id="{A39A8C63-3869-ADE9-34D1-AB8E4E44331C}"/>
              </a:ext>
            </a:extLst>
          </p:cNvPr>
          <p:cNvCxnSpPr>
            <a:cxnSpLocks/>
            <a:stCxn id="337" idx="6"/>
            <a:endCxn id="364" idx="2"/>
          </p:cNvCxnSpPr>
          <p:nvPr/>
        </p:nvCxnSpPr>
        <p:spPr>
          <a:xfrm>
            <a:off x="4416783" y="2623706"/>
            <a:ext cx="885115" cy="35967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26">
            <a:extLst>
              <a:ext uri="{FF2B5EF4-FFF2-40B4-BE49-F238E27FC236}">
                <a16:creationId xmlns:a16="http://schemas.microsoft.com/office/drawing/2014/main" id="{2D8E0193-F947-09C4-E265-9D655E3D941F}"/>
              </a:ext>
            </a:extLst>
          </p:cNvPr>
          <p:cNvCxnSpPr>
            <a:cxnSpLocks/>
            <a:stCxn id="336" idx="6"/>
            <a:endCxn id="363" idx="2"/>
          </p:cNvCxnSpPr>
          <p:nvPr/>
        </p:nvCxnSpPr>
        <p:spPr>
          <a:xfrm>
            <a:off x="4407210" y="2351495"/>
            <a:ext cx="899492" cy="39180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26">
            <a:extLst>
              <a:ext uri="{FF2B5EF4-FFF2-40B4-BE49-F238E27FC236}">
                <a16:creationId xmlns:a16="http://schemas.microsoft.com/office/drawing/2014/main" id="{6597DDC7-6FDC-6A5F-83D1-9308AD406453}"/>
              </a:ext>
            </a:extLst>
          </p:cNvPr>
          <p:cNvCxnSpPr>
            <a:cxnSpLocks/>
            <a:stCxn id="335" idx="6"/>
            <a:endCxn id="363" idx="2"/>
          </p:cNvCxnSpPr>
          <p:nvPr/>
        </p:nvCxnSpPr>
        <p:spPr>
          <a:xfrm>
            <a:off x="4407210" y="2041632"/>
            <a:ext cx="899492" cy="70166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26">
            <a:extLst>
              <a:ext uri="{FF2B5EF4-FFF2-40B4-BE49-F238E27FC236}">
                <a16:creationId xmlns:a16="http://schemas.microsoft.com/office/drawing/2014/main" id="{C17BD312-E3FC-8F46-3971-6023B9531A21}"/>
              </a:ext>
            </a:extLst>
          </p:cNvPr>
          <p:cNvCxnSpPr>
            <a:cxnSpLocks/>
            <a:stCxn id="335" idx="6"/>
            <a:endCxn id="32" idx="2"/>
          </p:cNvCxnSpPr>
          <p:nvPr/>
        </p:nvCxnSpPr>
        <p:spPr>
          <a:xfrm flipV="1">
            <a:off x="4407210" y="1896449"/>
            <a:ext cx="882442" cy="14518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>
            <a:extLst>
              <a:ext uri="{FF2B5EF4-FFF2-40B4-BE49-F238E27FC236}">
                <a16:creationId xmlns:a16="http://schemas.microsoft.com/office/drawing/2014/main" id="{B3330452-8DE1-C358-ACA2-50E0D7277026}"/>
              </a:ext>
            </a:extLst>
          </p:cNvPr>
          <p:cNvSpPr txBox="1"/>
          <p:nvPr/>
        </p:nvSpPr>
        <p:spPr>
          <a:xfrm>
            <a:off x="3407597" y="1502819"/>
            <a:ext cx="584716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Blister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FE05A4F5-A981-4B17-CD8A-CCDAC5FCAC39}"/>
              </a:ext>
            </a:extLst>
          </p:cNvPr>
          <p:cNvSpPr txBox="1"/>
          <p:nvPr/>
        </p:nvSpPr>
        <p:spPr>
          <a:xfrm>
            <a:off x="4442607" y="1485751"/>
            <a:ext cx="610289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Cathode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367B9A9A-36E5-1C81-EE54-520D3B82B17E}"/>
              </a:ext>
            </a:extLst>
          </p:cNvPr>
          <p:cNvSpPr txBox="1"/>
          <p:nvPr/>
        </p:nvSpPr>
        <p:spPr>
          <a:xfrm>
            <a:off x="3955417" y="1499001"/>
            <a:ext cx="523578" cy="3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Refiners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RMI ID/ ICA ID</a:t>
            </a:r>
          </a:p>
        </p:txBody>
      </p:sp>
      <p:cxnSp>
        <p:nvCxnSpPr>
          <p:cNvPr id="440" name="Straight Connector 26">
            <a:extLst>
              <a:ext uri="{FF2B5EF4-FFF2-40B4-BE49-F238E27FC236}">
                <a16:creationId xmlns:a16="http://schemas.microsoft.com/office/drawing/2014/main" id="{4E218612-6B28-7217-C058-FFD837357B9B}"/>
              </a:ext>
            </a:extLst>
          </p:cNvPr>
          <p:cNvCxnSpPr>
            <a:cxnSpLocks/>
            <a:stCxn id="32" idx="6"/>
            <a:endCxn id="444" idx="1"/>
          </p:cNvCxnSpPr>
          <p:nvPr/>
        </p:nvCxnSpPr>
        <p:spPr>
          <a:xfrm>
            <a:off x="5634538" y="1896449"/>
            <a:ext cx="291358" cy="6262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Straight Connector 26">
            <a:extLst>
              <a:ext uri="{FF2B5EF4-FFF2-40B4-BE49-F238E27FC236}">
                <a16:creationId xmlns:a16="http://schemas.microsoft.com/office/drawing/2014/main" id="{3659970F-B7C2-BA5B-4226-5F2FA542FCA7}"/>
              </a:ext>
            </a:extLst>
          </p:cNvPr>
          <p:cNvCxnSpPr>
            <a:cxnSpLocks/>
            <a:stCxn id="32" idx="6"/>
            <a:endCxn id="488" idx="1"/>
          </p:cNvCxnSpPr>
          <p:nvPr/>
        </p:nvCxnSpPr>
        <p:spPr>
          <a:xfrm flipV="1">
            <a:off x="5634538" y="1786319"/>
            <a:ext cx="200024" cy="11013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26">
            <a:extLst>
              <a:ext uri="{FF2B5EF4-FFF2-40B4-BE49-F238E27FC236}">
                <a16:creationId xmlns:a16="http://schemas.microsoft.com/office/drawing/2014/main" id="{0B7A7F96-D199-2B6C-7871-200C45AB3A63}"/>
              </a:ext>
            </a:extLst>
          </p:cNvPr>
          <p:cNvCxnSpPr>
            <a:cxnSpLocks/>
            <a:stCxn id="363" idx="6"/>
            <a:endCxn id="458" idx="2"/>
          </p:cNvCxnSpPr>
          <p:nvPr/>
        </p:nvCxnSpPr>
        <p:spPr>
          <a:xfrm>
            <a:off x="5631969" y="2743299"/>
            <a:ext cx="890510" cy="11780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Connector 26">
            <a:extLst>
              <a:ext uri="{FF2B5EF4-FFF2-40B4-BE49-F238E27FC236}">
                <a16:creationId xmlns:a16="http://schemas.microsoft.com/office/drawing/2014/main" id="{38EE5974-968A-F863-A085-A6BECD4D4975}"/>
              </a:ext>
            </a:extLst>
          </p:cNvPr>
          <p:cNvCxnSpPr>
            <a:cxnSpLocks/>
            <a:stCxn id="363" idx="6"/>
            <a:endCxn id="446" idx="1"/>
          </p:cNvCxnSpPr>
          <p:nvPr/>
        </p:nvCxnSpPr>
        <p:spPr>
          <a:xfrm flipV="1">
            <a:off x="5631969" y="2674675"/>
            <a:ext cx="206584" cy="6862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6" name="Oval 455">
            <a:extLst>
              <a:ext uri="{FF2B5EF4-FFF2-40B4-BE49-F238E27FC236}">
                <a16:creationId xmlns:a16="http://schemas.microsoft.com/office/drawing/2014/main" id="{8628D693-4449-3E1B-A6FD-5D3E9EA96A6F}"/>
              </a:ext>
            </a:extLst>
          </p:cNvPr>
          <p:cNvSpPr/>
          <p:nvPr/>
        </p:nvSpPr>
        <p:spPr>
          <a:xfrm>
            <a:off x="6510126" y="2086683"/>
            <a:ext cx="344886" cy="164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Manf2</a:t>
            </a: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A6D7B723-E484-EED4-B828-4FA4E36CD077}"/>
              </a:ext>
            </a:extLst>
          </p:cNvPr>
          <p:cNvSpPr/>
          <p:nvPr/>
        </p:nvSpPr>
        <p:spPr>
          <a:xfrm>
            <a:off x="6523852" y="2424026"/>
            <a:ext cx="325266" cy="164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Manf3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6DD2B049-E439-9D86-1162-F31DB7F61A9A}"/>
              </a:ext>
            </a:extLst>
          </p:cNvPr>
          <p:cNvSpPr/>
          <p:nvPr/>
        </p:nvSpPr>
        <p:spPr>
          <a:xfrm>
            <a:off x="6522479" y="2778844"/>
            <a:ext cx="325266" cy="164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Manf4</a:t>
            </a: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EB435FAE-7724-F960-F75B-198B96B95312}"/>
              </a:ext>
            </a:extLst>
          </p:cNvPr>
          <p:cNvSpPr txBox="1"/>
          <p:nvPr/>
        </p:nvSpPr>
        <p:spPr>
          <a:xfrm>
            <a:off x="6350418" y="1623208"/>
            <a:ext cx="651126" cy="3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Cell Factory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or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Catena-x ID</a:t>
            </a:r>
          </a:p>
        </p:txBody>
      </p:sp>
      <p:cxnSp>
        <p:nvCxnSpPr>
          <p:cNvPr id="461" name="Straight Connector 26">
            <a:extLst>
              <a:ext uri="{FF2B5EF4-FFF2-40B4-BE49-F238E27FC236}">
                <a16:creationId xmlns:a16="http://schemas.microsoft.com/office/drawing/2014/main" id="{FB930DE4-BEA6-85E1-8A5E-E1A9A7B68FB2}"/>
              </a:ext>
            </a:extLst>
          </p:cNvPr>
          <p:cNvCxnSpPr>
            <a:cxnSpLocks/>
            <a:stCxn id="456" idx="6"/>
            <a:endCxn id="465" idx="1"/>
          </p:cNvCxnSpPr>
          <p:nvPr/>
        </p:nvCxnSpPr>
        <p:spPr>
          <a:xfrm flipV="1">
            <a:off x="6855012" y="2138481"/>
            <a:ext cx="240201" cy="3046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26">
            <a:extLst>
              <a:ext uri="{FF2B5EF4-FFF2-40B4-BE49-F238E27FC236}">
                <a16:creationId xmlns:a16="http://schemas.microsoft.com/office/drawing/2014/main" id="{28051983-BBD4-774A-6C1B-4350A96BE895}"/>
              </a:ext>
            </a:extLst>
          </p:cNvPr>
          <p:cNvCxnSpPr>
            <a:cxnSpLocks/>
            <a:stCxn id="457" idx="6"/>
            <a:endCxn id="467" idx="1"/>
          </p:cNvCxnSpPr>
          <p:nvPr/>
        </p:nvCxnSpPr>
        <p:spPr>
          <a:xfrm>
            <a:off x="6849118" y="2506289"/>
            <a:ext cx="246095" cy="6956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26">
            <a:extLst>
              <a:ext uri="{FF2B5EF4-FFF2-40B4-BE49-F238E27FC236}">
                <a16:creationId xmlns:a16="http://schemas.microsoft.com/office/drawing/2014/main" id="{0D6CC36D-6FBF-EAE2-527A-AEC2A82F3698}"/>
              </a:ext>
            </a:extLst>
          </p:cNvPr>
          <p:cNvCxnSpPr>
            <a:cxnSpLocks/>
            <a:stCxn id="458" idx="6"/>
            <a:endCxn id="468" idx="1"/>
          </p:cNvCxnSpPr>
          <p:nvPr/>
        </p:nvCxnSpPr>
        <p:spPr>
          <a:xfrm flipV="1">
            <a:off x="6847745" y="2791542"/>
            <a:ext cx="247468" cy="6956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0" name="TextBox 469">
            <a:extLst>
              <a:ext uri="{FF2B5EF4-FFF2-40B4-BE49-F238E27FC236}">
                <a16:creationId xmlns:a16="http://schemas.microsoft.com/office/drawing/2014/main" id="{C544FB4D-6517-5AD0-EB98-8210AEDAEFAA}"/>
              </a:ext>
            </a:extLst>
          </p:cNvPr>
          <p:cNvSpPr txBox="1"/>
          <p:nvPr/>
        </p:nvSpPr>
        <p:spPr>
          <a:xfrm>
            <a:off x="6959634" y="1630819"/>
            <a:ext cx="532511" cy="3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Batteries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Model id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Serial id</a:t>
            </a:r>
          </a:p>
        </p:txBody>
      </p:sp>
      <p:cxnSp>
        <p:nvCxnSpPr>
          <p:cNvPr id="485" name="Straight Connector 26">
            <a:extLst>
              <a:ext uri="{FF2B5EF4-FFF2-40B4-BE49-F238E27FC236}">
                <a16:creationId xmlns:a16="http://schemas.microsoft.com/office/drawing/2014/main" id="{6329A36D-E9E7-AE74-6464-2EB20186A01C}"/>
              </a:ext>
            </a:extLst>
          </p:cNvPr>
          <p:cNvCxnSpPr>
            <a:cxnSpLocks/>
            <a:stCxn id="364" idx="6"/>
            <a:endCxn id="458" idx="2"/>
          </p:cNvCxnSpPr>
          <p:nvPr/>
        </p:nvCxnSpPr>
        <p:spPr>
          <a:xfrm flipV="1">
            <a:off x="5627164" y="2861106"/>
            <a:ext cx="895314" cy="12227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4" name="Diamond 443">
            <a:extLst>
              <a:ext uri="{FF2B5EF4-FFF2-40B4-BE49-F238E27FC236}">
                <a16:creationId xmlns:a16="http://schemas.microsoft.com/office/drawing/2014/main" id="{F6D27C39-15B5-5769-1BCE-F4BD831F3EC6}"/>
              </a:ext>
            </a:extLst>
          </p:cNvPr>
          <p:cNvSpPr/>
          <p:nvPr/>
        </p:nvSpPr>
        <p:spPr>
          <a:xfrm>
            <a:off x="5925896" y="1890403"/>
            <a:ext cx="242390" cy="13734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P3</a:t>
            </a:r>
          </a:p>
        </p:txBody>
      </p:sp>
      <p:sp>
        <p:nvSpPr>
          <p:cNvPr id="447" name="Diamond 446">
            <a:extLst>
              <a:ext uri="{FF2B5EF4-FFF2-40B4-BE49-F238E27FC236}">
                <a16:creationId xmlns:a16="http://schemas.microsoft.com/office/drawing/2014/main" id="{2C90CF59-5BEB-20A1-C840-1F2E9B548B54}"/>
              </a:ext>
            </a:extLst>
          </p:cNvPr>
          <p:cNvSpPr/>
          <p:nvPr/>
        </p:nvSpPr>
        <p:spPr>
          <a:xfrm>
            <a:off x="5993687" y="2747669"/>
            <a:ext cx="246669" cy="13912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P5</a:t>
            </a:r>
          </a:p>
        </p:txBody>
      </p:sp>
      <p:sp>
        <p:nvSpPr>
          <p:cNvPr id="488" name="Diamond 487">
            <a:extLst>
              <a:ext uri="{FF2B5EF4-FFF2-40B4-BE49-F238E27FC236}">
                <a16:creationId xmlns:a16="http://schemas.microsoft.com/office/drawing/2014/main" id="{AF5879DC-C366-8D80-7A80-E24655E437A5}"/>
              </a:ext>
            </a:extLst>
          </p:cNvPr>
          <p:cNvSpPr/>
          <p:nvPr/>
        </p:nvSpPr>
        <p:spPr>
          <a:xfrm>
            <a:off x="5834562" y="1712772"/>
            <a:ext cx="269016" cy="147094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P2</a:t>
            </a:r>
          </a:p>
        </p:txBody>
      </p:sp>
      <p:cxnSp>
        <p:nvCxnSpPr>
          <p:cNvPr id="516" name="Straight Connector 26">
            <a:extLst>
              <a:ext uri="{FF2B5EF4-FFF2-40B4-BE49-F238E27FC236}">
                <a16:creationId xmlns:a16="http://schemas.microsoft.com/office/drawing/2014/main" id="{A3B50C37-6CED-E2E3-AF0F-48E4F8645AEE}"/>
              </a:ext>
            </a:extLst>
          </p:cNvPr>
          <p:cNvCxnSpPr>
            <a:cxnSpLocks/>
            <a:stCxn id="457" idx="6"/>
            <a:endCxn id="466" idx="1"/>
          </p:cNvCxnSpPr>
          <p:nvPr/>
        </p:nvCxnSpPr>
        <p:spPr>
          <a:xfrm flipV="1">
            <a:off x="6849118" y="2346044"/>
            <a:ext cx="246094" cy="16024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5" name="Diamond 464">
            <a:extLst>
              <a:ext uri="{FF2B5EF4-FFF2-40B4-BE49-F238E27FC236}">
                <a16:creationId xmlns:a16="http://schemas.microsoft.com/office/drawing/2014/main" id="{F75E0C68-3C07-91D2-2A9F-902A8D6E22C5}"/>
              </a:ext>
            </a:extLst>
          </p:cNvPr>
          <p:cNvSpPr/>
          <p:nvPr/>
        </p:nvSpPr>
        <p:spPr>
          <a:xfrm>
            <a:off x="7095212" y="2068917"/>
            <a:ext cx="240521" cy="13912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P12</a:t>
            </a:r>
          </a:p>
        </p:txBody>
      </p:sp>
      <p:sp>
        <p:nvSpPr>
          <p:cNvPr id="466" name="Diamond 465">
            <a:extLst>
              <a:ext uri="{FF2B5EF4-FFF2-40B4-BE49-F238E27FC236}">
                <a16:creationId xmlns:a16="http://schemas.microsoft.com/office/drawing/2014/main" id="{10F874B1-6DA5-DA46-9695-628E2B531AF5}"/>
              </a:ext>
            </a:extLst>
          </p:cNvPr>
          <p:cNvSpPr/>
          <p:nvPr/>
        </p:nvSpPr>
        <p:spPr>
          <a:xfrm>
            <a:off x="7095213" y="2276481"/>
            <a:ext cx="246942" cy="13912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P13</a:t>
            </a:r>
          </a:p>
        </p:txBody>
      </p:sp>
      <p:sp>
        <p:nvSpPr>
          <p:cNvPr id="467" name="Diamond 466">
            <a:extLst>
              <a:ext uri="{FF2B5EF4-FFF2-40B4-BE49-F238E27FC236}">
                <a16:creationId xmlns:a16="http://schemas.microsoft.com/office/drawing/2014/main" id="{482590F4-1B63-0429-CAEF-678AB1DA84D7}"/>
              </a:ext>
            </a:extLst>
          </p:cNvPr>
          <p:cNvSpPr/>
          <p:nvPr/>
        </p:nvSpPr>
        <p:spPr>
          <a:xfrm>
            <a:off x="7095213" y="2506288"/>
            <a:ext cx="243590" cy="13912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P14</a:t>
            </a:r>
          </a:p>
        </p:txBody>
      </p:sp>
      <p:sp>
        <p:nvSpPr>
          <p:cNvPr id="468" name="Diamond 467">
            <a:extLst>
              <a:ext uri="{FF2B5EF4-FFF2-40B4-BE49-F238E27FC236}">
                <a16:creationId xmlns:a16="http://schemas.microsoft.com/office/drawing/2014/main" id="{258BCDE0-6814-2360-2CCA-936A2725C5EE}"/>
              </a:ext>
            </a:extLst>
          </p:cNvPr>
          <p:cNvSpPr/>
          <p:nvPr/>
        </p:nvSpPr>
        <p:spPr>
          <a:xfrm>
            <a:off x="7095213" y="2721979"/>
            <a:ext cx="227410" cy="13912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P15</a:t>
            </a:r>
          </a:p>
        </p:txBody>
      </p:sp>
      <p:cxnSp>
        <p:nvCxnSpPr>
          <p:cNvPr id="463" name="Straight Connector 26">
            <a:extLst>
              <a:ext uri="{FF2B5EF4-FFF2-40B4-BE49-F238E27FC236}">
                <a16:creationId xmlns:a16="http://schemas.microsoft.com/office/drawing/2014/main" id="{A2C1AC75-4573-F121-BB25-FAAAD339A155}"/>
              </a:ext>
            </a:extLst>
          </p:cNvPr>
          <p:cNvCxnSpPr>
            <a:cxnSpLocks/>
            <a:stCxn id="494" idx="6"/>
            <a:endCxn id="501" idx="1"/>
          </p:cNvCxnSpPr>
          <p:nvPr/>
        </p:nvCxnSpPr>
        <p:spPr>
          <a:xfrm>
            <a:off x="8127503" y="3689537"/>
            <a:ext cx="176864" cy="27759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Oval 492">
            <a:extLst>
              <a:ext uri="{FF2B5EF4-FFF2-40B4-BE49-F238E27FC236}">
                <a16:creationId xmlns:a16="http://schemas.microsoft.com/office/drawing/2014/main" id="{3938AF99-2F38-83D2-D536-23BE9A9EEA71}"/>
              </a:ext>
            </a:extLst>
          </p:cNvPr>
          <p:cNvSpPr/>
          <p:nvPr/>
        </p:nvSpPr>
        <p:spPr>
          <a:xfrm>
            <a:off x="7784930" y="3361694"/>
            <a:ext cx="344886" cy="15927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Plant3</a:t>
            </a:r>
          </a:p>
        </p:txBody>
      </p:sp>
      <p:sp>
        <p:nvSpPr>
          <p:cNvPr id="494" name="Oval 493">
            <a:extLst>
              <a:ext uri="{FF2B5EF4-FFF2-40B4-BE49-F238E27FC236}">
                <a16:creationId xmlns:a16="http://schemas.microsoft.com/office/drawing/2014/main" id="{4E987898-784B-C31D-A6A1-EE63CE4BBA37}"/>
              </a:ext>
            </a:extLst>
          </p:cNvPr>
          <p:cNvSpPr/>
          <p:nvPr/>
        </p:nvSpPr>
        <p:spPr>
          <a:xfrm>
            <a:off x="7802237" y="3608360"/>
            <a:ext cx="325266" cy="16235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Plant4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4BE7268-5248-9E9C-93D0-044ACF2B3BA9}"/>
              </a:ext>
            </a:extLst>
          </p:cNvPr>
          <p:cNvSpPr txBox="1"/>
          <p:nvPr/>
        </p:nvSpPr>
        <p:spPr>
          <a:xfrm>
            <a:off x="7628127" y="2872608"/>
            <a:ext cx="606465" cy="3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Auto OEMs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 / Catena-x ID</a:t>
            </a:r>
          </a:p>
        </p:txBody>
      </p:sp>
      <p:cxnSp>
        <p:nvCxnSpPr>
          <p:cNvPr id="498" name="Straight Connector 26">
            <a:extLst>
              <a:ext uri="{FF2B5EF4-FFF2-40B4-BE49-F238E27FC236}">
                <a16:creationId xmlns:a16="http://schemas.microsoft.com/office/drawing/2014/main" id="{380CBFED-31B5-58D3-6852-80FFED2E2C0C}"/>
              </a:ext>
            </a:extLst>
          </p:cNvPr>
          <p:cNvCxnSpPr>
            <a:cxnSpLocks/>
            <a:stCxn id="493" idx="6"/>
            <a:endCxn id="502" idx="1"/>
          </p:cNvCxnSpPr>
          <p:nvPr/>
        </p:nvCxnSpPr>
        <p:spPr>
          <a:xfrm>
            <a:off x="8129816" y="3441329"/>
            <a:ext cx="286304" cy="25235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2" name="Diamond 501">
            <a:extLst>
              <a:ext uri="{FF2B5EF4-FFF2-40B4-BE49-F238E27FC236}">
                <a16:creationId xmlns:a16="http://schemas.microsoft.com/office/drawing/2014/main" id="{1F598C75-A83F-33F9-DA94-BD7EB69AF245}"/>
              </a:ext>
            </a:extLst>
          </p:cNvPr>
          <p:cNvSpPr/>
          <p:nvPr/>
        </p:nvSpPr>
        <p:spPr>
          <a:xfrm>
            <a:off x="8416120" y="3616657"/>
            <a:ext cx="347430" cy="154056"/>
          </a:xfrm>
          <a:prstGeom prst="diamond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FP5</a:t>
            </a:r>
          </a:p>
        </p:txBody>
      </p:sp>
      <p:sp>
        <p:nvSpPr>
          <p:cNvPr id="503" name="Diamond 502">
            <a:extLst>
              <a:ext uri="{FF2B5EF4-FFF2-40B4-BE49-F238E27FC236}">
                <a16:creationId xmlns:a16="http://schemas.microsoft.com/office/drawing/2014/main" id="{2AFB0F87-3A63-271B-52FF-E958537DA775}"/>
              </a:ext>
            </a:extLst>
          </p:cNvPr>
          <p:cNvSpPr/>
          <p:nvPr/>
        </p:nvSpPr>
        <p:spPr>
          <a:xfrm>
            <a:off x="8606214" y="3429000"/>
            <a:ext cx="353343" cy="133396"/>
          </a:xfrm>
          <a:prstGeom prst="diamond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FP4</a:t>
            </a:r>
          </a:p>
        </p:txBody>
      </p:sp>
      <p:sp>
        <p:nvSpPr>
          <p:cNvPr id="506" name="TextBox 505">
            <a:extLst>
              <a:ext uri="{FF2B5EF4-FFF2-40B4-BE49-F238E27FC236}">
                <a16:creationId xmlns:a16="http://schemas.microsoft.com/office/drawing/2014/main" id="{3D0B51A1-56AC-FB55-3FBE-15F5F272D472}"/>
              </a:ext>
            </a:extLst>
          </p:cNvPr>
          <p:cNvSpPr txBox="1"/>
          <p:nvPr/>
        </p:nvSpPr>
        <p:spPr>
          <a:xfrm>
            <a:off x="8239534" y="2872608"/>
            <a:ext cx="807804" cy="268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Vehicles</a:t>
            </a:r>
          </a:p>
          <a:p>
            <a:pPr algn="ctr" defTabSz="326578"/>
            <a:r>
              <a:rPr lang="en-AU" sz="571" i="1" dirty="0">
                <a:solidFill>
                  <a:prstClr val="black"/>
                </a:solidFill>
                <a:latin typeface="Aptos" panose="02110004020202020204"/>
              </a:rPr>
              <a:t>Model id / VIN </a:t>
            </a:r>
          </a:p>
        </p:txBody>
      </p:sp>
      <p:cxnSp>
        <p:nvCxnSpPr>
          <p:cNvPr id="531" name="Straight Connector 26">
            <a:extLst>
              <a:ext uri="{FF2B5EF4-FFF2-40B4-BE49-F238E27FC236}">
                <a16:creationId xmlns:a16="http://schemas.microsoft.com/office/drawing/2014/main" id="{B738614F-DE7C-D721-D342-9C3D86066724}"/>
              </a:ext>
            </a:extLst>
          </p:cNvPr>
          <p:cNvCxnSpPr>
            <a:cxnSpLocks/>
            <a:stCxn id="493" idx="6"/>
            <a:endCxn id="503" idx="1"/>
          </p:cNvCxnSpPr>
          <p:nvPr/>
        </p:nvCxnSpPr>
        <p:spPr>
          <a:xfrm>
            <a:off x="8129816" y="3441329"/>
            <a:ext cx="476399" cy="5436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Straight Connector 26">
            <a:extLst>
              <a:ext uri="{FF2B5EF4-FFF2-40B4-BE49-F238E27FC236}">
                <a16:creationId xmlns:a16="http://schemas.microsoft.com/office/drawing/2014/main" id="{D7788C25-1E5B-CA48-17B9-0D8EBF5DBAF8}"/>
              </a:ext>
            </a:extLst>
          </p:cNvPr>
          <p:cNvCxnSpPr>
            <a:cxnSpLocks/>
            <a:stCxn id="720" idx="6"/>
            <a:endCxn id="724" idx="1"/>
          </p:cNvCxnSpPr>
          <p:nvPr/>
        </p:nvCxnSpPr>
        <p:spPr>
          <a:xfrm>
            <a:off x="8105360" y="2080147"/>
            <a:ext cx="243565" cy="25541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" name="Oval 718">
            <a:extLst>
              <a:ext uri="{FF2B5EF4-FFF2-40B4-BE49-F238E27FC236}">
                <a16:creationId xmlns:a16="http://schemas.microsoft.com/office/drawing/2014/main" id="{C296F559-8282-3517-CE47-542311075797}"/>
              </a:ext>
            </a:extLst>
          </p:cNvPr>
          <p:cNvSpPr/>
          <p:nvPr/>
        </p:nvSpPr>
        <p:spPr>
          <a:xfrm>
            <a:off x="7758916" y="1731132"/>
            <a:ext cx="344886" cy="15927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Plant1</a:t>
            </a:r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73BEB17A-197F-C3B2-FDA7-5FED5294AFD3}"/>
              </a:ext>
            </a:extLst>
          </p:cNvPr>
          <p:cNvSpPr/>
          <p:nvPr/>
        </p:nvSpPr>
        <p:spPr>
          <a:xfrm>
            <a:off x="7780094" y="2000512"/>
            <a:ext cx="325266" cy="15927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Plant2</a:t>
            </a:r>
          </a:p>
        </p:txBody>
      </p:sp>
      <p:sp>
        <p:nvSpPr>
          <p:cNvPr id="722" name="TextBox 721">
            <a:extLst>
              <a:ext uri="{FF2B5EF4-FFF2-40B4-BE49-F238E27FC236}">
                <a16:creationId xmlns:a16="http://schemas.microsoft.com/office/drawing/2014/main" id="{CB5D0744-F618-DDDE-88FB-33C6F0AE92B4}"/>
              </a:ext>
            </a:extLst>
          </p:cNvPr>
          <p:cNvSpPr txBox="1"/>
          <p:nvPr/>
        </p:nvSpPr>
        <p:spPr>
          <a:xfrm>
            <a:off x="7628126" y="1367881"/>
            <a:ext cx="606465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OEMs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</a:t>
            </a:r>
          </a:p>
        </p:txBody>
      </p:sp>
      <p:cxnSp>
        <p:nvCxnSpPr>
          <p:cNvPr id="723" name="Straight Connector 26">
            <a:extLst>
              <a:ext uri="{FF2B5EF4-FFF2-40B4-BE49-F238E27FC236}">
                <a16:creationId xmlns:a16="http://schemas.microsoft.com/office/drawing/2014/main" id="{B209002E-6206-AB6A-56A2-3AA7C720EFA5}"/>
              </a:ext>
            </a:extLst>
          </p:cNvPr>
          <p:cNvCxnSpPr>
            <a:cxnSpLocks/>
            <a:stCxn id="719" idx="6"/>
            <a:endCxn id="725" idx="1"/>
          </p:cNvCxnSpPr>
          <p:nvPr/>
        </p:nvCxnSpPr>
        <p:spPr>
          <a:xfrm>
            <a:off x="8103801" y="1810768"/>
            <a:ext cx="404250" cy="19993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" name="Diamond 723">
            <a:extLst>
              <a:ext uri="{FF2B5EF4-FFF2-40B4-BE49-F238E27FC236}">
                <a16:creationId xmlns:a16="http://schemas.microsoft.com/office/drawing/2014/main" id="{F8F83C55-244D-9EA9-772A-D9082B5CDCB9}"/>
              </a:ext>
            </a:extLst>
          </p:cNvPr>
          <p:cNvSpPr/>
          <p:nvPr/>
        </p:nvSpPr>
        <p:spPr>
          <a:xfrm>
            <a:off x="8348926" y="2266119"/>
            <a:ext cx="320476" cy="138884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FP3</a:t>
            </a:r>
          </a:p>
        </p:txBody>
      </p:sp>
      <p:sp>
        <p:nvSpPr>
          <p:cNvPr id="725" name="Diamond 724">
            <a:extLst>
              <a:ext uri="{FF2B5EF4-FFF2-40B4-BE49-F238E27FC236}">
                <a16:creationId xmlns:a16="http://schemas.microsoft.com/office/drawing/2014/main" id="{6EDB039B-D994-3F55-5500-65BE12800F39}"/>
              </a:ext>
            </a:extLst>
          </p:cNvPr>
          <p:cNvSpPr/>
          <p:nvPr/>
        </p:nvSpPr>
        <p:spPr>
          <a:xfrm>
            <a:off x="8508052" y="1943362"/>
            <a:ext cx="327278" cy="134684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FP1</a:t>
            </a:r>
          </a:p>
        </p:txBody>
      </p:sp>
      <p:sp>
        <p:nvSpPr>
          <p:cNvPr id="726" name="Diamond 725">
            <a:extLst>
              <a:ext uri="{FF2B5EF4-FFF2-40B4-BE49-F238E27FC236}">
                <a16:creationId xmlns:a16="http://schemas.microsoft.com/office/drawing/2014/main" id="{853C8C19-1E42-BFE4-5CA8-5F04A0187665}"/>
              </a:ext>
            </a:extLst>
          </p:cNvPr>
          <p:cNvSpPr/>
          <p:nvPr/>
        </p:nvSpPr>
        <p:spPr>
          <a:xfrm>
            <a:off x="8683182" y="2148657"/>
            <a:ext cx="278051" cy="134684"/>
          </a:xfrm>
          <a:prstGeom prst="diamond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FP2</a:t>
            </a:r>
          </a:p>
        </p:txBody>
      </p:sp>
      <p:sp>
        <p:nvSpPr>
          <p:cNvPr id="728" name="TextBox 727">
            <a:extLst>
              <a:ext uri="{FF2B5EF4-FFF2-40B4-BE49-F238E27FC236}">
                <a16:creationId xmlns:a16="http://schemas.microsoft.com/office/drawing/2014/main" id="{1FEED6EA-FF3E-A273-BD22-7B0638FDBC9B}"/>
              </a:ext>
            </a:extLst>
          </p:cNvPr>
          <p:cNvSpPr txBox="1"/>
          <p:nvPr/>
        </p:nvSpPr>
        <p:spPr>
          <a:xfrm>
            <a:off x="8238905" y="1381384"/>
            <a:ext cx="807804" cy="268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Electronic Devices</a:t>
            </a:r>
          </a:p>
          <a:p>
            <a:pPr algn="ctr" defTabSz="326578"/>
            <a:r>
              <a:rPr lang="en-AU" sz="571" i="1" dirty="0">
                <a:solidFill>
                  <a:prstClr val="black"/>
                </a:solidFill>
                <a:latin typeface="Aptos" panose="02110004020202020204"/>
              </a:rPr>
              <a:t>Model id / serial id</a:t>
            </a:r>
          </a:p>
        </p:txBody>
      </p:sp>
      <p:cxnSp>
        <p:nvCxnSpPr>
          <p:cNvPr id="730" name="Straight Connector 26">
            <a:extLst>
              <a:ext uri="{FF2B5EF4-FFF2-40B4-BE49-F238E27FC236}">
                <a16:creationId xmlns:a16="http://schemas.microsoft.com/office/drawing/2014/main" id="{D307D178-58C8-38CF-1772-1FF6CB6DB794}"/>
              </a:ext>
            </a:extLst>
          </p:cNvPr>
          <p:cNvCxnSpPr>
            <a:cxnSpLocks/>
            <a:stCxn id="719" idx="6"/>
            <a:endCxn id="726" idx="1"/>
          </p:cNvCxnSpPr>
          <p:nvPr/>
        </p:nvCxnSpPr>
        <p:spPr>
          <a:xfrm>
            <a:off x="8103802" y="1810767"/>
            <a:ext cx="579381" cy="40523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3" name="TextBox 742">
            <a:extLst>
              <a:ext uri="{FF2B5EF4-FFF2-40B4-BE49-F238E27FC236}">
                <a16:creationId xmlns:a16="http://schemas.microsoft.com/office/drawing/2014/main" id="{0F8573E9-C58A-4A19-9C78-1A0711E288C7}"/>
              </a:ext>
            </a:extLst>
          </p:cNvPr>
          <p:cNvSpPr txBox="1"/>
          <p:nvPr/>
        </p:nvSpPr>
        <p:spPr>
          <a:xfrm>
            <a:off x="2831123" y="1351490"/>
            <a:ext cx="1152946" cy="19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643" b="1" dirty="0">
                <a:solidFill>
                  <a:prstClr val="white"/>
                </a:solidFill>
                <a:latin typeface="Aptos" panose="02110004020202020204"/>
              </a:rPr>
              <a:t>Copper Value Chain</a:t>
            </a:r>
          </a:p>
        </p:txBody>
      </p:sp>
      <p:sp>
        <p:nvSpPr>
          <p:cNvPr id="752" name="TextBox 751">
            <a:extLst>
              <a:ext uri="{FF2B5EF4-FFF2-40B4-BE49-F238E27FC236}">
                <a16:creationId xmlns:a16="http://schemas.microsoft.com/office/drawing/2014/main" id="{737320D2-AFE1-384B-10D0-AF141C6AAE34}"/>
              </a:ext>
            </a:extLst>
          </p:cNvPr>
          <p:cNvSpPr txBox="1"/>
          <p:nvPr/>
        </p:nvSpPr>
        <p:spPr>
          <a:xfrm>
            <a:off x="6359560" y="1474871"/>
            <a:ext cx="1152946" cy="19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643" b="1" dirty="0">
                <a:solidFill>
                  <a:prstClr val="white"/>
                </a:solidFill>
                <a:latin typeface="Aptos" panose="02110004020202020204"/>
              </a:rPr>
              <a:t>Batteries</a:t>
            </a:r>
          </a:p>
        </p:txBody>
      </p:sp>
      <p:sp>
        <p:nvSpPr>
          <p:cNvPr id="763" name="TextBox 762">
            <a:extLst>
              <a:ext uri="{FF2B5EF4-FFF2-40B4-BE49-F238E27FC236}">
                <a16:creationId xmlns:a16="http://schemas.microsoft.com/office/drawing/2014/main" id="{2C7F70AA-F80A-E7E2-7475-DDB14B782EB1}"/>
              </a:ext>
            </a:extLst>
          </p:cNvPr>
          <p:cNvSpPr txBox="1"/>
          <p:nvPr/>
        </p:nvSpPr>
        <p:spPr>
          <a:xfrm>
            <a:off x="5743383" y="2312445"/>
            <a:ext cx="489147" cy="34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Copper Wire/foil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764" name="TextBox 763">
            <a:extLst>
              <a:ext uri="{FF2B5EF4-FFF2-40B4-BE49-F238E27FC236}">
                <a16:creationId xmlns:a16="http://schemas.microsoft.com/office/drawing/2014/main" id="{B87C4CFD-E28E-9D0F-3C35-8BA143B898F9}"/>
              </a:ext>
            </a:extLst>
          </p:cNvPr>
          <p:cNvSpPr txBox="1"/>
          <p:nvPr/>
        </p:nvSpPr>
        <p:spPr>
          <a:xfrm>
            <a:off x="5690378" y="1437184"/>
            <a:ext cx="600545" cy="34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Alloy powder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788" name="TextBox 787">
            <a:extLst>
              <a:ext uri="{FF2B5EF4-FFF2-40B4-BE49-F238E27FC236}">
                <a16:creationId xmlns:a16="http://schemas.microsoft.com/office/drawing/2014/main" id="{CB2CB889-A857-698F-9789-80D819836EA7}"/>
              </a:ext>
            </a:extLst>
          </p:cNvPr>
          <p:cNvSpPr txBox="1"/>
          <p:nvPr/>
        </p:nvSpPr>
        <p:spPr>
          <a:xfrm>
            <a:off x="7715135" y="1149932"/>
            <a:ext cx="1278494" cy="19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643" b="1" dirty="0">
                <a:solidFill>
                  <a:prstClr val="white"/>
                </a:solidFill>
                <a:latin typeface="Aptos" panose="02110004020202020204"/>
              </a:rPr>
              <a:t>Electrical &amp; Electronic OEMs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59AEE49-0B7E-A1AE-8126-D499D474206B}"/>
              </a:ext>
            </a:extLst>
          </p:cNvPr>
          <p:cNvSpPr txBox="1"/>
          <p:nvPr/>
        </p:nvSpPr>
        <p:spPr>
          <a:xfrm>
            <a:off x="7731464" y="2677701"/>
            <a:ext cx="1278494" cy="19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643" b="1" dirty="0">
                <a:solidFill>
                  <a:prstClr val="white"/>
                </a:solidFill>
                <a:latin typeface="Aptos" panose="02110004020202020204"/>
              </a:rPr>
              <a:t>Automotive OEMs</a:t>
            </a:r>
          </a:p>
        </p:txBody>
      </p:sp>
      <p:sp>
        <p:nvSpPr>
          <p:cNvPr id="446" name="Diamond 445">
            <a:extLst>
              <a:ext uri="{FF2B5EF4-FFF2-40B4-BE49-F238E27FC236}">
                <a16:creationId xmlns:a16="http://schemas.microsoft.com/office/drawing/2014/main" id="{DC1AFA89-A75C-7263-3A81-53B8E17E76D8}"/>
              </a:ext>
            </a:extLst>
          </p:cNvPr>
          <p:cNvSpPr/>
          <p:nvPr/>
        </p:nvSpPr>
        <p:spPr>
          <a:xfrm>
            <a:off x="5838553" y="2599254"/>
            <a:ext cx="270594" cy="15084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P4</a:t>
            </a:r>
          </a:p>
        </p:txBody>
      </p:sp>
      <p:sp>
        <p:nvSpPr>
          <p:cNvPr id="993" name="Rounded Rectangle 992">
            <a:extLst>
              <a:ext uri="{FF2B5EF4-FFF2-40B4-BE49-F238E27FC236}">
                <a16:creationId xmlns:a16="http://schemas.microsoft.com/office/drawing/2014/main" id="{F19EFA1D-8222-7618-7381-1E0EF3BF3AA1}"/>
              </a:ext>
            </a:extLst>
          </p:cNvPr>
          <p:cNvSpPr/>
          <p:nvPr/>
        </p:nvSpPr>
        <p:spPr>
          <a:xfrm>
            <a:off x="2439722" y="2840262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994" name="Rounded Rectangle 993">
            <a:extLst>
              <a:ext uri="{FF2B5EF4-FFF2-40B4-BE49-F238E27FC236}">
                <a16:creationId xmlns:a16="http://schemas.microsoft.com/office/drawing/2014/main" id="{35D399C1-1E89-7DFE-E3A4-FA63E6A62E9E}"/>
              </a:ext>
            </a:extLst>
          </p:cNvPr>
          <p:cNvSpPr/>
          <p:nvPr/>
        </p:nvSpPr>
        <p:spPr>
          <a:xfrm>
            <a:off x="2658821" y="2840262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995" name="Rounded Rectangle 994">
            <a:extLst>
              <a:ext uri="{FF2B5EF4-FFF2-40B4-BE49-F238E27FC236}">
                <a16:creationId xmlns:a16="http://schemas.microsoft.com/office/drawing/2014/main" id="{C0BDECA3-7899-B911-6968-104C0FB421CF}"/>
              </a:ext>
            </a:extLst>
          </p:cNvPr>
          <p:cNvSpPr/>
          <p:nvPr/>
        </p:nvSpPr>
        <p:spPr>
          <a:xfrm>
            <a:off x="2424493" y="2961154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CoA</a:t>
            </a:r>
          </a:p>
        </p:txBody>
      </p:sp>
      <p:sp>
        <p:nvSpPr>
          <p:cNvPr id="996" name="Rounded Rectangle 995">
            <a:extLst>
              <a:ext uri="{FF2B5EF4-FFF2-40B4-BE49-F238E27FC236}">
                <a16:creationId xmlns:a16="http://schemas.microsoft.com/office/drawing/2014/main" id="{B620AF9B-3067-5521-EF18-3F79329EAE0F}"/>
              </a:ext>
            </a:extLst>
          </p:cNvPr>
          <p:cNvSpPr/>
          <p:nvPr/>
        </p:nvSpPr>
        <p:spPr>
          <a:xfrm>
            <a:off x="2004025" y="2845050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997" name="Rounded Rectangle 996">
            <a:extLst>
              <a:ext uri="{FF2B5EF4-FFF2-40B4-BE49-F238E27FC236}">
                <a16:creationId xmlns:a16="http://schemas.microsoft.com/office/drawing/2014/main" id="{78126E3A-265F-3C80-323C-2EA7FE84F2B1}"/>
              </a:ext>
            </a:extLst>
          </p:cNvPr>
          <p:cNvSpPr/>
          <p:nvPr/>
        </p:nvSpPr>
        <p:spPr>
          <a:xfrm>
            <a:off x="2104603" y="2958696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Permit</a:t>
            </a:r>
          </a:p>
        </p:txBody>
      </p:sp>
      <p:sp>
        <p:nvSpPr>
          <p:cNvPr id="998" name="Rounded Rectangle 997">
            <a:extLst>
              <a:ext uri="{FF2B5EF4-FFF2-40B4-BE49-F238E27FC236}">
                <a16:creationId xmlns:a16="http://schemas.microsoft.com/office/drawing/2014/main" id="{5E45E3B9-C89E-04E3-D45B-FA14A7D21B34}"/>
              </a:ext>
            </a:extLst>
          </p:cNvPr>
          <p:cNvSpPr/>
          <p:nvPr/>
        </p:nvSpPr>
        <p:spPr>
          <a:xfrm>
            <a:off x="1897080" y="2961154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TSM</a:t>
            </a:r>
          </a:p>
        </p:txBody>
      </p:sp>
      <p:sp>
        <p:nvSpPr>
          <p:cNvPr id="999" name="Rounded Rectangle 998">
            <a:extLst>
              <a:ext uri="{FF2B5EF4-FFF2-40B4-BE49-F238E27FC236}">
                <a16:creationId xmlns:a16="http://schemas.microsoft.com/office/drawing/2014/main" id="{454C3F67-7B0E-990E-6615-39E17F0B0996}"/>
              </a:ext>
            </a:extLst>
          </p:cNvPr>
          <p:cNvSpPr/>
          <p:nvPr/>
        </p:nvSpPr>
        <p:spPr>
          <a:xfrm>
            <a:off x="3081103" y="2844909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000" name="Rounded Rectangle 999">
            <a:extLst>
              <a:ext uri="{FF2B5EF4-FFF2-40B4-BE49-F238E27FC236}">
                <a16:creationId xmlns:a16="http://schemas.microsoft.com/office/drawing/2014/main" id="{93FD15BF-ED48-393F-1731-45D28C7E17CA}"/>
              </a:ext>
            </a:extLst>
          </p:cNvPr>
          <p:cNvSpPr/>
          <p:nvPr/>
        </p:nvSpPr>
        <p:spPr>
          <a:xfrm>
            <a:off x="3072758" y="2961013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RMAP</a:t>
            </a:r>
          </a:p>
        </p:txBody>
      </p:sp>
      <p:sp>
        <p:nvSpPr>
          <p:cNvPr id="1006" name="Rounded Rectangle 1005">
            <a:extLst>
              <a:ext uri="{FF2B5EF4-FFF2-40B4-BE49-F238E27FC236}">
                <a16:creationId xmlns:a16="http://schemas.microsoft.com/office/drawing/2014/main" id="{52509BD2-01C7-7296-2083-781CF0E338C4}"/>
              </a:ext>
            </a:extLst>
          </p:cNvPr>
          <p:cNvSpPr/>
          <p:nvPr/>
        </p:nvSpPr>
        <p:spPr>
          <a:xfrm>
            <a:off x="4140428" y="2846534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007" name="Rounded Rectangle 1006">
            <a:extLst>
              <a:ext uri="{FF2B5EF4-FFF2-40B4-BE49-F238E27FC236}">
                <a16:creationId xmlns:a16="http://schemas.microsoft.com/office/drawing/2014/main" id="{6921A37A-A1E9-4F1C-3A77-89C5FA4203A4}"/>
              </a:ext>
            </a:extLst>
          </p:cNvPr>
          <p:cNvSpPr/>
          <p:nvPr/>
        </p:nvSpPr>
        <p:spPr>
          <a:xfrm>
            <a:off x="4132583" y="2961154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RMAP</a:t>
            </a:r>
          </a:p>
        </p:txBody>
      </p:sp>
      <p:sp>
        <p:nvSpPr>
          <p:cNvPr id="1008" name="Rounded Rectangle 1007">
            <a:extLst>
              <a:ext uri="{FF2B5EF4-FFF2-40B4-BE49-F238E27FC236}">
                <a16:creationId xmlns:a16="http://schemas.microsoft.com/office/drawing/2014/main" id="{79C64D4B-9461-3497-65CD-CB3583C5AC0F}"/>
              </a:ext>
            </a:extLst>
          </p:cNvPr>
          <p:cNvSpPr/>
          <p:nvPr/>
        </p:nvSpPr>
        <p:spPr>
          <a:xfrm>
            <a:off x="2027734" y="1781437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009" name="Rounded Rectangle 1008">
            <a:extLst>
              <a:ext uri="{FF2B5EF4-FFF2-40B4-BE49-F238E27FC236}">
                <a16:creationId xmlns:a16="http://schemas.microsoft.com/office/drawing/2014/main" id="{4089C397-F319-93B1-8E19-85F61161B186}"/>
              </a:ext>
            </a:extLst>
          </p:cNvPr>
          <p:cNvSpPr/>
          <p:nvPr/>
        </p:nvSpPr>
        <p:spPr>
          <a:xfrm>
            <a:off x="2488766" y="1781436"/>
            <a:ext cx="225730" cy="805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Waybill</a:t>
            </a:r>
          </a:p>
        </p:txBody>
      </p:sp>
      <p:sp>
        <p:nvSpPr>
          <p:cNvPr id="1010" name="Rounded Rectangle 1009">
            <a:extLst>
              <a:ext uri="{FF2B5EF4-FFF2-40B4-BE49-F238E27FC236}">
                <a16:creationId xmlns:a16="http://schemas.microsoft.com/office/drawing/2014/main" id="{2E64A196-59CA-F746-CC50-79DF26791A0F}"/>
              </a:ext>
            </a:extLst>
          </p:cNvPr>
          <p:cNvSpPr/>
          <p:nvPr/>
        </p:nvSpPr>
        <p:spPr>
          <a:xfrm>
            <a:off x="3097898" y="1781437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011" name="Rounded Rectangle 1010">
            <a:extLst>
              <a:ext uri="{FF2B5EF4-FFF2-40B4-BE49-F238E27FC236}">
                <a16:creationId xmlns:a16="http://schemas.microsoft.com/office/drawing/2014/main" id="{DB864224-CC37-B46F-0887-A955090960D7}"/>
              </a:ext>
            </a:extLst>
          </p:cNvPr>
          <p:cNvSpPr/>
          <p:nvPr/>
        </p:nvSpPr>
        <p:spPr>
          <a:xfrm>
            <a:off x="4122100" y="1771806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012" name="Rounded Rectangle 1011">
            <a:extLst>
              <a:ext uri="{FF2B5EF4-FFF2-40B4-BE49-F238E27FC236}">
                <a16:creationId xmlns:a16="http://schemas.microsoft.com/office/drawing/2014/main" id="{AB6F19CC-E98E-BC80-B4D0-31BE65D4EFB0}"/>
              </a:ext>
            </a:extLst>
          </p:cNvPr>
          <p:cNvSpPr/>
          <p:nvPr/>
        </p:nvSpPr>
        <p:spPr>
          <a:xfrm>
            <a:off x="4647936" y="1741833"/>
            <a:ext cx="225730" cy="805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LME</a:t>
            </a:r>
          </a:p>
        </p:txBody>
      </p:sp>
      <p:sp>
        <p:nvSpPr>
          <p:cNvPr id="1013" name="TextBox 1012">
            <a:extLst>
              <a:ext uri="{FF2B5EF4-FFF2-40B4-BE49-F238E27FC236}">
                <a16:creationId xmlns:a16="http://schemas.microsoft.com/office/drawing/2014/main" id="{8FA1099F-E46D-FFAB-A3E6-0C2D75A4F3CD}"/>
              </a:ext>
            </a:extLst>
          </p:cNvPr>
          <p:cNvSpPr txBox="1"/>
          <p:nvPr/>
        </p:nvSpPr>
        <p:spPr>
          <a:xfrm>
            <a:off x="1831542" y="1500563"/>
            <a:ext cx="532511" cy="411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Mines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ID from permit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ICA ID</a:t>
            </a:r>
          </a:p>
        </p:txBody>
      </p:sp>
      <p:sp>
        <p:nvSpPr>
          <p:cNvPr id="1014" name="TextBox 1013">
            <a:extLst>
              <a:ext uri="{FF2B5EF4-FFF2-40B4-BE49-F238E27FC236}">
                <a16:creationId xmlns:a16="http://schemas.microsoft.com/office/drawing/2014/main" id="{46A0A330-58F0-25D2-F23F-280CE8D50441}"/>
              </a:ext>
            </a:extLst>
          </p:cNvPr>
          <p:cNvSpPr txBox="1"/>
          <p:nvPr/>
        </p:nvSpPr>
        <p:spPr>
          <a:xfrm>
            <a:off x="2282052" y="1500564"/>
            <a:ext cx="692454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Concentrate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sp>
        <p:nvSpPr>
          <p:cNvPr id="1015" name="TextBox 1014">
            <a:extLst>
              <a:ext uri="{FF2B5EF4-FFF2-40B4-BE49-F238E27FC236}">
                <a16:creationId xmlns:a16="http://schemas.microsoft.com/office/drawing/2014/main" id="{3F4CF680-D4F0-BE6F-508B-91082E2D2648}"/>
              </a:ext>
            </a:extLst>
          </p:cNvPr>
          <p:cNvSpPr txBox="1"/>
          <p:nvPr/>
        </p:nvSpPr>
        <p:spPr>
          <a:xfrm>
            <a:off x="2905790" y="1507440"/>
            <a:ext cx="532511" cy="3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Smelters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RMI ID/ ICA ID</a:t>
            </a:r>
          </a:p>
        </p:txBody>
      </p:sp>
      <p:cxnSp>
        <p:nvCxnSpPr>
          <p:cNvPr id="1052" name="Straight Connector 26">
            <a:extLst>
              <a:ext uri="{FF2B5EF4-FFF2-40B4-BE49-F238E27FC236}">
                <a16:creationId xmlns:a16="http://schemas.microsoft.com/office/drawing/2014/main" id="{2C8C7FE0-E113-E0DC-C93A-CEAF3992C8C0}"/>
              </a:ext>
            </a:extLst>
          </p:cNvPr>
          <p:cNvCxnSpPr>
            <a:cxnSpLocks/>
            <a:stCxn id="444" idx="3"/>
            <a:endCxn id="456" idx="2"/>
          </p:cNvCxnSpPr>
          <p:nvPr/>
        </p:nvCxnSpPr>
        <p:spPr>
          <a:xfrm>
            <a:off x="6168286" y="1959076"/>
            <a:ext cx="341840" cy="20986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0" name="TextBox 1079">
            <a:extLst>
              <a:ext uri="{FF2B5EF4-FFF2-40B4-BE49-F238E27FC236}">
                <a16:creationId xmlns:a16="http://schemas.microsoft.com/office/drawing/2014/main" id="{649CD027-F3F9-FDD3-5510-1CEA479F00CA}"/>
              </a:ext>
            </a:extLst>
          </p:cNvPr>
          <p:cNvSpPr txBox="1"/>
          <p:nvPr/>
        </p:nvSpPr>
        <p:spPr>
          <a:xfrm>
            <a:off x="5157878" y="1435162"/>
            <a:ext cx="600545" cy="34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Metallurgical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</a:t>
            </a: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73AB3113-9525-AC26-5834-F67EBFA18BAF}"/>
              </a:ext>
            </a:extLst>
          </p:cNvPr>
          <p:cNvSpPr txBox="1"/>
          <p:nvPr/>
        </p:nvSpPr>
        <p:spPr>
          <a:xfrm>
            <a:off x="5149169" y="2335976"/>
            <a:ext cx="600545" cy="34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Copper Fabs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</a:t>
            </a:r>
          </a:p>
        </p:txBody>
      </p:sp>
      <p:cxnSp>
        <p:nvCxnSpPr>
          <p:cNvPr id="1103" name="Straight Connector 26">
            <a:extLst>
              <a:ext uri="{FF2B5EF4-FFF2-40B4-BE49-F238E27FC236}">
                <a16:creationId xmlns:a16="http://schemas.microsoft.com/office/drawing/2014/main" id="{5BB7FA24-8CB3-89CB-E7F1-CE133C3092D9}"/>
              </a:ext>
            </a:extLst>
          </p:cNvPr>
          <p:cNvCxnSpPr>
            <a:cxnSpLocks/>
            <a:stCxn id="364" idx="6"/>
            <a:endCxn id="1107" idx="1"/>
          </p:cNvCxnSpPr>
          <p:nvPr/>
        </p:nvCxnSpPr>
        <p:spPr>
          <a:xfrm>
            <a:off x="5627165" y="2983385"/>
            <a:ext cx="330152" cy="6956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Diamond 1105">
            <a:extLst>
              <a:ext uri="{FF2B5EF4-FFF2-40B4-BE49-F238E27FC236}">
                <a16:creationId xmlns:a16="http://schemas.microsoft.com/office/drawing/2014/main" id="{31E27091-81AA-FBB6-9108-601BAAB395DB}"/>
              </a:ext>
            </a:extLst>
          </p:cNvPr>
          <p:cNvSpPr/>
          <p:nvPr/>
        </p:nvSpPr>
        <p:spPr>
          <a:xfrm>
            <a:off x="5791045" y="2872609"/>
            <a:ext cx="246338" cy="13912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P6</a:t>
            </a:r>
          </a:p>
        </p:txBody>
      </p:sp>
      <p:sp>
        <p:nvSpPr>
          <p:cNvPr id="1107" name="Diamond 1106">
            <a:extLst>
              <a:ext uri="{FF2B5EF4-FFF2-40B4-BE49-F238E27FC236}">
                <a16:creationId xmlns:a16="http://schemas.microsoft.com/office/drawing/2014/main" id="{93F75F6B-1A24-0189-E6E8-8990F36977CA}"/>
              </a:ext>
            </a:extLst>
          </p:cNvPr>
          <p:cNvSpPr/>
          <p:nvPr/>
        </p:nvSpPr>
        <p:spPr>
          <a:xfrm>
            <a:off x="5957317" y="2983384"/>
            <a:ext cx="275147" cy="13912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P7</a:t>
            </a:r>
          </a:p>
        </p:txBody>
      </p:sp>
      <p:cxnSp>
        <p:nvCxnSpPr>
          <p:cNvPr id="1135" name="Straight Connector 26">
            <a:extLst>
              <a:ext uri="{FF2B5EF4-FFF2-40B4-BE49-F238E27FC236}">
                <a16:creationId xmlns:a16="http://schemas.microsoft.com/office/drawing/2014/main" id="{6F6B336B-0992-8DBB-FB67-19050E8FED28}"/>
              </a:ext>
            </a:extLst>
          </p:cNvPr>
          <p:cNvCxnSpPr>
            <a:cxnSpLocks/>
            <a:stCxn id="468" idx="3"/>
            <a:endCxn id="494" idx="2"/>
          </p:cNvCxnSpPr>
          <p:nvPr/>
        </p:nvCxnSpPr>
        <p:spPr>
          <a:xfrm>
            <a:off x="7322623" y="2791542"/>
            <a:ext cx="479614" cy="89799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7" name="Straight Connector 26">
            <a:extLst>
              <a:ext uri="{FF2B5EF4-FFF2-40B4-BE49-F238E27FC236}">
                <a16:creationId xmlns:a16="http://schemas.microsoft.com/office/drawing/2014/main" id="{FDBDD8EC-340C-084D-7DA1-5E0A1B843000}"/>
              </a:ext>
            </a:extLst>
          </p:cNvPr>
          <p:cNvCxnSpPr>
            <a:cxnSpLocks/>
            <a:stCxn id="465" idx="3"/>
            <a:endCxn id="719" idx="2"/>
          </p:cNvCxnSpPr>
          <p:nvPr/>
        </p:nvCxnSpPr>
        <p:spPr>
          <a:xfrm flipV="1">
            <a:off x="7335734" y="1810767"/>
            <a:ext cx="423182" cy="32771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2" name="Straight Connector 26">
            <a:extLst>
              <a:ext uri="{FF2B5EF4-FFF2-40B4-BE49-F238E27FC236}">
                <a16:creationId xmlns:a16="http://schemas.microsoft.com/office/drawing/2014/main" id="{46B72C61-200C-1C9E-E6DB-3496B21FF905}"/>
              </a:ext>
            </a:extLst>
          </p:cNvPr>
          <p:cNvCxnSpPr>
            <a:cxnSpLocks/>
            <a:stCxn id="466" idx="3"/>
            <a:endCxn id="720" idx="2"/>
          </p:cNvCxnSpPr>
          <p:nvPr/>
        </p:nvCxnSpPr>
        <p:spPr>
          <a:xfrm flipV="1">
            <a:off x="7342155" y="2080147"/>
            <a:ext cx="437939" cy="26589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4" name="Straight Connector 26">
            <a:extLst>
              <a:ext uri="{FF2B5EF4-FFF2-40B4-BE49-F238E27FC236}">
                <a16:creationId xmlns:a16="http://schemas.microsoft.com/office/drawing/2014/main" id="{AE29FA86-5D76-2EF6-401F-F10E5D1BEFC2}"/>
              </a:ext>
            </a:extLst>
          </p:cNvPr>
          <p:cNvCxnSpPr>
            <a:cxnSpLocks/>
            <a:stCxn id="467" idx="3"/>
            <a:endCxn id="493" idx="2"/>
          </p:cNvCxnSpPr>
          <p:nvPr/>
        </p:nvCxnSpPr>
        <p:spPr>
          <a:xfrm>
            <a:off x="7338803" y="2575852"/>
            <a:ext cx="446127" cy="865478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Rounded Rectangle 520">
            <a:extLst>
              <a:ext uri="{FF2B5EF4-FFF2-40B4-BE49-F238E27FC236}">
                <a16:creationId xmlns:a16="http://schemas.microsoft.com/office/drawing/2014/main" id="{56D1E4BB-C791-8767-DABE-63FB23604B38}"/>
              </a:ext>
            </a:extLst>
          </p:cNvPr>
          <p:cNvSpPr/>
          <p:nvPr/>
        </p:nvSpPr>
        <p:spPr>
          <a:xfrm>
            <a:off x="9232968" y="2886550"/>
            <a:ext cx="521915" cy="10659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619" name="Rounded Rectangle 618">
            <a:extLst>
              <a:ext uri="{FF2B5EF4-FFF2-40B4-BE49-F238E27FC236}">
                <a16:creationId xmlns:a16="http://schemas.microsoft.com/office/drawing/2014/main" id="{E0200DCF-B68F-C45F-DA83-7830469C3D5A}"/>
              </a:ext>
            </a:extLst>
          </p:cNvPr>
          <p:cNvSpPr/>
          <p:nvPr/>
        </p:nvSpPr>
        <p:spPr>
          <a:xfrm>
            <a:off x="9799798" y="2877808"/>
            <a:ext cx="521915" cy="107471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519" name="Oval 518">
            <a:extLst>
              <a:ext uri="{FF2B5EF4-FFF2-40B4-BE49-F238E27FC236}">
                <a16:creationId xmlns:a16="http://schemas.microsoft.com/office/drawing/2014/main" id="{1D963525-2A13-0507-886D-25535E62A946}"/>
              </a:ext>
            </a:extLst>
          </p:cNvPr>
          <p:cNvSpPr/>
          <p:nvPr/>
        </p:nvSpPr>
        <p:spPr>
          <a:xfrm>
            <a:off x="9319213" y="3415164"/>
            <a:ext cx="344886" cy="1571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Recy3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7A5050E8-55D3-3EB3-B177-B8E4CA6ADF25}"/>
              </a:ext>
            </a:extLst>
          </p:cNvPr>
          <p:cNvSpPr txBox="1"/>
          <p:nvPr/>
        </p:nvSpPr>
        <p:spPr>
          <a:xfrm>
            <a:off x="9236052" y="2890983"/>
            <a:ext cx="521915" cy="3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Recycler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</a:t>
            </a: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E64065C9-89E6-955C-9C5D-989FCFB5016F}"/>
              </a:ext>
            </a:extLst>
          </p:cNvPr>
          <p:cNvSpPr txBox="1"/>
          <p:nvPr/>
        </p:nvSpPr>
        <p:spPr>
          <a:xfrm>
            <a:off x="9748010" y="2878245"/>
            <a:ext cx="610289" cy="34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Scrap steel &amp; copper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Batch ID</a:t>
            </a:r>
          </a:p>
        </p:txBody>
      </p:sp>
      <p:cxnSp>
        <p:nvCxnSpPr>
          <p:cNvPr id="624" name="Straight Connector 26">
            <a:extLst>
              <a:ext uri="{FF2B5EF4-FFF2-40B4-BE49-F238E27FC236}">
                <a16:creationId xmlns:a16="http://schemas.microsoft.com/office/drawing/2014/main" id="{DDA21F15-B375-9687-C421-E29D58AB44A8}"/>
              </a:ext>
            </a:extLst>
          </p:cNvPr>
          <p:cNvCxnSpPr>
            <a:cxnSpLocks/>
            <a:stCxn id="519" idx="6"/>
            <a:endCxn id="1590" idx="2"/>
          </p:cNvCxnSpPr>
          <p:nvPr/>
        </p:nvCxnSpPr>
        <p:spPr>
          <a:xfrm flipV="1">
            <a:off x="9664100" y="3403816"/>
            <a:ext cx="298968" cy="8991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26">
            <a:extLst>
              <a:ext uri="{FF2B5EF4-FFF2-40B4-BE49-F238E27FC236}">
                <a16:creationId xmlns:a16="http://schemas.microsoft.com/office/drawing/2014/main" id="{1FE9DF50-ED91-626B-5899-49F5B0E562E7}"/>
              </a:ext>
            </a:extLst>
          </p:cNvPr>
          <p:cNvCxnSpPr>
            <a:cxnSpLocks/>
            <a:stCxn id="519" idx="6"/>
            <a:endCxn id="1591" idx="1"/>
          </p:cNvCxnSpPr>
          <p:nvPr/>
        </p:nvCxnSpPr>
        <p:spPr>
          <a:xfrm>
            <a:off x="9664099" y="3493730"/>
            <a:ext cx="337939" cy="6866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1" name="TextBox 790">
            <a:extLst>
              <a:ext uri="{FF2B5EF4-FFF2-40B4-BE49-F238E27FC236}">
                <a16:creationId xmlns:a16="http://schemas.microsoft.com/office/drawing/2014/main" id="{913EB359-5FBD-0F94-5478-514AD09E8406}"/>
              </a:ext>
            </a:extLst>
          </p:cNvPr>
          <p:cNvSpPr txBox="1"/>
          <p:nvPr/>
        </p:nvSpPr>
        <p:spPr>
          <a:xfrm>
            <a:off x="9104929" y="1522432"/>
            <a:ext cx="1278494" cy="19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643" b="1" dirty="0">
                <a:solidFill>
                  <a:prstClr val="white"/>
                </a:solidFill>
                <a:latin typeface="Aptos" panose="02110004020202020204"/>
              </a:rPr>
              <a:t>Specialised Recyclers</a:t>
            </a:r>
          </a:p>
        </p:txBody>
      </p:sp>
      <p:sp>
        <p:nvSpPr>
          <p:cNvPr id="1232" name="Rounded Rectangle 1231">
            <a:extLst>
              <a:ext uri="{FF2B5EF4-FFF2-40B4-BE49-F238E27FC236}">
                <a16:creationId xmlns:a16="http://schemas.microsoft.com/office/drawing/2014/main" id="{A80D74B9-0B1C-4B93-6A5F-4E1848BEF28F}"/>
              </a:ext>
            </a:extLst>
          </p:cNvPr>
          <p:cNvSpPr/>
          <p:nvPr/>
        </p:nvSpPr>
        <p:spPr>
          <a:xfrm>
            <a:off x="9798831" y="1691124"/>
            <a:ext cx="521915" cy="107471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233" name="Rounded Rectangle 1232">
            <a:extLst>
              <a:ext uri="{FF2B5EF4-FFF2-40B4-BE49-F238E27FC236}">
                <a16:creationId xmlns:a16="http://schemas.microsoft.com/office/drawing/2014/main" id="{C6D4A087-1A43-EB5C-12A9-2F9652303E34}"/>
              </a:ext>
            </a:extLst>
          </p:cNvPr>
          <p:cNvSpPr/>
          <p:nvPr/>
        </p:nvSpPr>
        <p:spPr>
          <a:xfrm>
            <a:off x="9220558" y="1691124"/>
            <a:ext cx="521915" cy="107471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AU" sz="1143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235" name="Oval 1234">
            <a:extLst>
              <a:ext uri="{FF2B5EF4-FFF2-40B4-BE49-F238E27FC236}">
                <a16:creationId xmlns:a16="http://schemas.microsoft.com/office/drawing/2014/main" id="{879B0311-8CDA-4864-C679-C7F99C000D58}"/>
              </a:ext>
            </a:extLst>
          </p:cNvPr>
          <p:cNvSpPr/>
          <p:nvPr/>
        </p:nvSpPr>
        <p:spPr>
          <a:xfrm>
            <a:off x="9327980" y="2104945"/>
            <a:ext cx="325266" cy="1571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643" dirty="0">
                <a:solidFill>
                  <a:prstClr val="white"/>
                </a:solidFill>
                <a:latin typeface="Aptos" panose="02110004020202020204"/>
              </a:rPr>
              <a:t>Recy2</a:t>
            </a:r>
          </a:p>
        </p:txBody>
      </p:sp>
      <p:sp>
        <p:nvSpPr>
          <p:cNvPr id="1240" name="Diamond 1239">
            <a:extLst>
              <a:ext uri="{FF2B5EF4-FFF2-40B4-BE49-F238E27FC236}">
                <a16:creationId xmlns:a16="http://schemas.microsoft.com/office/drawing/2014/main" id="{3C4FA517-5594-8ACD-BFA4-AD092881FE3F}"/>
              </a:ext>
            </a:extLst>
          </p:cNvPr>
          <p:cNvSpPr/>
          <p:nvPr/>
        </p:nvSpPr>
        <p:spPr>
          <a:xfrm>
            <a:off x="9910137" y="2153713"/>
            <a:ext cx="302561" cy="142608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RP1</a:t>
            </a:r>
          </a:p>
        </p:txBody>
      </p:sp>
      <p:cxnSp>
        <p:nvCxnSpPr>
          <p:cNvPr id="1243" name="Straight Connector 26">
            <a:extLst>
              <a:ext uri="{FF2B5EF4-FFF2-40B4-BE49-F238E27FC236}">
                <a16:creationId xmlns:a16="http://schemas.microsoft.com/office/drawing/2014/main" id="{3F61E094-E4DD-96A0-411B-2342E04E4228}"/>
              </a:ext>
            </a:extLst>
          </p:cNvPr>
          <p:cNvCxnSpPr>
            <a:cxnSpLocks/>
            <a:stCxn id="1235" idx="6"/>
            <a:endCxn id="1240" idx="1"/>
          </p:cNvCxnSpPr>
          <p:nvPr/>
        </p:nvCxnSpPr>
        <p:spPr>
          <a:xfrm>
            <a:off x="9653246" y="2183510"/>
            <a:ext cx="256891" cy="4150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4" name="TextBox 1243">
            <a:extLst>
              <a:ext uri="{FF2B5EF4-FFF2-40B4-BE49-F238E27FC236}">
                <a16:creationId xmlns:a16="http://schemas.microsoft.com/office/drawing/2014/main" id="{8FF48C50-3C4F-BCD4-581C-92820C5E383B}"/>
              </a:ext>
            </a:extLst>
          </p:cNvPr>
          <p:cNvSpPr txBox="1"/>
          <p:nvPr/>
        </p:nvSpPr>
        <p:spPr>
          <a:xfrm>
            <a:off x="9152895" y="1691123"/>
            <a:ext cx="6459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00" b="1" dirty="0">
                <a:solidFill>
                  <a:prstClr val="black"/>
                </a:solidFill>
                <a:latin typeface="Aptos" panose="02110004020202020204"/>
              </a:rPr>
              <a:t>Remanufacture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OSH ID / GLN</a:t>
            </a:r>
          </a:p>
        </p:txBody>
      </p:sp>
      <p:sp>
        <p:nvSpPr>
          <p:cNvPr id="1245" name="TextBox 1244">
            <a:extLst>
              <a:ext uri="{FF2B5EF4-FFF2-40B4-BE49-F238E27FC236}">
                <a16:creationId xmlns:a16="http://schemas.microsoft.com/office/drawing/2014/main" id="{F135D4A2-BA5B-1511-BF63-A26A2D81CDE8}"/>
              </a:ext>
            </a:extLst>
          </p:cNvPr>
          <p:cNvSpPr txBox="1"/>
          <p:nvPr/>
        </p:nvSpPr>
        <p:spPr>
          <a:xfrm>
            <a:off x="9726303" y="1678495"/>
            <a:ext cx="665704" cy="421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AU" sz="571" b="1" dirty="0">
                <a:solidFill>
                  <a:prstClr val="black"/>
                </a:solidFill>
                <a:latin typeface="Aptos" panose="02110004020202020204"/>
              </a:rPr>
              <a:t>Repurposed Batteries</a:t>
            </a:r>
          </a:p>
          <a:p>
            <a:pPr algn="ctr" defTabSz="326578"/>
            <a:r>
              <a:rPr lang="en-AU" sz="500" i="1" dirty="0">
                <a:solidFill>
                  <a:prstClr val="black"/>
                </a:solidFill>
                <a:latin typeface="Aptos" panose="02110004020202020204"/>
              </a:rPr>
              <a:t>Model id / serial id</a:t>
            </a:r>
          </a:p>
        </p:txBody>
      </p:sp>
      <p:cxnSp>
        <p:nvCxnSpPr>
          <p:cNvPr id="574" name="Straight Connector 26">
            <a:extLst>
              <a:ext uri="{FF2B5EF4-FFF2-40B4-BE49-F238E27FC236}">
                <a16:creationId xmlns:a16="http://schemas.microsoft.com/office/drawing/2014/main" id="{58A4BDF7-02C4-4A21-349A-53A09106D480}"/>
              </a:ext>
            </a:extLst>
          </p:cNvPr>
          <p:cNvCxnSpPr>
            <a:cxnSpLocks/>
            <a:stCxn id="502" idx="3"/>
            <a:endCxn id="519" idx="2"/>
          </p:cNvCxnSpPr>
          <p:nvPr/>
        </p:nvCxnSpPr>
        <p:spPr>
          <a:xfrm flipV="1">
            <a:off x="8763550" y="3493729"/>
            <a:ext cx="555664" cy="19995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26">
            <a:extLst>
              <a:ext uri="{FF2B5EF4-FFF2-40B4-BE49-F238E27FC236}">
                <a16:creationId xmlns:a16="http://schemas.microsoft.com/office/drawing/2014/main" id="{8847F0B4-FCD3-CB41-A557-694414B4D0C1}"/>
              </a:ext>
            </a:extLst>
          </p:cNvPr>
          <p:cNvCxnSpPr>
            <a:cxnSpLocks/>
            <a:stCxn id="724" idx="3"/>
            <a:endCxn id="1235" idx="2"/>
          </p:cNvCxnSpPr>
          <p:nvPr/>
        </p:nvCxnSpPr>
        <p:spPr>
          <a:xfrm flipV="1">
            <a:off x="8669402" y="2183510"/>
            <a:ext cx="658578" cy="15205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26">
            <a:extLst>
              <a:ext uri="{FF2B5EF4-FFF2-40B4-BE49-F238E27FC236}">
                <a16:creationId xmlns:a16="http://schemas.microsoft.com/office/drawing/2014/main" id="{2BE3F383-6ADC-8C90-D88C-B20259064316}"/>
              </a:ext>
            </a:extLst>
          </p:cNvPr>
          <p:cNvCxnSpPr>
            <a:cxnSpLocks/>
            <a:endCxn id="1235" idx="2"/>
          </p:cNvCxnSpPr>
          <p:nvPr/>
        </p:nvCxnSpPr>
        <p:spPr>
          <a:xfrm flipV="1">
            <a:off x="8961993" y="2183510"/>
            <a:ext cx="365986" cy="131525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2" name="Diamond 1281">
            <a:extLst>
              <a:ext uri="{FF2B5EF4-FFF2-40B4-BE49-F238E27FC236}">
                <a16:creationId xmlns:a16="http://schemas.microsoft.com/office/drawing/2014/main" id="{48848555-E84D-1AF4-DF93-2635A9DE30BD}"/>
              </a:ext>
            </a:extLst>
          </p:cNvPr>
          <p:cNvSpPr/>
          <p:nvPr/>
        </p:nvSpPr>
        <p:spPr>
          <a:xfrm>
            <a:off x="9920200" y="2322610"/>
            <a:ext cx="279130" cy="161911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RP2</a:t>
            </a:r>
          </a:p>
        </p:txBody>
      </p:sp>
      <p:cxnSp>
        <p:nvCxnSpPr>
          <p:cNvPr id="1283" name="Straight Connector 26">
            <a:extLst>
              <a:ext uri="{FF2B5EF4-FFF2-40B4-BE49-F238E27FC236}">
                <a16:creationId xmlns:a16="http://schemas.microsoft.com/office/drawing/2014/main" id="{321D156C-473E-557D-20C9-6756D52CBDBA}"/>
              </a:ext>
            </a:extLst>
          </p:cNvPr>
          <p:cNvCxnSpPr>
            <a:cxnSpLocks/>
            <a:stCxn id="1235" idx="6"/>
            <a:endCxn id="1282" idx="1"/>
          </p:cNvCxnSpPr>
          <p:nvPr/>
        </p:nvCxnSpPr>
        <p:spPr>
          <a:xfrm>
            <a:off x="9653246" y="2183510"/>
            <a:ext cx="266954" cy="22005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1" name="Rounded Rectangle 1330">
            <a:extLst>
              <a:ext uri="{FF2B5EF4-FFF2-40B4-BE49-F238E27FC236}">
                <a16:creationId xmlns:a16="http://schemas.microsoft.com/office/drawing/2014/main" id="{B28A15D4-F6CA-0B44-2AC4-B6B00269E153}"/>
              </a:ext>
            </a:extLst>
          </p:cNvPr>
          <p:cNvSpPr/>
          <p:nvPr/>
        </p:nvSpPr>
        <p:spPr>
          <a:xfrm>
            <a:off x="5776452" y="3122262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332" name="Rounded Rectangle 1331">
            <a:extLst>
              <a:ext uri="{FF2B5EF4-FFF2-40B4-BE49-F238E27FC236}">
                <a16:creationId xmlns:a16="http://schemas.microsoft.com/office/drawing/2014/main" id="{A36685E6-9F7B-0EC3-89F7-C0BEA3E95570}"/>
              </a:ext>
            </a:extLst>
          </p:cNvPr>
          <p:cNvSpPr/>
          <p:nvPr/>
        </p:nvSpPr>
        <p:spPr>
          <a:xfrm>
            <a:off x="6002073" y="3127362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333" name="Rounded Rectangle 1332">
            <a:extLst>
              <a:ext uri="{FF2B5EF4-FFF2-40B4-BE49-F238E27FC236}">
                <a16:creationId xmlns:a16="http://schemas.microsoft.com/office/drawing/2014/main" id="{BA8633B1-7627-E828-BBF5-A6F19F9A6D9B}"/>
              </a:ext>
            </a:extLst>
          </p:cNvPr>
          <p:cNvSpPr/>
          <p:nvPr/>
        </p:nvSpPr>
        <p:spPr>
          <a:xfrm>
            <a:off x="5394580" y="3121581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334" name="Rounded Rectangle 1333">
            <a:extLst>
              <a:ext uri="{FF2B5EF4-FFF2-40B4-BE49-F238E27FC236}">
                <a16:creationId xmlns:a16="http://schemas.microsoft.com/office/drawing/2014/main" id="{70540E4F-15F6-5140-4684-6C9E5D781E3E}"/>
              </a:ext>
            </a:extLst>
          </p:cNvPr>
          <p:cNvSpPr/>
          <p:nvPr/>
        </p:nvSpPr>
        <p:spPr>
          <a:xfrm>
            <a:off x="5386735" y="3236201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VAP</a:t>
            </a:r>
          </a:p>
        </p:txBody>
      </p:sp>
      <p:cxnSp>
        <p:nvCxnSpPr>
          <p:cNvPr id="1338" name="Straight Connector 26">
            <a:extLst>
              <a:ext uri="{FF2B5EF4-FFF2-40B4-BE49-F238E27FC236}">
                <a16:creationId xmlns:a16="http://schemas.microsoft.com/office/drawing/2014/main" id="{B4E678DC-770C-38CB-9F3D-C9BF3C34A8C5}"/>
              </a:ext>
            </a:extLst>
          </p:cNvPr>
          <p:cNvCxnSpPr>
            <a:cxnSpLocks/>
            <a:stCxn id="446" idx="3"/>
            <a:endCxn id="457" idx="2"/>
          </p:cNvCxnSpPr>
          <p:nvPr/>
        </p:nvCxnSpPr>
        <p:spPr>
          <a:xfrm flipV="1">
            <a:off x="6109147" y="2506288"/>
            <a:ext cx="414705" cy="16838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1" name="Rounded Rectangle 1340">
            <a:extLst>
              <a:ext uri="{FF2B5EF4-FFF2-40B4-BE49-F238E27FC236}">
                <a16:creationId xmlns:a16="http://schemas.microsoft.com/office/drawing/2014/main" id="{33E11B31-E475-28D8-FCA9-F0EEB69C5E03}"/>
              </a:ext>
            </a:extLst>
          </p:cNvPr>
          <p:cNvSpPr/>
          <p:nvPr/>
        </p:nvSpPr>
        <p:spPr>
          <a:xfrm>
            <a:off x="5789528" y="2055383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342" name="Rounded Rectangle 1341">
            <a:extLst>
              <a:ext uri="{FF2B5EF4-FFF2-40B4-BE49-F238E27FC236}">
                <a16:creationId xmlns:a16="http://schemas.microsoft.com/office/drawing/2014/main" id="{4DB66C75-DF49-3CBE-DD04-3533A511D5FA}"/>
              </a:ext>
            </a:extLst>
          </p:cNvPr>
          <p:cNvSpPr/>
          <p:nvPr/>
        </p:nvSpPr>
        <p:spPr>
          <a:xfrm>
            <a:off x="6027250" y="2049067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343" name="Rounded Rectangle 1342">
            <a:extLst>
              <a:ext uri="{FF2B5EF4-FFF2-40B4-BE49-F238E27FC236}">
                <a16:creationId xmlns:a16="http://schemas.microsoft.com/office/drawing/2014/main" id="{533627D2-5EBC-0E39-FB84-365CC2563FB0}"/>
              </a:ext>
            </a:extLst>
          </p:cNvPr>
          <p:cNvSpPr/>
          <p:nvPr/>
        </p:nvSpPr>
        <p:spPr>
          <a:xfrm>
            <a:off x="5381485" y="2047417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344" name="Rounded Rectangle 1343">
            <a:extLst>
              <a:ext uri="{FF2B5EF4-FFF2-40B4-BE49-F238E27FC236}">
                <a16:creationId xmlns:a16="http://schemas.microsoft.com/office/drawing/2014/main" id="{4D1D9490-4051-6138-7C66-1ABBE94D33DE}"/>
              </a:ext>
            </a:extLst>
          </p:cNvPr>
          <p:cNvSpPr/>
          <p:nvPr/>
        </p:nvSpPr>
        <p:spPr>
          <a:xfrm>
            <a:off x="5389583" y="2155612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VAP</a:t>
            </a:r>
          </a:p>
        </p:txBody>
      </p:sp>
      <p:sp>
        <p:nvSpPr>
          <p:cNvPr id="1349" name="Rounded Rectangle 1348">
            <a:extLst>
              <a:ext uri="{FF2B5EF4-FFF2-40B4-BE49-F238E27FC236}">
                <a16:creationId xmlns:a16="http://schemas.microsoft.com/office/drawing/2014/main" id="{87D24726-CA5A-266C-4C06-7827A2043519}"/>
              </a:ext>
            </a:extLst>
          </p:cNvPr>
          <p:cNvSpPr/>
          <p:nvPr/>
        </p:nvSpPr>
        <p:spPr>
          <a:xfrm>
            <a:off x="5359745" y="1693751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374" name="Rounded Rectangle 1373">
            <a:extLst>
              <a:ext uri="{FF2B5EF4-FFF2-40B4-BE49-F238E27FC236}">
                <a16:creationId xmlns:a16="http://schemas.microsoft.com/office/drawing/2014/main" id="{A918679D-429A-963D-E3A2-4905B2EF81BC}"/>
              </a:ext>
            </a:extLst>
          </p:cNvPr>
          <p:cNvSpPr/>
          <p:nvPr/>
        </p:nvSpPr>
        <p:spPr>
          <a:xfrm>
            <a:off x="5385515" y="2566340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401" name="Rounded Rectangle 1400">
            <a:extLst>
              <a:ext uri="{FF2B5EF4-FFF2-40B4-BE49-F238E27FC236}">
                <a16:creationId xmlns:a16="http://schemas.microsoft.com/office/drawing/2014/main" id="{9047995E-90FC-FFA2-5C5E-49AA2C067623}"/>
              </a:ext>
            </a:extLst>
          </p:cNvPr>
          <p:cNvSpPr/>
          <p:nvPr/>
        </p:nvSpPr>
        <p:spPr>
          <a:xfrm>
            <a:off x="7139704" y="2983385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402" name="Rounded Rectangle 1401">
            <a:extLst>
              <a:ext uri="{FF2B5EF4-FFF2-40B4-BE49-F238E27FC236}">
                <a16:creationId xmlns:a16="http://schemas.microsoft.com/office/drawing/2014/main" id="{406C3B17-04A6-16F2-1E78-FAF0E73EF44D}"/>
              </a:ext>
            </a:extLst>
          </p:cNvPr>
          <p:cNvSpPr/>
          <p:nvPr/>
        </p:nvSpPr>
        <p:spPr>
          <a:xfrm>
            <a:off x="7143080" y="3093857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403" name="Rounded Rectangle 1402">
            <a:extLst>
              <a:ext uri="{FF2B5EF4-FFF2-40B4-BE49-F238E27FC236}">
                <a16:creationId xmlns:a16="http://schemas.microsoft.com/office/drawing/2014/main" id="{D293E77B-4277-EF81-4579-115DD8C62341}"/>
              </a:ext>
            </a:extLst>
          </p:cNvPr>
          <p:cNvSpPr/>
          <p:nvPr/>
        </p:nvSpPr>
        <p:spPr>
          <a:xfrm>
            <a:off x="6567500" y="2975410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404" name="Rounded Rectangle 1403">
            <a:extLst>
              <a:ext uri="{FF2B5EF4-FFF2-40B4-BE49-F238E27FC236}">
                <a16:creationId xmlns:a16="http://schemas.microsoft.com/office/drawing/2014/main" id="{FC2E23A1-8ED9-DA80-9204-75EC8F24235C}"/>
              </a:ext>
            </a:extLst>
          </p:cNvPr>
          <p:cNvSpPr/>
          <p:nvPr/>
        </p:nvSpPr>
        <p:spPr>
          <a:xfrm>
            <a:off x="6575598" y="3083606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VAP</a:t>
            </a:r>
          </a:p>
        </p:txBody>
      </p:sp>
      <p:sp>
        <p:nvSpPr>
          <p:cNvPr id="1405" name="Rounded Rectangle 1404">
            <a:extLst>
              <a:ext uri="{FF2B5EF4-FFF2-40B4-BE49-F238E27FC236}">
                <a16:creationId xmlns:a16="http://schemas.microsoft.com/office/drawing/2014/main" id="{A50AF599-24D6-5F46-D42D-B64AE2DADF60}"/>
              </a:ext>
            </a:extLst>
          </p:cNvPr>
          <p:cNvSpPr/>
          <p:nvPr/>
        </p:nvSpPr>
        <p:spPr>
          <a:xfrm>
            <a:off x="6601330" y="1942120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406" name="Rounded Rectangle 1405">
            <a:extLst>
              <a:ext uri="{FF2B5EF4-FFF2-40B4-BE49-F238E27FC236}">
                <a16:creationId xmlns:a16="http://schemas.microsoft.com/office/drawing/2014/main" id="{B7A97BAA-B6D2-5F29-05D4-97244C87AB93}"/>
              </a:ext>
            </a:extLst>
          </p:cNvPr>
          <p:cNvSpPr/>
          <p:nvPr/>
        </p:nvSpPr>
        <p:spPr>
          <a:xfrm>
            <a:off x="8410635" y="3257349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407" name="Rounded Rectangle 1406">
            <a:extLst>
              <a:ext uri="{FF2B5EF4-FFF2-40B4-BE49-F238E27FC236}">
                <a16:creationId xmlns:a16="http://schemas.microsoft.com/office/drawing/2014/main" id="{0FBF8F8F-CC04-CB72-785E-2AC29797BAF4}"/>
              </a:ext>
            </a:extLst>
          </p:cNvPr>
          <p:cNvSpPr/>
          <p:nvPr/>
        </p:nvSpPr>
        <p:spPr>
          <a:xfrm>
            <a:off x="8670421" y="3261139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408" name="Rounded Rectangle 1407">
            <a:extLst>
              <a:ext uri="{FF2B5EF4-FFF2-40B4-BE49-F238E27FC236}">
                <a16:creationId xmlns:a16="http://schemas.microsoft.com/office/drawing/2014/main" id="{73DC7A5C-B230-77D2-CCEA-36744AA6D53B}"/>
              </a:ext>
            </a:extLst>
          </p:cNvPr>
          <p:cNvSpPr/>
          <p:nvPr/>
        </p:nvSpPr>
        <p:spPr>
          <a:xfrm>
            <a:off x="7875099" y="3858108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409" name="Rounded Rectangle 1408">
            <a:extLst>
              <a:ext uri="{FF2B5EF4-FFF2-40B4-BE49-F238E27FC236}">
                <a16:creationId xmlns:a16="http://schemas.microsoft.com/office/drawing/2014/main" id="{DFA607DA-DD03-0B13-81EC-110264377A4E}"/>
              </a:ext>
            </a:extLst>
          </p:cNvPr>
          <p:cNvSpPr/>
          <p:nvPr/>
        </p:nvSpPr>
        <p:spPr>
          <a:xfrm>
            <a:off x="7875099" y="3982234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IFRS</a:t>
            </a:r>
          </a:p>
        </p:txBody>
      </p:sp>
      <p:sp>
        <p:nvSpPr>
          <p:cNvPr id="1410" name="Rounded Rectangle 1409">
            <a:extLst>
              <a:ext uri="{FF2B5EF4-FFF2-40B4-BE49-F238E27FC236}">
                <a16:creationId xmlns:a16="http://schemas.microsoft.com/office/drawing/2014/main" id="{12D588F2-D7C5-5046-7240-805DDE61765D}"/>
              </a:ext>
            </a:extLst>
          </p:cNvPr>
          <p:cNvSpPr/>
          <p:nvPr/>
        </p:nvSpPr>
        <p:spPr>
          <a:xfrm>
            <a:off x="7882663" y="3207651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448" name="Rounded Rectangle 1447">
            <a:extLst>
              <a:ext uri="{FF2B5EF4-FFF2-40B4-BE49-F238E27FC236}">
                <a16:creationId xmlns:a16="http://schemas.microsoft.com/office/drawing/2014/main" id="{B3567A94-3D12-E33B-FDA8-0D9C4D03DEA2}"/>
              </a:ext>
            </a:extLst>
          </p:cNvPr>
          <p:cNvSpPr/>
          <p:nvPr/>
        </p:nvSpPr>
        <p:spPr>
          <a:xfrm>
            <a:off x="8469753" y="3097099"/>
            <a:ext cx="383931" cy="9980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Registration</a:t>
            </a:r>
          </a:p>
        </p:txBody>
      </p:sp>
      <p:sp>
        <p:nvSpPr>
          <p:cNvPr id="1457" name="Triangle 1456">
            <a:extLst>
              <a:ext uri="{FF2B5EF4-FFF2-40B4-BE49-F238E27FC236}">
                <a16:creationId xmlns:a16="http://schemas.microsoft.com/office/drawing/2014/main" id="{0BB130FD-7E08-B7B4-3240-C567AA0C2271}"/>
              </a:ext>
            </a:extLst>
          </p:cNvPr>
          <p:cNvSpPr/>
          <p:nvPr/>
        </p:nvSpPr>
        <p:spPr>
          <a:xfrm>
            <a:off x="2450558" y="1931616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M2</a:t>
            </a:r>
          </a:p>
        </p:txBody>
      </p:sp>
      <p:sp>
        <p:nvSpPr>
          <p:cNvPr id="1458" name="Triangle 1457">
            <a:extLst>
              <a:ext uri="{FF2B5EF4-FFF2-40B4-BE49-F238E27FC236}">
                <a16:creationId xmlns:a16="http://schemas.microsoft.com/office/drawing/2014/main" id="{B3D2D3B0-013B-ED8F-0249-88F071BA404D}"/>
              </a:ext>
            </a:extLst>
          </p:cNvPr>
          <p:cNvSpPr/>
          <p:nvPr/>
        </p:nvSpPr>
        <p:spPr>
          <a:xfrm>
            <a:off x="2657197" y="2107824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M3</a:t>
            </a:r>
          </a:p>
        </p:txBody>
      </p:sp>
      <p:sp>
        <p:nvSpPr>
          <p:cNvPr id="1459" name="Triangle 1458">
            <a:extLst>
              <a:ext uri="{FF2B5EF4-FFF2-40B4-BE49-F238E27FC236}">
                <a16:creationId xmlns:a16="http://schemas.microsoft.com/office/drawing/2014/main" id="{6D91DC3A-28AA-5B90-7611-7253664BBC20}"/>
              </a:ext>
            </a:extLst>
          </p:cNvPr>
          <p:cNvSpPr/>
          <p:nvPr/>
        </p:nvSpPr>
        <p:spPr>
          <a:xfrm>
            <a:off x="2435760" y="2283848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M4</a:t>
            </a:r>
          </a:p>
        </p:txBody>
      </p:sp>
      <p:sp>
        <p:nvSpPr>
          <p:cNvPr id="1460" name="Triangle 1459">
            <a:extLst>
              <a:ext uri="{FF2B5EF4-FFF2-40B4-BE49-F238E27FC236}">
                <a16:creationId xmlns:a16="http://schemas.microsoft.com/office/drawing/2014/main" id="{4BA74A0F-23C2-0058-2FEB-DAD760BF083C}"/>
              </a:ext>
            </a:extLst>
          </p:cNvPr>
          <p:cNvSpPr/>
          <p:nvPr/>
        </p:nvSpPr>
        <p:spPr>
          <a:xfrm>
            <a:off x="2579140" y="2478112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M5</a:t>
            </a:r>
          </a:p>
        </p:txBody>
      </p:sp>
      <p:sp>
        <p:nvSpPr>
          <p:cNvPr id="1468" name="Triangle 1467">
            <a:extLst>
              <a:ext uri="{FF2B5EF4-FFF2-40B4-BE49-F238E27FC236}">
                <a16:creationId xmlns:a16="http://schemas.microsoft.com/office/drawing/2014/main" id="{049702FD-C775-84B7-5236-05CDE252EBA7}"/>
              </a:ext>
            </a:extLst>
          </p:cNvPr>
          <p:cNvSpPr/>
          <p:nvPr/>
        </p:nvSpPr>
        <p:spPr>
          <a:xfrm>
            <a:off x="4650615" y="1877075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M15</a:t>
            </a:r>
          </a:p>
        </p:txBody>
      </p:sp>
      <p:sp>
        <p:nvSpPr>
          <p:cNvPr id="1472" name="Triangle 1471">
            <a:extLst>
              <a:ext uri="{FF2B5EF4-FFF2-40B4-BE49-F238E27FC236}">
                <a16:creationId xmlns:a16="http://schemas.microsoft.com/office/drawing/2014/main" id="{9AB127D8-B056-1401-5014-DB5CD1C7F458}"/>
              </a:ext>
            </a:extLst>
          </p:cNvPr>
          <p:cNvSpPr/>
          <p:nvPr/>
        </p:nvSpPr>
        <p:spPr>
          <a:xfrm>
            <a:off x="4652576" y="2150901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M16</a:t>
            </a:r>
          </a:p>
        </p:txBody>
      </p:sp>
      <p:sp>
        <p:nvSpPr>
          <p:cNvPr id="1473" name="Triangle 1472">
            <a:extLst>
              <a:ext uri="{FF2B5EF4-FFF2-40B4-BE49-F238E27FC236}">
                <a16:creationId xmlns:a16="http://schemas.microsoft.com/office/drawing/2014/main" id="{60A8976F-0D97-06A9-25CA-1A246A2FFF95}"/>
              </a:ext>
            </a:extLst>
          </p:cNvPr>
          <p:cNvSpPr/>
          <p:nvPr/>
        </p:nvSpPr>
        <p:spPr>
          <a:xfrm>
            <a:off x="4654536" y="2424726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M17</a:t>
            </a:r>
          </a:p>
        </p:txBody>
      </p:sp>
      <p:sp>
        <p:nvSpPr>
          <p:cNvPr id="1474" name="Triangle 1473">
            <a:extLst>
              <a:ext uri="{FF2B5EF4-FFF2-40B4-BE49-F238E27FC236}">
                <a16:creationId xmlns:a16="http://schemas.microsoft.com/office/drawing/2014/main" id="{27AD2C9F-C2FA-1E8D-4351-A55145962A39}"/>
              </a:ext>
            </a:extLst>
          </p:cNvPr>
          <p:cNvSpPr/>
          <p:nvPr/>
        </p:nvSpPr>
        <p:spPr>
          <a:xfrm>
            <a:off x="4652491" y="2657436"/>
            <a:ext cx="188726" cy="155636"/>
          </a:xfrm>
          <a:prstGeom prst="triangl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M18</a:t>
            </a:r>
          </a:p>
        </p:txBody>
      </p:sp>
      <p:sp>
        <p:nvSpPr>
          <p:cNvPr id="1480" name="Triangle 1479">
            <a:extLst>
              <a:ext uri="{FF2B5EF4-FFF2-40B4-BE49-F238E27FC236}">
                <a16:creationId xmlns:a16="http://schemas.microsoft.com/office/drawing/2014/main" id="{20CD6C52-5432-C89A-884D-0D37898D7E3E}"/>
              </a:ext>
            </a:extLst>
          </p:cNvPr>
          <p:cNvSpPr/>
          <p:nvPr/>
        </p:nvSpPr>
        <p:spPr>
          <a:xfrm>
            <a:off x="3701459" y="1984199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M8</a:t>
            </a:r>
          </a:p>
        </p:txBody>
      </p:sp>
      <p:sp>
        <p:nvSpPr>
          <p:cNvPr id="1481" name="Triangle 1480">
            <a:extLst>
              <a:ext uri="{FF2B5EF4-FFF2-40B4-BE49-F238E27FC236}">
                <a16:creationId xmlns:a16="http://schemas.microsoft.com/office/drawing/2014/main" id="{ABC0268A-E8B3-DF3D-738F-ADD8ABF01BF9}"/>
              </a:ext>
            </a:extLst>
          </p:cNvPr>
          <p:cNvSpPr/>
          <p:nvPr/>
        </p:nvSpPr>
        <p:spPr>
          <a:xfrm>
            <a:off x="3522743" y="2158323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M9</a:t>
            </a:r>
          </a:p>
        </p:txBody>
      </p:sp>
      <p:sp>
        <p:nvSpPr>
          <p:cNvPr id="1482" name="Triangle 1481">
            <a:extLst>
              <a:ext uri="{FF2B5EF4-FFF2-40B4-BE49-F238E27FC236}">
                <a16:creationId xmlns:a16="http://schemas.microsoft.com/office/drawing/2014/main" id="{5CB66E31-7666-1B5E-3CCC-3A70B2CD235F}"/>
              </a:ext>
            </a:extLst>
          </p:cNvPr>
          <p:cNvSpPr/>
          <p:nvPr/>
        </p:nvSpPr>
        <p:spPr>
          <a:xfrm>
            <a:off x="3696817" y="2322431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M10</a:t>
            </a:r>
          </a:p>
        </p:txBody>
      </p:sp>
      <p:sp>
        <p:nvSpPr>
          <p:cNvPr id="1483" name="Triangle 1482">
            <a:extLst>
              <a:ext uri="{FF2B5EF4-FFF2-40B4-BE49-F238E27FC236}">
                <a16:creationId xmlns:a16="http://schemas.microsoft.com/office/drawing/2014/main" id="{42B41594-B758-4842-A1C3-A7B399E703CC}"/>
              </a:ext>
            </a:extLst>
          </p:cNvPr>
          <p:cNvSpPr/>
          <p:nvPr/>
        </p:nvSpPr>
        <p:spPr>
          <a:xfrm>
            <a:off x="3544138" y="2491645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M11</a:t>
            </a:r>
          </a:p>
        </p:txBody>
      </p:sp>
      <p:sp>
        <p:nvSpPr>
          <p:cNvPr id="1494" name="Rounded Rectangle 1493">
            <a:extLst>
              <a:ext uri="{FF2B5EF4-FFF2-40B4-BE49-F238E27FC236}">
                <a16:creationId xmlns:a16="http://schemas.microsoft.com/office/drawing/2014/main" id="{45B1C9B2-492A-B031-FB7F-7019C7DBFA95}"/>
              </a:ext>
            </a:extLst>
          </p:cNvPr>
          <p:cNvSpPr/>
          <p:nvPr/>
        </p:nvSpPr>
        <p:spPr>
          <a:xfrm>
            <a:off x="7065606" y="1930985"/>
            <a:ext cx="307594" cy="8874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ESPR DPP</a:t>
            </a:r>
          </a:p>
        </p:txBody>
      </p:sp>
      <p:sp>
        <p:nvSpPr>
          <p:cNvPr id="1497" name="Rounded Rectangle 1496">
            <a:extLst>
              <a:ext uri="{FF2B5EF4-FFF2-40B4-BE49-F238E27FC236}">
                <a16:creationId xmlns:a16="http://schemas.microsoft.com/office/drawing/2014/main" id="{11A818D1-8E86-3016-F44F-71BA0C706A01}"/>
              </a:ext>
            </a:extLst>
          </p:cNvPr>
          <p:cNvSpPr/>
          <p:nvPr/>
        </p:nvSpPr>
        <p:spPr>
          <a:xfrm>
            <a:off x="8498996" y="1649143"/>
            <a:ext cx="307594" cy="8874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ESPR DPP</a:t>
            </a:r>
          </a:p>
        </p:txBody>
      </p:sp>
      <p:sp>
        <p:nvSpPr>
          <p:cNvPr id="501" name="Diamond 500">
            <a:extLst>
              <a:ext uri="{FF2B5EF4-FFF2-40B4-BE49-F238E27FC236}">
                <a16:creationId xmlns:a16="http://schemas.microsoft.com/office/drawing/2014/main" id="{CC17332A-2C03-49BA-D478-4BD87330BB3F}"/>
              </a:ext>
            </a:extLst>
          </p:cNvPr>
          <p:cNvSpPr/>
          <p:nvPr/>
        </p:nvSpPr>
        <p:spPr>
          <a:xfrm>
            <a:off x="8304368" y="3888675"/>
            <a:ext cx="336129" cy="156912"/>
          </a:xfrm>
          <a:prstGeom prst="diamond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srgbClr val="156082"/>
                </a:solidFill>
                <a:latin typeface="Aptos" panose="02110004020202020204"/>
              </a:rPr>
              <a:t>FP6</a:t>
            </a:r>
          </a:p>
        </p:txBody>
      </p:sp>
      <p:sp>
        <p:nvSpPr>
          <p:cNvPr id="1590" name="Triangle 1589">
            <a:extLst>
              <a:ext uri="{FF2B5EF4-FFF2-40B4-BE49-F238E27FC236}">
                <a16:creationId xmlns:a16="http://schemas.microsoft.com/office/drawing/2014/main" id="{07A17F39-AED4-DED5-D340-53C37FE90E3E}"/>
              </a:ext>
            </a:extLst>
          </p:cNvPr>
          <p:cNvSpPr/>
          <p:nvPr/>
        </p:nvSpPr>
        <p:spPr>
          <a:xfrm>
            <a:off x="9963067" y="3248180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RM3</a:t>
            </a:r>
          </a:p>
        </p:txBody>
      </p:sp>
      <p:sp>
        <p:nvSpPr>
          <p:cNvPr id="1591" name="Triangle 1590">
            <a:extLst>
              <a:ext uri="{FF2B5EF4-FFF2-40B4-BE49-F238E27FC236}">
                <a16:creationId xmlns:a16="http://schemas.microsoft.com/office/drawing/2014/main" id="{3384AC51-4DC5-1270-85F0-55DFC619A915}"/>
              </a:ext>
            </a:extLst>
          </p:cNvPr>
          <p:cNvSpPr/>
          <p:nvPr/>
        </p:nvSpPr>
        <p:spPr>
          <a:xfrm>
            <a:off x="9954856" y="3484578"/>
            <a:ext cx="188726" cy="15563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RM4</a:t>
            </a:r>
          </a:p>
        </p:txBody>
      </p:sp>
      <p:sp>
        <p:nvSpPr>
          <p:cNvPr id="1592" name="Rounded Rectangle 1591">
            <a:extLst>
              <a:ext uri="{FF2B5EF4-FFF2-40B4-BE49-F238E27FC236}">
                <a16:creationId xmlns:a16="http://schemas.microsoft.com/office/drawing/2014/main" id="{C51AB077-5243-D68E-D147-C731498D08CB}"/>
              </a:ext>
            </a:extLst>
          </p:cNvPr>
          <p:cNvSpPr/>
          <p:nvPr/>
        </p:nvSpPr>
        <p:spPr>
          <a:xfrm>
            <a:off x="7855540" y="2227368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593" name="Rounded Rectangle 1592">
            <a:extLst>
              <a:ext uri="{FF2B5EF4-FFF2-40B4-BE49-F238E27FC236}">
                <a16:creationId xmlns:a16="http://schemas.microsoft.com/office/drawing/2014/main" id="{149D05AF-6DFD-A3AC-298A-3637F50A95D8}"/>
              </a:ext>
            </a:extLst>
          </p:cNvPr>
          <p:cNvSpPr/>
          <p:nvPr/>
        </p:nvSpPr>
        <p:spPr>
          <a:xfrm>
            <a:off x="7855540" y="2351494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IFRS</a:t>
            </a:r>
          </a:p>
        </p:txBody>
      </p:sp>
      <p:sp>
        <p:nvSpPr>
          <p:cNvPr id="1594" name="Rounded Rectangle 1593">
            <a:extLst>
              <a:ext uri="{FF2B5EF4-FFF2-40B4-BE49-F238E27FC236}">
                <a16:creationId xmlns:a16="http://schemas.microsoft.com/office/drawing/2014/main" id="{1849165A-B9D1-B1E5-C2D5-16AB75AF41C4}"/>
              </a:ext>
            </a:extLst>
          </p:cNvPr>
          <p:cNvSpPr/>
          <p:nvPr/>
        </p:nvSpPr>
        <p:spPr>
          <a:xfrm>
            <a:off x="7860521" y="1584909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595" name="Rounded Rectangle 1594">
            <a:extLst>
              <a:ext uri="{FF2B5EF4-FFF2-40B4-BE49-F238E27FC236}">
                <a16:creationId xmlns:a16="http://schemas.microsoft.com/office/drawing/2014/main" id="{12295AD9-35CF-660E-1A33-A8FB7A309A30}"/>
              </a:ext>
            </a:extLst>
          </p:cNvPr>
          <p:cNvSpPr/>
          <p:nvPr/>
        </p:nvSpPr>
        <p:spPr>
          <a:xfrm>
            <a:off x="8443548" y="1787939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596" name="Rounded Rectangle 1595">
            <a:extLst>
              <a:ext uri="{FF2B5EF4-FFF2-40B4-BE49-F238E27FC236}">
                <a16:creationId xmlns:a16="http://schemas.microsoft.com/office/drawing/2014/main" id="{658B2F7A-C868-141D-7177-AEEE6D0759E2}"/>
              </a:ext>
            </a:extLst>
          </p:cNvPr>
          <p:cNvSpPr/>
          <p:nvPr/>
        </p:nvSpPr>
        <p:spPr>
          <a:xfrm>
            <a:off x="8703334" y="1791729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602" name="Rounded Rectangle 1601">
            <a:extLst>
              <a:ext uri="{FF2B5EF4-FFF2-40B4-BE49-F238E27FC236}">
                <a16:creationId xmlns:a16="http://schemas.microsoft.com/office/drawing/2014/main" id="{08B90402-1281-17CD-F626-EE7EF60BCC78}"/>
              </a:ext>
            </a:extLst>
          </p:cNvPr>
          <p:cNvSpPr/>
          <p:nvPr/>
        </p:nvSpPr>
        <p:spPr>
          <a:xfrm>
            <a:off x="9920200" y="2006642"/>
            <a:ext cx="307594" cy="8874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ESPR DPP</a:t>
            </a:r>
          </a:p>
        </p:txBody>
      </p:sp>
      <p:sp>
        <p:nvSpPr>
          <p:cNvPr id="1607" name="Rounded Rectangle 1606">
            <a:extLst>
              <a:ext uri="{FF2B5EF4-FFF2-40B4-BE49-F238E27FC236}">
                <a16:creationId xmlns:a16="http://schemas.microsoft.com/office/drawing/2014/main" id="{5063C732-944D-B0D8-A643-7FB21E6C2166}"/>
              </a:ext>
            </a:extLst>
          </p:cNvPr>
          <p:cNvSpPr/>
          <p:nvPr/>
        </p:nvSpPr>
        <p:spPr>
          <a:xfrm>
            <a:off x="9827125" y="2633682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608" name="Rounded Rectangle 1607">
            <a:extLst>
              <a:ext uri="{FF2B5EF4-FFF2-40B4-BE49-F238E27FC236}">
                <a16:creationId xmlns:a16="http://schemas.microsoft.com/office/drawing/2014/main" id="{55872EDF-B70D-0A87-C357-84A6B4D52356}"/>
              </a:ext>
            </a:extLst>
          </p:cNvPr>
          <p:cNvSpPr/>
          <p:nvPr/>
        </p:nvSpPr>
        <p:spPr>
          <a:xfrm>
            <a:off x="10086910" y="2637472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609" name="Rounded Rectangle 1608">
            <a:extLst>
              <a:ext uri="{FF2B5EF4-FFF2-40B4-BE49-F238E27FC236}">
                <a16:creationId xmlns:a16="http://schemas.microsoft.com/office/drawing/2014/main" id="{12B247F7-5456-315F-FCA0-24E2596BAE76}"/>
              </a:ext>
            </a:extLst>
          </p:cNvPr>
          <p:cNvSpPr/>
          <p:nvPr/>
        </p:nvSpPr>
        <p:spPr>
          <a:xfrm>
            <a:off x="9842260" y="3725932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1610" name="Rounded Rectangle 1609">
            <a:extLst>
              <a:ext uri="{FF2B5EF4-FFF2-40B4-BE49-F238E27FC236}">
                <a16:creationId xmlns:a16="http://schemas.microsoft.com/office/drawing/2014/main" id="{7FC72CCD-E532-7315-8F1A-309465DFFDA7}"/>
              </a:ext>
            </a:extLst>
          </p:cNvPr>
          <p:cNvSpPr/>
          <p:nvPr/>
        </p:nvSpPr>
        <p:spPr>
          <a:xfrm>
            <a:off x="10102046" y="3729721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1615" name="Rounded Rectangle 1614">
            <a:extLst>
              <a:ext uri="{FF2B5EF4-FFF2-40B4-BE49-F238E27FC236}">
                <a16:creationId xmlns:a16="http://schemas.microsoft.com/office/drawing/2014/main" id="{781D76A1-AF0A-3103-12F3-EFDB47AA3462}"/>
              </a:ext>
            </a:extLst>
          </p:cNvPr>
          <p:cNvSpPr/>
          <p:nvPr/>
        </p:nvSpPr>
        <p:spPr>
          <a:xfrm>
            <a:off x="9414433" y="3718974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616" name="Rounded Rectangle 1615">
            <a:extLst>
              <a:ext uri="{FF2B5EF4-FFF2-40B4-BE49-F238E27FC236}">
                <a16:creationId xmlns:a16="http://schemas.microsoft.com/office/drawing/2014/main" id="{7ABCFF7E-D103-A35B-337D-2878E1C022CC}"/>
              </a:ext>
            </a:extLst>
          </p:cNvPr>
          <p:cNvSpPr/>
          <p:nvPr/>
        </p:nvSpPr>
        <p:spPr>
          <a:xfrm>
            <a:off x="9390061" y="3825332"/>
            <a:ext cx="242915" cy="8817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License</a:t>
            </a:r>
          </a:p>
        </p:txBody>
      </p:sp>
      <p:sp>
        <p:nvSpPr>
          <p:cNvPr id="1617" name="Rounded Rectangle 1616">
            <a:extLst>
              <a:ext uri="{FF2B5EF4-FFF2-40B4-BE49-F238E27FC236}">
                <a16:creationId xmlns:a16="http://schemas.microsoft.com/office/drawing/2014/main" id="{06A6654A-27C5-FA65-D2AA-B228873F3949}"/>
              </a:ext>
            </a:extLst>
          </p:cNvPr>
          <p:cNvSpPr/>
          <p:nvPr/>
        </p:nvSpPr>
        <p:spPr>
          <a:xfrm>
            <a:off x="9394501" y="2529079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DFR</a:t>
            </a:r>
          </a:p>
        </p:txBody>
      </p:sp>
      <p:sp>
        <p:nvSpPr>
          <p:cNvPr id="1618" name="Rounded Rectangle 1617">
            <a:extLst>
              <a:ext uri="{FF2B5EF4-FFF2-40B4-BE49-F238E27FC236}">
                <a16:creationId xmlns:a16="http://schemas.microsoft.com/office/drawing/2014/main" id="{0DAB866E-3878-E6EE-4C17-322BAFB95B0E}"/>
              </a:ext>
            </a:extLst>
          </p:cNvPr>
          <p:cNvSpPr/>
          <p:nvPr/>
        </p:nvSpPr>
        <p:spPr>
          <a:xfrm>
            <a:off x="9370130" y="2635436"/>
            <a:ext cx="242915" cy="8817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black"/>
                </a:solidFill>
                <a:latin typeface="Aptos" panose="02110004020202020204"/>
              </a:rPr>
              <a:t>License</a:t>
            </a:r>
          </a:p>
        </p:txBody>
      </p:sp>
      <p:sp>
        <p:nvSpPr>
          <p:cNvPr id="1621" name="Rounded Rectangle 1620">
            <a:extLst>
              <a:ext uri="{FF2B5EF4-FFF2-40B4-BE49-F238E27FC236}">
                <a16:creationId xmlns:a16="http://schemas.microsoft.com/office/drawing/2014/main" id="{44C25D7C-1B2B-772C-FA27-7DE79F0E592E}"/>
              </a:ext>
            </a:extLst>
          </p:cNvPr>
          <p:cNvSpPr/>
          <p:nvPr/>
        </p:nvSpPr>
        <p:spPr>
          <a:xfrm>
            <a:off x="9385180" y="1983654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630" name="Rounded Rectangle 1629">
            <a:extLst>
              <a:ext uri="{FF2B5EF4-FFF2-40B4-BE49-F238E27FC236}">
                <a16:creationId xmlns:a16="http://schemas.microsoft.com/office/drawing/2014/main" id="{23271317-6455-E402-3322-823E39A25782}"/>
              </a:ext>
            </a:extLst>
          </p:cNvPr>
          <p:cNvSpPr/>
          <p:nvPr/>
        </p:nvSpPr>
        <p:spPr>
          <a:xfrm>
            <a:off x="9428226" y="3278907"/>
            <a:ext cx="164412" cy="765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00" dirty="0">
                <a:solidFill>
                  <a:prstClr val="white"/>
                </a:solidFill>
                <a:latin typeface="Aptos" panose="02110004020202020204"/>
              </a:rPr>
              <a:t>DIA</a:t>
            </a:r>
          </a:p>
        </p:txBody>
      </p:sp>
      <p:sp>
        <p:nvSpPr>
          <p:cNvPr id="1731" name="TextBox 1730">
            <a:extLst>
              <a:ext uri="{FF2B5EF4-FFF2-40B4-BE49-F238E27FC236}">
                <a16:creationId xmlns:a16="http://schemas.microsoft.com/office/drawing/2014/main" id="{938AA42E-3FE6-4D3E-F3A4-C42144545B9F}"/>
              </a:ext>
            </a:extLst>
          </p:cNvPr>
          <p:cNvSpPr txBox="1"/>
          <p:nvPr/>
        </p:nvSpPr>
        <p:spPr>
          <a:xfrm>
            <a:off x="4068104" y="-114263"/>
            <a:ext cx="4270656" cy="290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6578"/>
            <a:r>
              <a:rPr lang="en-AU" sz="1286" dirty="0">
                <a:solidFill>
                  <a:prstClr val="black"/>
                </a:solidFill>
                <a:latin typeface="Aptos" panose="02110004020202020204"/>
              </a:rPr>
              <a:t>A Value chain map for electronics and automotive sectors</a:t>
            </a:r>
          </a:p>
        </p:txBody>
      </p:sp>
      <p:cxnSp>
        <p:nvCxnSpPr>
          <p:cNvPr id="4" name="Straight Connector 26">
            <a:extLst>
              <a:ext uri="{FF2B5EF4-FFF2-40B4-BE49-F238E27FC236}">
                <a16:creationId xmlns:a16="http://schemas.microsoft.com/office/drawing/2014/main" id="{ED6ED9AE-8924-C5EC-2AAB-8E329E305E02}"/>
              </a:ext>
            </a:extLst>
          </p:cNvPr>
          <p:cNvCxnSpPr>
            <a:cxnSpLocks/>
            <a:stCxn id="501" idx="3"/>
          </p:cNvCxnSpPr>
          <p:nvPr/>
        </p:nvCxnSpPr>
        <p:spPr>
          <a:xfrm flipV="1">
            <a:off x="8640497" y="3510142"/>
            <a:ext cx="677141" cy="45698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26">
            <a:extLst>
              <a:ext uri="{FF2B5EF4-FFF2-40B4-BE49-F238E27FC236}">
                <a16:creationId xmlns:a16="http://schemas.microsoft.com/office/drawing/2014/main" id="{18865BFE-9949-AD89-F66C-402B1D051204}"/>
              </a:ext>
            </a:extLst>
          </p:cNvPr>
          <p:cNvCxnSpPr>
            <a:cxnSpLocks/>
            <a:stCxn id="725" idx="3"/>
            <a:endCxn id="1235" idx="2"/>
          </p:cNvCxnSpPr>
          <p:nvPr/>
        </p:nvCxnSpPr>
        <p:spPr>
          <a:xfrm>
            <a:off x="8835329" y="2010704"/>
            <a:ext cx="492650" cy="17280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9D2510D-2BBF-1D88-1C62-7BD887C9C624}"/>
              </a:ext>
            </a:extLst>
          </p:cNvPr>
          <p:cNvSpPr/>
          <p:nvPr/>
        </p:nvSpPr>
        <p:spPr>
          <a:xfrm>
            <a:off x="2643434" y="2962634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 err="1">
                <a:solidFill>
                  <a:prstClr val="black"/>
                </a:solidFill>
                <a:latin typeface="Aptos" panose="02110004020202020204"/>
              </a:rPr>
              <a:t>GoO</a:t>
            </a:r>
            <a:endParaRPr lang="en-AU" sz="571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C425901-510A-1563-B4FC-9E0198CC4DED}"/>
              </a:ext>
            </a:extLst>
          </p:cNvPr>
          <p:cNvSpPr/>
          <p:nvPr/>
        </p:nvSpPr>
        <p:spPr>
          <a:xfrm>
            <a:off x="3508834" y="2848889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6E97455-6ADF-48E6-7A06-CA020A756CBD}"/>
              </a:ext>
            </a:extLst>
          </p:cNvPr>
          <p:cNvSpPr/>
          <p:nvPr/>
        </p:nvSpPr>
        <p:spPr>
          <a:xfrm>
            <a:off x="3727933" y="2848889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F089BBE0-4F43-16C5-8BDD-C7503C72229B}"/>
              </a:ext>
            </a:extLst>
          </p:cNvPr>
          <p:cNvSpPr/>
          <p:nvPr/>
        </p:nvSpPr>
        <p:spPr>
          <a:xfrm>
            <a:off x="3493605" y="2969780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CoA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781A9C2-7AA2-080D-AD83-4239DCCB7358}"/>
              </a:ext>
            </a:extLst>
          </p:cNvPr>
          <p:cNvSpPr/>
          <p:nvPr/>
        </p:nvSpPr>
        <p:spPr>
          <a:xfrm>
            <a:off x="3712546" y="2971261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 err="1">
                <a:solidFill>
                  <a:prstClr val="black"/>
                </a:solidFill>
                <a:latin typeface="Aptos" panose="02110004020202020204"/>
              </a:rPr>
              <a:t>GoO</a:t>
            </a:r>
            <a:endParaRPr lang="en-AU" sz="571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9A6407F-FC0A-1A8B-238D-2F1F65E37DEE}"/>
              </a:ext>
            </a:extLst>
          </p:cNvPr>
          <p:cNvSpPr/>
          <p:nvPr/>
        </p:nvSpPr>
        <p:spPr>
          <a:xfrm>
            <a:off x="4565055" y="2857515"/>
            <a:ext cx="179542" cy="819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DPP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32E8BF2-D455-EE0B-6231-B8A6BEEDE7E1}"/>
              </a:ext>
            </a:extLst>
          </p:cNvPr>
          <p:cNvSpPr/>
          <p:nvPr/>
        </p:nvSpPr>
        <p:spPr>
          <a:xfrm>
            <a:off x="4784154" y="2857515"/>
            <a:ext cx="179542" cy="8198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white"/>
                </a:solidFill>
                <a:latin typeface="Aptos" panose="02110004020202020204"/>
              </a:rPr>
              <a:t>DTE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AAAEF507-7616-CE29-FB53-5A2D0D5B52EE}"/>
              </a:ext>
            </a:extLst>
          </p:cNvPr>
          <p:cNvSpPr/>
          <p:nvPr/>
        </p:nvSpPr>
        <p:spPr>
          <a:xfrm>
            <a:off x="4558420" y="2978407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>
                <a:solidFill>
                  <a:prstClr val="black"/>
                </a:solidFill>
                <a:latin typeface="Aptos" panose="02110004020202020204"/>
              </a:rPr>
              <a:t>CoA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AA5A7F18-9918-549B-7C99-6F6D41151B36}"/>
              </a:ext>
            </a:extLst>
          </p:cNvPr>
          <p:cNvSpPr/>
          <p:nvPr/>
        </p:nvSpPr>
        <p:spPr>
          <a:xfrm>
            <a:off x="4777361" y="2979887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 err="1">
                <a:solidFill>
                  <a:prstClr val="black"/>
                </a:solidFill>
                <a:latin typeface="Aptos" panose="02110004020202020204"/>
              </a:rPr>
              <a:t>GoO</a:t>
            </a:r>
            <a:endParaRPr lang="en-AU" sz="571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D8F5434D-BBD1-3367-2784-E74B4AD34BE8}"/>
              </a:ext>
            </a:extLst>
          </p:cNvPr>
          <p:cNvSpPr/>
          <p:nvPr/>
        </p:nvSpPr>
        <p:spPr>
          <a:xfrm>
            <a:off x="5910665" y="3232992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 err="1">
                <a:solidFill>
                  <a:prstClr val="black"/>
                </a:solidFill>
                <a:latin typeface="Aptos" panose="02110004020202020204"/>
              </a:rPr>
              <a:t>GoO</a:t>
            </a:r>
            <a:endParaRPr lang="en-AU" sz="571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F8F5F684-BAC4-52A4-4741-D548D82A2D98}"/>
              </a:ext>
            </a:extLst>
          </p:cNvPr>
          <p:cNvSpPr/>
          <p:nvPr/>
        </p:nvSpPr>
        <p:spPr>
          <a:xfrm>
            <a:off x="5901207" y="2159365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 err="1">
                <a:solidFill>
                  <a:prstClr val="black"/>
                </a:solidFill>
                <a:latin typeface="Aptos" panose="02110004020202020204"/>
              </a:rPr>
              <a:t>GoO</a:t>
            </a:r>
            <a:endParaRPr lang="en-AU" sz="571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74A9B110-AAE6-8F09-9888-CDF43373AD79}"/>
              </a:ext>
            </a:extLst>
          </p:cNvPr>
          <p:cNvSpPr/>
          <p:nvPr/>
        </p:nvSpPr>
        <p:spPr>
          <a:xfrm>
            <a:off x="9981350" y="3833924"/>
            <a:ext cx="179542" cy="8198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326578"/>
            <a:r>
              <a:rPr lang="en-AU" sz="571" dirty="0" err="1">
                <a:solidFill>
                  <a:prstClr val="black"/>
                </a:solidFill>
                <a:latin typeface="Aptos" panose="02110004020202020204"/>
              </a:rPr>
              <a:t>GoO</a:t>
            </a:r>
            <a:endParaRPr lang="en-AU" sz="571" dirty="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43244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F5FE1CB3-AA96-EAF4-9C6E-927B50DA7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2669" y="5725361"/>
            <a:ext cx="70067" cy="70067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7D2E6C8-A61C-D104-A2C0-9C14D2790FEF}"/>
              </a:ext>
            </a:extLst>
          </p:cNvPr>
          <p:cNvCxnSpPr>
            <a:cxnSpLocks/>
          </p:cNvCxnSpPr>
          <p:nvPr/>
        </p:nvCxnSpPr>
        <p:spPr>
          <a:xfrm>
            <a:off x="1379188" y="2788276"/>
            <a:ext cx="0" cy="115668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4E460F-C6D1-FE9D-5B40-F9BF0DE9A942}"/>
              </a:ext>
            </a:extLst>
          </p:cNvPr>
          <p:cNvCxnSpPr>
            <a:cxnSpLocks/>
          </p:cNvCxnSpPr>
          <p:nvPr/>
        </p:nvCxnSpPr>
        <p:spPr>
          <a:xfrm>
            <a:off x="1286885" y="5169334"/>
            <a:ext cx="0" cy="115668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4" descr="Chemical Plant 2 icon - Free vector (SVG) - Free PNG - Copyicon.com">
            <a:extLst>
              <a:ext uri="{FF2B5EF4-FFF2-40B4-BE49-F238E27FC236}">
                <a16:creationId xmlns:a16="http://schemas.microsoft.com/office/drawing/2014/main" id="{B96CFD4D-4B47-A91F-5124-E9EBC2E22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983" y="2024581"/>
            <a:ext cx="768659" cy="639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30C38C-D863-16ED-28C2-327AD38012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636" y="4409442"/>
            <a:ext cx="992362" cy="8256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C09A5D-279D-8DD5-99AB-68A253397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0679" y="1793834"/>
            <a:ext cx="992362" cy="825654"/>
          </a:xfrm>
          <a:prstGeom prst="rect">
            <a:avLst/>
          </a:prstGeom>
        </p:spPr>
      </p:pic>
      <p:pic>
        <p:nvPicPr>
          <p:cNvPr id="33" name="Picture 6" descr="Digital Certificate Icon Vector Images (over 8,400)">
            <a:extLst>
              <a:ext uri="{FF2B5EF4-FFF2-40B4-BE49-F238E27FC236}">
                <a16:creationId xmlns:a16="http://schemas.microsoft.com/office/drawing/2014/main" id="{E3541DEB-D0A9-DB53-81B3-5D3BF9FF9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645" y="5318971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Digital Certificate Icon Vector Images (over 8,400)">
            <a:extLst>
              <a:ext uri="{FF2B5EF4-FFF2-40B4-BE49-F238E27FC236}">
                <a16:creationId xmlns:a16="http://schemas.microsoft.com/office/drawing/2014/main" id="{E97FA27A-6F53-3D79-6247-4AC7E7FC5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266" y="5912403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" name="Picture 6" descr="Digital Certificate Icon Vector Images (over 8,400)">
            <a:extLst>
              <a:ext uri="{FF2B5EF4-FFF2-40B4-BE49-F238E27FC236}">
                <a16:creationId xmlns:a16="http://schemas.microsoft.com/office/drawing/2014/main" id="{D97EF620-D2B4-A94E-7012-2AD6EB6FB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07" y="2712930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Digital Certificate Icon Vector Images (over 8,400)">
            <a:extLst>
              <a:ext uri="{FF2B5EF4-FFF2-40B4-BE49-F238E27FC236}">
                <a16:creationId xmlns:a16="http://schemas.microsoft.com/office/drawing/2014/main" id="{AEB27442-D2B4-B9C6-8721-622A0C60D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03" y="3365578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4640D4-D590-F131-B7ED-1E484B12E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98" y="1956274"/>
            <a:ext cx="621840" cy="55328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60100D9-C345-0486-31B5-E7D2046722C7}"/>
              </a:ext>
            </a:extLst>
          </p:cNvPr>
          <p:cNvSpPr txBox="1"/>
          <p:nvPr/>
        </p:nvSpPr>
        <p:spPr>
          <a:xfrm>
            <a:off x="816683" y="1589706"/>
            <a:ext cx="945171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Authority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9FBE94-07A6-1503-10CD-AD07A1DB3708}"/>
              </a:ext>
            </a:extLst>
          </p:cNvPr>
          <p:cNvSpPr txBox="1"/>
          <p:nvPr/>
        </p:nvSpPr>
        <p:spPr>
          <a:xfrm>
            <a:off x="2176762" y="1588601"/>
            <a:ext cx="1247714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Lithium Mine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FB9C4F-B6A6-4377-869D-D5776410C187}"/>
              </a:ext>
            </a:extLst>
          </p:cNvPr>
          <p:cNvSpPr txBox="1"/>
          <p:nvPr/>
        </p:nvSpPr>
        <p:spPr>
          <a:xfrm>
            <a:off x="2147730" y="4268878"/>
            <a:ext cx="1229096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Copper Mine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85D4CD-0A29-204A-EA4C-5E834BC13184}"/>
              </a:ext>
            </a:extLst>
          </p:cNvPr>
          <p:cNvSpPr txBox="1"/>
          <p:nvPr/>
        </p:nvSpPr>
        <p:spPr>
          <a:xfrm>
            <a:off x="5563859" y="1555382"/>
            <a:ext cx="922346" cy="503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Battery Maker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EEDB9E-3DFA-2623-F171-1871225C0CDC}"/>
              </a:ext>
            </a:extLst>
          </p:cNvPr>
          <p:cNvSpPr txBox="1"/>
          <p:nvPr/>
        </p:nvSpPr>
        <p:spPr>
          <a:xfrm>
            <a:off x="4190710" y="1552152"/>
            <a:ext cx="1033483" cy="5035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444B11-2777-078A-4631-FB809367BCDF}"/>
              </a:ext>
            </a:extLst>
          </p:cNvPr>
          <p:cNvSpPr txBox="1"/>
          <p:nvPr/>
        </p:nvSpPr>
        <p:spPr>
          <a:xfrm>
            <a:off x="7020339" y="1590285"/>
            <a:ext cx="1556858" cy="503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 Manufacturer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BEBD47-8CC6-20F6-5EE9-CD4620F48B38}"/>
              </a:ext>
            </a:extLst>
          </p:cNvPr>
          <p:cNvSpPr txBox="1"/>
          <p:nvPr/>
        </p:nvSpPr>
        <p:spPr>
          <a:xfrm>
            <a:off x="10457429" y="1738356"/>
            <a:ext cx="852268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Recycler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4C3B06-760F-EE91-3242-E91E8D2338F8}"/>
              </a:ext>
            </a:extLst>
          </p:cNvPr>
          <p:cNvSpPr txBox="1"/>
          <p:nvPr/>
        </p:nvSpPr>
        <p:spPr>
          <a:xfrm>
            <a:off x="8768863" y="3777133"/>
            <a:ext cx="1039813" cy="318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Authority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A08DF483-9D0F-9FE4-CD8A-9DBF48219F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9802" y="714486"/>
            <a:ext cx="482301" cy="429126"/>
          </a:xfrm>
          <a:prstGeom prst="rect">
            <a:avLst/>
          </a:prstGeom>
        </p:spPr>
      </p:pic>
      <p:sp>
        <p:nvSpPr>
          <p:cNvPr id="64" name="Freeform 63">
            <a:extLst>
              <a:ext uri="{FF2B5EF4-FFF2-40B4-BE49-F238E27FC236}">
                <a16:creationId xmlns:a16="http://schemas.microsoft.com/office/drawing/2014/main" id="{0DF59090-1010-EE4F-C4E5-BCDE82CAD91F}"/>
              </a:ext>
            </a:extLst>
          </p:cNvPr>
          <p:cNvSpPr/>
          <p:nvPr/>
        </p:nvSpPr>
        <p:spPr>
          <a:xfrm flipV="1">
            <a:off x="7880280" y="645056"/>
            <a:ext cx="1524094" cy="394239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9328A6E-C4AB-4233-64E6-05A266627384}"/>
              </a:ext>
            </a:extLst>
          </p:cNvPr>
          <p:cNvSpPr txBox="1"/>
          <p:nvPr/>
        </p:nvSpPr>
        <p:spPr>
          <a:xfrm>
            <a:off x="7843316" y="298026"/>
            <a:ext cx="1458903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Sell new vehicle</a:t>
            </a:r>
          </a:p>
        </p:txBody>
      </p:sp>
      <p:sp>
        <p:nvSpPr>
          <p:cNvPr id="79" name="Freeform 78">
            <a:extLst>
              <a:ext uri="{FF2B5EF4-FFF2-40B4-BE49-F238E27FC236}">
                <a16:creationId xmlns:a16="http://schemas.microsoft.com/office/drawing/2014/main" id="{E67148B9-6D26-3C58-3DE0-5F7521DBFC51}"/>
              </a:ext>
            </a:extLst>
          </p:cNvPr>
          <p:cNvSpPr/>
          <p:nvPr/>
        </p:nvSpPr>
        <p:spPr>
          <a:xfrm flipV="1">
            <a:off x="4313433" y="660417"/>
            <a:ext cx="1503256" cy="402402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Freeform 107">
            <a:extLst>
              <a:ext uri="{FF2B5EF4-FFF2-40B4-BE49-F238E27FC236}">
                <a16:creationId xmlns:a16="http://schemas.microsoft.com/office/drawing/2014/main" id="{6ABB82EC-AC1D-F951-AA9D-7A9982966982}"/>
              </a:ext>
            </a:extLst>
          </p:cNvPr>
          <p:cNvSpPr/>
          <p:nvPr/>
        </p:nvSpPr>
        <p:spPr>
          <a:xfrm flipH="1" flipV="1">
            <a:off x="1159965" y="719295"/>
            <a:ext cx="1251342" cy="318362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447E23-DCD9-7108-7DA2-C8E2EFB73B34}"/>
              </a:ext>
            </a:extLst>
          </p:cNvPr>
          <p:cNvSpPr txBox="1"/>
          <p:nvPr/>
        </p:nvSpPr>
        <p:spPr>
          <a:xfrm>
            <a:off x="4439951" y="321142"/>
            <a:ext cx="1310185" cy="29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Ship metals</a:t>
            </a:r>
          </a:p>
        </p:txBody>
      </p:sp>
      <p:sp>
        <p:nvSpPr>
          <p:cNvPr id="128" name="Freeform 127">
            <a:extLst>
              <a:ext uri="{FF2B5EF4-FFF2-40B4-BE49-F238E27FC236}">
                <a16:creationId xmlns:a16="http://schemas.microsoft.com/office/drawing/2014/main" id="{9BC94751-6BF0-189B-9BE7-2737243714B7}"/>
              </a:ext>
            </a:extLst>
          </p:cNvPr>
          <p:cNvSpPr/>
          <p:nvPr/>
        </p:nvSpPr>
        <p:spPr>
          <a:xfrm flipV="1">
            <a:off x="2816075" y="719295"/>
            <a:ext cx="1251343" cy="323254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8079A5F-20FA-C795-C935-F18A96BEEF1A}"/>
              </a:ext>
            </a:extLst>
          </p:cNvPr>
          <p:cNvSpPr txBox="1"/>
          <p:nvPr/>
        </p:nvSpPr>
        <p:spPr>
          <a:xfrm>
            <a:off x="1119307" y="359502"/>
            <a:ext cx="1123594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Compliance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3537027-DD64-32FA-823F-1EF9F5E4F5D4}"/>
              </a:ext>
            </a:extLst>
          </p:cNvPr>
          <p:cNvSpPr txBox="1"/>
          <p:nvPr/>
        </p:nvSpPr>
        <p:spPr>
          <a:xfrm>
            <a:off x="7985520" y="5606459"/>
            <a:ext cx="1662255" cy="29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Ship materials</a:t>
            </a:r>
          </a:p>
        </p:txBody>
      </p:sp>
      <p:pic>
        <p:nvPicPr>
          <p:cNvPr id="140" name="Picture 2" descr="Auditor - Free professions and jobs icons">
            <a:extLst>
              <a:ext uri="{FF2B5EF4-FFF2-40B4-BE49-F238E27FC236}">
                <a16:creationId xmlns:a16="http://schemas.microsoft.com/office/drawing/2014/main" id="{223C4777-0FEF-C8CF-EDEB-D8877D4FE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006" y="2077508"/>
            <a:ext cx="557882" cy="51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BC33BF7-501F-55C2-04D5-FBA8B12CC315}"/>
              </a:ext>
            </a:extLst>
          </p:cNvPr>
          <p:cNvCxnSpPr>
            <a:cxnSpLocks/>
          </p:cNvCxnSpPr>
          <p:nvPr/>
        </p:nvCxnSpPr>
        <p:spPr>
          <a:xfrm>
            <a:off x="2839459" y="2666951"/>
            <a:ext cx="0" cy="134479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EB232A5-52F1-AF85-824A-BFAEE18DF8CC}"/>
              </a:ext>
            </a:extLst>
          </p:cNvPr>
          <p:cNvCxnSpPr>
            <a:cxnSpLocks/>
          </p:cNvCxnSpPr>
          <p:nvPr/>
        </p:nvCxnSpPr>
        <p:spPr>
          <a:xfrm>
            <a:off x="4555782" y="2634886"/>
            <a:ext cx="0" cy="285862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90A3811-4C39-DF5E-5FF0-A9578EFB87F0}"/>
              </a:ext>
            </a:extLst>
          </p:cNvPr>
          <p:cNvCxnSpPr>
            <a:cxnSpLocks/>
          </p:cNvCxnSpPr>
          <p:nvPr/>
        </p:nvCxnSpPr>
        <p:spPr>
          <a:xfrm>
            <a:off x="2820434" y="5170832"/>
            <a:ext cx="18669" cy="1122607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52668DC-C8A1-82FB-608F-F7624E19C46C}"/>
              </a:ext>
            </a:extLst>
          </p:cNvPr>
          <p:cNvCxnSpPr>
            <a:cxnSpLocks/>
          </p:cNvCxnSpPr>
          <p:nvPr/>
        </p:nvCxnSpPr>
        <p:spPr>
          <a:xfrm flipH="1">
            <a:off x="6142866" y="2634886"/>
            <a:ext cx="11389" cy="279847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4894396-4D9B-C4D7-637E-6DD9082843CC}"/>
              </a:ext>
            </a:extLst>
          </p:cNvPr>
          <p:cNvCxnSpPr>
            <a:cxnSpLocks/>
          </p:cNvCxnSpPr>
          <p:nvPr/>
        </p:nvCxnSpPr>
        <p:spPr>
          <a:xfrm>
            <a:off x="7538062" y="2776389"/>
            <a:ext cx="0" cy="2559819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0F4D0AD-DC2E-D821-B906-476D5B2933EA}"/>
              </a:ext>
            </a:extLst>
          </p:cNvPr>
          <p:cNvCxnSpPr>
            <a:cxnSpLocks/>
          </p:cNvCxnSpPr>
          <p:nvPr/>
        </p:nvCxnSpPr>
        <p:spPr>
          <a:xfrm>
            <a:off x="10793397" y="2839596"/>
            <a:ext cx="0" cy="220124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0799E68-69F4-3CD5-E5CC-D63DADFA2028}"/>
              </a:ext>
            </a:extLst>
          </p:cNvPr>
          <p:cNvCxnSpPr>
            <a:cxnSpLocks/>
            <a:endCxn id="1030" idx="2"/>
          </p:cNvCxnSpPr>
          <p:nvPr/>
        </p:nvCxnSpPr>
        <p:spPr>
          <a:xfrm>
            <a:off x="9282400" y="2709418"/>
            <a:ext cx="8384" cy="97975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Picture 6" descr="Digital Certificate Icon Vector Images (over 8,400)">
            <a:extLst>
              <a:ext uri="{FF2B5EF4-FFF2-40B4-BE49-F238E27FC236}">
                <a16:creationId xmlns:a16="http://schemas.microsoft.com/office/drawing/2014/main" id="{54FF614E-7367-8A86-8887-67C5AE3EC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9621" y="3681763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9E7438B4-9DE0-00B3-7FFD-C9E9874EFA7A}"/>
              </a:ext>
            </a:extLst>
          </p:cNvPr>
          <p:cNvSpPr txBox="1"/>
          <p:nvPr/>
        </p:nvSpPr>
        <p:spPr>
          <a:xfrm>
            <a:off x="7822683" y="3689041"/>
            <a:ext cx="762069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Sale Event</a:t>
            </a:r>
          </a:p>
        </p:txBody>
      </p:sp>
      <p:pic>
        <p:nvPicPr>
          <p:cNvPr id="71" name="Picture 6" descr="Digital Certificate Icon Vector Images (over 8,400)">
            <a:extLst>
              <a:ext uri="{FF2B5EF4-FFF2-40B4-BE49-F238E27FC236}">
                <a16:creationId xmlns:a16="http://schemas.microsoft.com/office/drawing/2014/main" id="{83BC5E57-A435-89FC-17D3-A88214D23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914" y="3221792"/>
            <a:ext cx="515629" cy="51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66518F16-342F-22E5-9A2A-A9C0F150EA3E}"/>
              </a:ext>
            </a:extLst>
          </p:cNvPr>
          <p:cNvSpPr txBox="1"/>
          <p:nvPr/>
        </p:nvSpPr>
        <p:spPr>
          <a:xfrm>
            <a:off x="10864390" y="3260317"/>
            <a:ext cx="1051791" cy="238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EPD</a:t>
            </a:r>
          </a:p>
        </p:txBody>
      </p:sp>
      <p:pic>
        <p:nvPicPr>
          <p:cNvPr id="88" name="Picture 6" descr="Digital Certificate Icon Vector Images (over 8,400)">
            <a:extLst>
              <a:ext uri="{FF2B5EF4-FFF2-40B4-BE49-F238E27FC236}">
                <a16:creationId xmlns:a16="http://schemas.microsoft.com/office/drawing/2014/main" id="{867C3B6F-34AE-3D78-F8D3-36D615874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9657" y="4201672"/>
            <a:ext cx="556604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C13BD8AF-85AB-EC30-4EC8-774400A2A1D8}"/>
              </a:ext>
            </a:extLst>
          </p:cNvPr>
          <p:cNvSpPr txBox="1"/>
          <p:nvPr/>
        </p:nvSpPr>
        <p:spPr>
          <a:xfrm>
            <a:off x="6157651" y="4243483"/>
            <a:ext cx="1051791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Product Passport</a:t>
            </a:r>
          </a:p>
        </p:txBody>
      </p:sp>
      <p:pic>
        <p:nvPicPr>
          <p:cNvPr id="90" name="Picture 6" descr="Digital Certificate Icon Vector Images (over 8,400)">
            <a:extLst>
              <a:ext uri="{FF2B5EF4-FFF2-40B4-BE49-F238E27FC236}">
                <a16:creationId xmlns:a16="http://schemas.microsoft.com/office/drawing/2014/main" id="{FBD341BD-E2CE-97E5-6BD9-2778B399C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101" y="3520005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4219FBDE-B3A7-36DF-8FA6-87E20C084512}"/>
              </a:ext>
            </a:extLst>
          </p:cNvPr>
          <p:cNvSpPr txBox="1"/>
          <p:nvPr/>
        </p:nvSpPr>
        <p:spPr>
          <a:xfrm>
            <a:off x="6210504" y="3619184"/>
            <a:ext cx="716830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Sale Event</a:t>
            </a:r>
          </a:p>
        </p:txBody>
      </p:sp>
      <p:pic>
        <p:nvPicPr>
          <p:cNvPr id="93" name="Picture 6" descr="Digital Certificate Icon Vector Images (over 8,400)">
            <a:extLst>
              <a:ext uri="{FF2B5EF4-FFF2-40B4-BE49-F238E27FC236}">
                <a16:creationId xmlns:a16="http://schemas.microsoft.com/office/drawing/2014/main" id="{9F434A49-DC03-D779-372D-A963F1FE4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1080" y="3048969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6" descr="Digital Certificate Icon Vector Images (over 8,400)">
            <a:extLst>
              <a:ext uri="{FF2B5EF4-FFF2-40B4-BE49-F238E27FC236}">
                <a16:creationId xmlns:a16="http://schemas.microsoft.com/office/drawing/2014/main" id="{5021D938-5BA4-AF3F-47E4-8591BD71B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9305" y="4245437"/>
            <a:ext cx="556604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EC516E3D-6BBC-86C6-1158-99CC04D49A3D}"/>
              </a:ext>
            </a:extLst>
          </p:cNvPr>
          <p:cNvSpPr txBox="1"/>
          <p:nvPr/>
        </p:nvSpPr>
        <p:spPr>
          <a:xfrm>
            <a:off x="8089865" y="4281563"/>
            <a:ext cx="668196" cy="236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EU DPP</a:t>
            </a:r>
          </a:p>
        </p:txBody>
      </p:sp>
      <p:pic>
        <p:nvPicPr>
          <p:cNvPr id="98" name="Picture 6" descr="Digital Certificate Icon Vector Images (over 8,400)">
            <a:extLst>
              <a:ext uri="{FF2B5EF4-FFF2-40B4-BE49-F238E27FC236}">
                <a16:creationId xmlns:a16="http://schemas.microsoft.com/office/drawing/2014/main" id="{119EBC36-ED9F-FA36-37EE-F56D3B7CC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9657" y="2905163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6329540A-EDF9-7866-734C-9BF42B722820}"/>
              </a:ext>
            </a:extLst>
          </p:cNvPr>
          <p:cNvSpPr txBox="1"/>
          <p:nvPr/>
        </p:nvSpPr>
        <p:spPr>
          <a:xfrm>
            <a:off x="6203679" y="2866654"/>
            <a:ext cx="922346" cy="556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Manuf-acturing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Event</a:t>
            </a:r>
          </a:p>
        </p:txBody>
      </p:sp>
      <p:pic>
        <p:nvPicPr>
          <p:cNvPr id="111" name="Picture 6" descr="Digital Certificate Icon Vector Images (over 8,400)">
            <a:extLst>
              <a:ext uri="{FF2B5EF4-FFF2-40B4-BE49-F238E27FC236}">
                <a16:creationId xmlns:a16="http://schemas.microsoft.com/office/drawing/2014/main" id="{D8EEA337-94FE-2200-E469-273C67BD6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941" y="2839596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2F3816DB-7F50-6B3E-ED95-D45BD82BBEBC}"/>
              </a:ext>
            </a:extLst>
          </p:cNvPr>
          <p:cNvSpPr txBox="1"/>
          <p:nvPr/>
        </p:nvSpPr>
        <p:spPr>
          <a:xfrm>
            <a:off x="4730220" y="2887672"/>
            <a:ext cx="1168493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Processing event</a:t>
            </a:r>
          </a:p>
        </p:txBody>
      </p:sp>
      <p:pic>
        <p:nvPicPr>
          <p:cNvPr id="113" name="Picture 6" descr="Digital Certificate Icon Vector Images (over 8,400)">
            <a:extLst>
              <a:ext uri="{FF2B5EF4-FFF2-40B4-BE49-F238E27FC236}">
                <a16:creationId xmlns:a16="http://schemas.microsoft.com/office/drawing/2014/main" id="{6DD8E20B-5FC3-46D5-6375-D5D0E636E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904" y="4123000"/>
            <a:ext cx="556604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2017A508-4D7F-818C-FE0B-3C83C198C55B}"/>
              </a:ext>
            </a:extLst>
          </p:cNvPr>
          <p:cNvSpPr txBox="1"/>
          <p:nvPr/>
        </p:nvSpPr>
        <p:spPr>
          <a:xfrm>
            <a:off x="4686285" y="4201823"/>
            <a:ext cx="979548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Product Passport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1949E33-5113-DAEA-B7C7-98A0165DDA83}"/>
              </a:ext>
            </a:extLst>
          </p:cNvPr>
          <p:cNvSpPr txBox="1"/>
          <p:nvPr/>
        </p:nvSpPr>
        <p:spPr>
          <a:xfrm>
            <a:off x="1365169" y="2722114"/>
            <a:ext cx="856685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Guarantee of origin</a:t>
            </a:r>
          </a:p>
        </p:txBody>
      </p:sp>
      <p:pic>
        <p:nvPicPr>
          <p:cNvPr id="135" name="Picture 6" descr="Digital Certificate Icon Vector Images (over 8,400)">
            <a:extLst>
              <a:ext uri="{FF2B5EF4-FFF2-40B4-BE49-F238E27FC236}">
                <a16:creationId xmlns:a16="http://schemas.microsoft.com/office/drawing/2014/main" id="{A8FF1E63-F158-01A4-AE61-979AF45C1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145" y="2710140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AD238F3C-179C-A371-B14C-7DCCB06846CC}"/>
              </a:ext>
            </a:extLst>
          </p:cNvPr>
          <p:cNvSpPr txBox="1"/>
          <p:nvPr/>
        </p:nvSpPr>
        <p:spPr>
          <a:xfrm>
            <a:off x="2933714" y="2776389"/>
            <a:ext cx="1051791" cy="238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Sale Event</a:t>
            </a:r>
          </a:p>
        </p:txBody>
      </p:sp>
      <p:pic>
        <p:nvPicPr>
          <p:cNvPr id="137" name="Picture 6" descr="Digital Certificate Icon Vector Images (over 8,400)">
            <a:extLst>
              <a:ext uri="{FF2B5EF4-FFF2-40B4-BE49-F238E27FC236}">
                <a16:creationId xmlns:a16="http://schemas.microsoft.com/office/drawing/2014/main" id="{543BEDEE-BD17-C4D6-AD1D-4186C3A75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655" y="3368764"/>
            <a:ext cx="556604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DA9698A6-1763-1BBC-6152-AE5B7960344C}"/>
              </a:ext>
            </a:extLst>
          </p:cNvPr>
          <p:cNvSpPr txBox="1"/>
          <p:nvPr/>
        </p:nvSpPr>
        <p:spPr>
          <a:xfrm>
            <a:off x="2931201" y="3426002"/>
            <a:ext cx="1051791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Mineral Passport</a:t>
            </a:r>
          </a:p>
        </p:txBody>
      </p:sp>
      <p:pic>
        <p:nvPicPr>
          <p:cNvPr id="12" name="Picture 6" descr="Factory Icon in Material Design">
            <a:extLst>
              <a:ext uri="{FF2B5EF4-FFF2-40B4-BE49-F238E27FC236}">
                <a16:creationId xmlns:a16="http://schemas.microsoft.com/office/drawing/2014/main" id="{D8B9AF63-CA0C-E562-B843-299D92CFD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4792" y="1986120"/>
            <a:ext cx="779757" cy="648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4" descr="Car manufacturing - Free industry icons">
            <a:extLst>
              <a:ext uri="{FF2B5EF4-FFF2-40B4-BE49-F238E27FC236}">
                <a16:creationId xmlns:a16="http://schemas.microsoft.com/office/drawing/2014/main" id="{22BFEEBD-27FB-53DC-D9FD-06DC8A111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766" y="2130468"/>
            <a:ext cx="661038" cy="549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Digital Certificate Icon Vector Images (over 8,400)">
            <a:extLst>
              <a:ext uri="{FF2B5EF4-FFF2-40B4-BE49-F238E27FC236}">
                <a16:creationId xmlns:a16="http://schemas.microsoft.com/office/drawing/2014/main" id="{BD3ADBC5-9A66-F452-EBBE-F2F22D496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370" y="5898340"/>
            <a:ext cx="556604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47AFE8-E587-A4BB-DEBF-E54225682622}"/>
              </a:ext>
            </a:extLst>
          </p:cNvPr>
          <p:cNvSpPr txBox="1"/>
          <p:nvPr/>
        </p:nvSpPr>
        <p:spPr>
          <a:xfrm>
            <a:off x="2882679" y="5838380"/>
            <a:ext cx="1051791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Mineral Passport</a:t>
            </a:r>
          </a:p>
        </p:txBody>
      </p:sp>
      <p:pic>
        <p:nvPicPr>
          <p:cNvPr id="19" name="Picture 6" descr="Digital Certificate Icon Vector Images (over 8,400)">
            <a:extLst>
              <a:ext uri="{FF2B5EF4-FFF2-40B4-BE49-F238E27FC236}">
                <a16:creationId xmlns:a16="http://schemas.microsoft.com/office/drawing/2014/main" id="{E29028D5-9E96-AFD8-9852-5CF412F53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071" y="5251326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C31991E-BACF-53C1-F52A-616CC27DC9F5}"/>
              </a:ext>
            </a:extLst>
          </p:cNvPr>
          <p:cNvSpPr txBox="1"/>
          <p:nvPr/>
        </p:nvSpPr>
        <p:spPr>
          <a:xfrm>
            <a:off x="2870437" y="5326678"/>
            <a:ext cx="745853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Sale Event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4D2FFEF3-5CB1-B81C-D78E-72D2520A2E10}"/>
              </a:ext>
            </a:extLst>
          </p:cNvPr>
          <p:cNvSpPr/>
          <p:nvPr/>
        </p:nvSpPr>
        <p:spPr>
          <a:xfrm flipV="1">
            <a:off x="6126904" y="624721"/>
            <a:ext cx="1503256" cy="439954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976A49B-B87A-DA3B-2EF0-5C5460B622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3519" y="702605"/>
            <a:ext cx="417615" cy="4528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B4AADA-BF5A-19C3-B474-DB27A1EED7C4}"/>
              </a:ext>
            </a:extLst>
          </p:cNvPr>
          <p:cNvSpPr txBox="1"/>
          <p:nvPr/>
        </p:nvSpPr>
        <p:spPr>
          <a:xfrm>
            <a:off x="1423155" y="3406330"/>
            <a:ext cx="856685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Mining permit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E7DB6C-2BCF-435D-E301-8C038DC51B5C}"/>
              </a:ext>
            </a:extLst>
          </p:cNvPr>
          <p:cNvSpPr txBox="1"/>
          <p:nvPr/>
        </p:nvSpPr>
        <p:spPr>
          <a:xfrm>
            <a:off x="1358143" y="5276659"/>
            <a:ext cx="856685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Guarantee of origin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CED9B3-7C15-58A7-F5EC-6982E0117647}"/>
              </a:ext>
            </a:extLst>
          </p:cNvPr>
          <p:cNvSpPr txBox="1"/>
          <p:nvPr/>
        </p:nvSpPr>
        <p:spPr>
          <a:xfrm>
            <a:off x="1377913" y="5912403"/>
            <a:ext cx="856685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Mining permit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17CD0CF-C292-BC75-304C-B1569DA78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66" y="4525218"/>
            <a:ext cx="621840" cy="55328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3B02A83-7747-04CB-04BB-5CB4E7EDC69C}"/>
              </a:ext>
            </a:extLst>
          </p:cNvPr>
          <p:cNvSpPr txBox="1"/>
          <p:nvPr/>
        </p:nvSpPr>
        <p:spPr>
          <a:xfrm>
            <a:off x="2949739" y="342630"/>
            <a:ext cx="840166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Ship ore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BA063F3-96A3-E3CF-5385-AD7CE0CFAE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7083" y="752455"/>
            <a:ext cx="547735" cy="487346"/>
          </a:xfrm>
          <a:prstGeom prst="rect">
            <a:avLst/>
          </a:prstGeom>
        </p:spPr>
      </p:pic>
      <p:pic>
        <p:nvPicPr>
          <p:cNvPr id="7" name="Picture 6" descr="Digital Certificate Icon Vector Images (over 8,400)">
            <a:extLst>
              <a:ext uri="{FF2B5EF4-FFF2-40B4-BE49-F238E27FC236}">
                <a16:creationId xmlns:a16="http://schemas.microsoft.com/office/drawing/2014/main" id="{3C3F446A-1C56-6519-30A6-3D82A0C22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345" y="3458340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708583-CD07-74FD-564B-98CF4E5BB115}"/>
              </a:ext>
            </a:extLst>
          </p:cNvPr>
          <p:cNvSpPr txBox="1"/>
          <p:nvPr/>
        </p:nvSpPr>
        <p:spPr>
          <a:xfrm>
            <a:off x="4722915" y="3550313"/>
            <a:ext cx="1051791" cy="238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Sale Event</a:t>
            </a:r>
          </a:p>
        </p:txBody>
      </p:sp>
      <p:pic>
        <p:nvPicPr>
          <p:cNvPr id="17" name="Picture 6" descr="Digital Certificate Icon Vector Images (over 8,400)">
            <a:extLst>
              <a:ext uri="{FF2B5EF4-FFF2-40B4-BE49-F238E27FC236}">
                <a16:creationId xmlns:a16="http://schemas.microsoft.com/office/drawing/2014/main" id="{C4B4C917-D609-3321-5B08-05F693A85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265" y="4839780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11359A5-D494-356B-D2BE-BACEC92090E2}"/>
              </a:ext>
            </a:extLst>
          </p:cNvPr>
          <p:cNvSpPr txBox="1"/>
          <p:nvPr/>
        </p:nvSpPr>
        <p:spPr>
          <a:xfrm>
            <a:off x="4704039" y="4947287"/>
            <a:ext cx="655193" cy="238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EPD</a:t>
            </a:r>
          </a:p>
        </p:txBody>
      </p:sp>
      <p:pic>
        <p:nvPicPr>
          <p:cNvPr id="46" name="Picture 6" descr="Digital Certificate Icon Vector Images (over 8,400)">
            <a:extLst>
              <a:ext uri="{FF2B5EF4-FFF2-40B4-BE49-F238E27FC236}">
                <a16:creationId xmlns:a16="http://schemas.microsoft.com/office/drawing/2014/main" id="{67DD1FA7-97F4-8C2D-3814-BEC63D202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812" y="4842702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162E52E-51A6-BE8A-328E-30371BEC0A7C}"/>
              </a:ext>
            </a:extLst>
          </p:cNvPr>
          <p:cNvSpPr txBox="1"/>
          <p:nvPr/>
        </p:nvSpPr>
        <p:spPr>
          <a:xfrm>
            <a:off x="6262586" y="4950209"/>
            <a:ext cx="655193" cy="238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EPD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5DCD55-8CF0-2A2B-7BB1-1EB9329291CA}"/>
              </a:ext>
            </a:extLst>
          </p:cNvPr>
          <p:cNvSpPr txBox="1"/>
          <p:nvPr/>
        </p:nvSpPr>
        <p:spPr>
          <a:xfrm>
            <a:off x="6125167" y="327004"/>
            <a:ext cx="1593783" cy="29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Ship batteries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A53C9D-ADB8-D9BC-0CA0-6F6E0B221BC2}"/>
              </a:ext>
            </a:extLst>
          </p:cNvPr>
          <p:cNvSpPr txBox="1"/>
          <p:nvPr/>
        </p:nvSpPr>
        <p:spPr>
          <a:xfrm>
            <a:off x="811683" y="4272662"/>
            <a:ext cx="945171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Authority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EB214CC2-DEAE-6CD9-41AA-9132AA53B24A}"/>
              </a:ext>
            </a:extLst>
          </p:cNvPr>
          <p:cNvSpPr/>
          <p:nvPr/>
        </p:nvSpPr>
        <p:spPr>
          <a:xfrm>
            <a:off x="684415" y="1350241"/>
            <a:ext cx="3074070" cy="2644167"/>
          </a:xfrm>
          <a:prstGeom prst="roundRect">
            <a:avLst>
              <a:gd name="adj" fmla="val 9393"/>
            </a:avLst>
          </a:prstGeom>
          <a:noFill/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1076C8E2-D8C1-FA3D-504E-84EDBDA9F197}"/>
              </a:ext>
            </a:extLst>
          </p:cNvPr>
          <p:cNvSpPr/>
          <p:nvPr/>
        </p:nvSpPr>
        <p:spPr>
          <a:xfrm>
            <a:off x="681213" y="4144858"/>
            <a:ext cx="3074070" cy="2535172"/>
          </a:xfrm>
          <a:prstGeom prst="roundRect">
            <a:avLst>
              <a:gd name="adj" fmla="val 10878"/>
            </a:avLst>
          </a:prstGeom>
          <a:noFill/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3BB94D-14C8-FA62-6BF6-2A1CD0871A3B}"/>
              </a:ext>
            </a:extLst>
          </p:cNvPr>
          <p:cNvSpPr txBox="1"/>
          <p:nvPr/>
        </p:nvSpPr>
        <p:spPr>
          <a:xfrm>
            <a:off x="298338" y="4112532"/>
            <a:ext cx="836815" cy="848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🇨🇦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4BCDBB-DCF4-1A66-F7AB-95D887C3220A}"/>
              </a:ext>
            </a:extLst>
          </p:cNvPr>
          <p:cNvSpPr txBox="1"/>
          <p:nvPr/>
        </p:nvSpPr>
        <p:spPr>
          <a:xfrm>
            <a:off x="275573" y="1545034"/>
            <a:ext cx="836815" cy="848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🇦🇺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A9F1E855-EB05-563D-DE74-2457A67362EB}"/>
              </a:ext>
            </a:extLst>
          </p:cNvPr>
          <p:cNvSpPr/>
          <p:nvPr/>
        </p:nvSpPr>
        <p:spPr>
          <a:xfrm>
            <a:off x="3964945" y="1350241"/>
            <a:ext cx="2959589" cy="4114773"/>
          </a:xfrm>
          <a:prstGeom prst="roundRect">
            <a:avLst>
              <a:gd name="adj" fmla="val 9998"/>
            </a:avLst>
          </a:prstGeom>
          <a:noFill/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471BB5-0C67-4B7C-1566-300EE36CE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764" y="5090305"/>
            <a:ext cx="596053" cy="53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92D09B7F-1FC5-EC82-56EC-133902950E8B}"/>
              </a:ext>
            </a:extLst>
          </p:cNvPr>
          <p:cNvSpPr/>
          <p:nvPr/>
        </p:nvSpPr>
        <p:spPr>
          <a:xfrm>
            <a:off x="7079249" y="1350241"/>
            <a:ext cx="2898851" cy="4107610"/>
          </a:xfrm>
          <a:prstGeom prst="roundRect">
            <a:avLst>
              <a:gd name="adj" fmla="val 9588"/>
            </a:avLst>
          </a:prstGeom>
          <a:noFill/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8" name="Picture 4" descr="European Union Waved Flag Icon | Waved Flags Iconpack | Wikipedia Authors">
            <a:extLst>
              <a:ext uri="{FF2B5EF4-FFF2-40B4-BE49-F238E27FC236}">
                <a16:creationId xmlns:a16="http://schemas.microsoft.com/office/drawing/2014/main" id="{CC808EE1-6E1C-EC2E-57DA-4DB6358BB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8443" y="5225088"/>
            <a:ext cx="561279" cy="499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4689528E-ECA4-5915-8B19-F3F4CE020EC6}"/>
              </a:ext>
            </a:extLst>
          </p:cNvPr>
          <p:cNvSpPr txBox="1"/>
          <p:nvPr/>
        </p:nvSpPr>
        <p:spPr>
          <a:xfrm>
            <a:off x="7864649" y="2976134"/>
            <a:ext cx="922346" cy="556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Manuf-acturing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Event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C7CB30B-6878-9111-EDE0-E2DE8BFC77BB}"/>
              </a:ext>
            </a:extLst>
          </p:cNvPr>
          <p:cNvSpPr txBox="1"/>
          <p:nvPr/>
        </p:nvSpPr>
        <p:spPr>
          <a:xfrm>
            <a:off x="8669885" y="1689492"/>
            <a:ext cx="1002578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Consumer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3A90A109-119E-3C99-5955-010DA07C31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3946" y="697091"/>
            <a:ext cx="482301" cy="429126"/>
          </a:xfrm>
          <a:prstGeom prst="rect">
            <a:avLst/>
          </a:prstGeom>
        </p:spPr>
      </p:pic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076DE1FF-07AA-C504-9BC4-41FF24205D42}"/>
              </a:ext>
            </a:extLst>
          </p:cNvPr>
          <p:cNvSpPr/>
          <p:nvPr/>
        </p:nvSpPr>
        <p:spPr>
          <a:xfrm>
            <a:off x="10158978" y="1350241"/>
            <a:ext cx="1517717" cy="4089949"/>
          </a:xfrm>
          <a:prstGeom prst="roundRect">
            <a:avLst/>
          </a:prstGeom>
          <a:noFill/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5" name="Picture 6" descr="Digital Certificate Icon Vector Images (over 8,400)">
            <a:extLst>
              <a:ext uri="{FF2B5EF4-FFF2-40B4-BE49-F238E27FC236}">
                <a16:creationId xmlns:a16="http://schemas.microsoft.com/office/drawing/2014/main" id="{AE55B9FB-243B-C792-CE18-54D7E9972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9123" y="4538618"/>
            <a:ext cx="556604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6" descr="Digital Certificate Icon Vector Images (over 8,400)">
            <a:extLst>
              <a:ext uri="{FF2B5EF4-FFF2-40B4-BE49-F238E27FC236}">
                <a16:creationId xmlns:a16="http://schemas.microsoft.com/office/drawing/2014/main" id="{2397F261-5218-4A5F-1373-1532DB20F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9123" y="3812947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F8C168F7-4102-FFFB-1BB1-9FBB00051D05}"/>
              </a:ext>
            </a:extLst>
          </p:cNvPr>
          <p:cNvSpPr txBox="1"/>
          <p:nvPr/>
        </p:nvSpPr>
        <p:spPr>
          <a:xfrm>
            <a:off x="10825408" y="3946412"/>
            <a:ext cx="1051791" cy="238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Sale Event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AB203AC-BBF3-D8A8-7B4C-4B9501D0C8DF}"/>
              </a:ext>
            </a:extLst>
          </p:cNvPr>
          <p:cNvSpPr txBox="1"/>
          <p:nvPr/>
        </p:nvSpPr>
        <p:spPr>
          <a:xfrm>
            <a:off x="10889902" y="4595038"/>
            <a:ext cx="720241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Material passport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67693B8-E46E-293F-7C70-4AF02C9FA0C5}"/>
              </a:ext>
            </a:extLst>
          </p:cNvPr>
          <p:cNvCxnSpPr>
            <a:cxnSpLocks/>
          </p:cNvCxnSpPr>
          <p:nvPr/>
        </p:nvCxnSpPr>
        <p:spPr>
          <a:xfrm>
            <a:off x="9286656" y="4739223"/>
            <a:ext cx="7727" cy="61625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Picture 6" descr="Digital Certificate Icon Vector Images (over 8,400)">
            <a:extLst>
              <a:ext uri="{FF2B5EF4-FFF2-40B4-BE49-F238E27FC236}">
                <a16:creationId xmlns:a16="http://schemas.microsoft.com/office/drawing/2014/main" id="{17A1C32D-B0A2-B832-14AE-4FA011A53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8568" y="4880911"/>
            <a:ext cx="515629" cy="51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Freeform 102">
            <a:extLst>
              <a:ext uri="{FF2B5EF4-FFF2-40B4-BE49-F238E27FC236}">
                <a16:creationId xmlns:a16="http://schemas.microsoft.com/office/drawing/2014/main" id="{60F0A57C-01B8-5164-3383-F2C8A98920FF}"/>
              </a:ext>
            </a:extLst>
          </p:cNvPr>
          <p:cNvSpPr/>
          <p:nvPr/>
        </p:nvSpPr>
        <p:spPr>
          <a:xfrm flipV="1">
            <a:off x="9615255" y="629662"/>
            <a:ext cx="1524094" cy="394239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D44B261-ADD7-DFAB-CF0F-110F001F1E82}"/>
              </a:ext>
            </a:extLst>
          </p:cNvPr>
          <p:cNvSpPr txBox="1"/>
          <p:nvPr/>
        </p:nvSpPr>
        <p:spPr>
          <a:xfrm>
            <a:off x="9737351" y="318045"/>
            <a:ext cx="1519660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Sell used battery</a:t>
            </a:r>
          </a:p>
        </p:txBody>
      </p:sp>
      <p:sp>
        <p:nvSpPr>
          <p:cNvPr id="105" name="Freeform 104">
            <a:extLst>
              <a:ext uri="{FF2B5EF4-FFF2-40B4-BE49-F238E27FC236}">
                <a16:creationId xmlns:a16="http://schemas.microsoft.com/office/drawing/2014/main" id="{A46071EA-2AED-B74B-26F2-E4B3B2A18412}"/>
              </a:ext>
            </a:extLst>
          </p:cNvPr>
          <p:cNvSpPr/>
          <p:nvPr/>
        </p:nvSpPr>
        <p:spPr>
          <a:xfrm rot="10800000" flipV="1">
            <a:off x="6066477" y="5503895"/>
            <a:ext cx="4107569" cy="467251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95046B41-6298-6AE8-1459-4AF534619F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8490" y="5421930"/>
            <a:ext cx="482301" cy="429126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4B5AE1F-93C3-17DA-1917-09E51BF20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498" y="2914588"/>
            <a:ext cx="870571" cy="77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939C3BE-C83F-BD6D-FDC1-A41687361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2488" y="3174931"/>
            <a:ext cx="301649" cy="268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cycle symbol - Free arrows icons">
            <a:extLst>
              <a:ext uri="{FF2B5EF4-FFF2-40B4-BE49-F238E27FC236}">
                <a16:creationId xmlns:a16="http://schemas.microsoft.com/office/drawing/2014/main" id="{687C9556-439B-B194-862E-8FD8CBE35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4918" y="2102567"/>
            <a:ext cx="686343" cy="610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2761A3A8-EE25-63F9-9307-B89DC22297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8406" y="699500"/>
            <a:ext cx="417615" cy="452887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CC3B011B-B732-B665-EBFD-49A465D24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660" y="4098070"/>
            <a:ext cx="621840" cy="553280"/>
          </a:xfrm>
          <a:prstGeom prst="rect">
            <a:avLst/>
          </a:prstGeom>
        </p:spPr>
      </p:pic>
      <p:sp>
        <p:nvSpPr>
          <p:cNvPr id="115" name="Freeform 114">
            <a:extLst>
              <a:ext uri="{FF2B5EF4-FFF2-40B4-BE49-F238E27FC236}">
                <a16:creationId xmlns:a16="http://schemas.microsoft.com/office/drawing/2014/main" id="{E961162B-A0C2-A56C-20AE-3E3E6AE5DDDB}"/>
              </a:ext>
            </a:extLst>
          </p:cNvPr>
          <p:cNvSpPr/>
          <p:nvPr/>
        </p:nvSpPr>
        <p:spPr>
          <a:xfrm rot="7704541">
            <a:off x="7691925" y="3897812"/>
            <a:ext cx="1422637" cy="187379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Freeform 115">
            <a:extLst>
              <a:ext uri="{FF2B5EF4-FFF2-40B4-BE49-F238E27FC236}">
                <a16:creationId xmlns:a16="http://schemas.microsoft.com/office/drawing/2014/main" id="{53648A3C-EB94-50EB-027E-8AEA6761BD89}"/>
              </a:ext>
            </a:extLst>
          </p:cNvPr>
          <p:cNvSpPr/>
          <p:nvPr/>
        </p:nvSpPr>
        <p:spPr>
          <a:xfrm>
            <a:off x="1421817" y="2556065"/>
            <a:ext cx="5887302" cy="1899105"/>
          </a:xfrm>
          <a:custGeom>
            <a:avLst/>
            <a:gdLst>
              <a:gd name="connsiteX0" fmla="*/ 6082748 w 6082748"/>
              <a:gd name="connsiteY0" fmla="*/ 58081 h 2205291"/>
              <a:gd name="connsiteX1" fmla="*/ 5883965 w 6082748"/>
              <a:gd name="connsiteY1" fmla="*/ 190603 h 2205291"/>
              <a:gd name="connsiteX2" fmla="*/ 5526156 w 6082748"/>
              <a:gd name="connsiteY2" fmla="*/ 1635090 h 2205291"/>
              <a:gd name="connsiteX3" fmla="*/ 4863548 w 6082748"/>
              <a:gd name="connsiteY3" fmla="*/ 2204933 h 2205291"/>
              <a:gd name="connsiteX4" fmla="*/ 4333461 w 6082748"/>
              <a:gd name="connsiteY4" fmla="*/ 1568829 h 2205291"/>
              <a:gd name="connsiteX5" fmla="*/ 4558748 w 6082748"/>
              <a:gd name="connsiteY5" fmla="*/ 879716 h 2205291"/>
              <a:gd name="connsiteX6" fmla="*/ 3790122 w 6082748"/>
              <a:gd name="connsiteY6" fmla="*/ 1595333 h 2205291"/>
              <a:gd name="connsiteX7" fmla="*/ 3286539 w 6082748"/>
              <a:gd name="connsiteY7" fmla="*/ 2072412 h 2205291"/>
              <a:gd name="connsiteX8" fmla="*/ 2743200 w 6082748"/>
              <a:gd name="connsiteY8" fmla="*/ 1449560 h 2205291"/>
              <a:gd name="connsiteX9" fmla="*/ 3021496 w 6082748"/>
              <a:gd name="connsiteY9" fmla="*/ 760447 h 2205291"/>
              <a:gd name="connsiteX10" fmla="*/ 1550504 w 6082748"/>
              <a:gd name="connsiteY10" fmla="*/ 1211020 h 2205291"/>
              <a:gd name="connsiteX11" fmla="*/ 0 w 6082748"/>
              <a:gd name="connsiteY11" fmla="*/ 813455 h 22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82748" h="2205291">
                <a:moveTo>
                  <a:pt x="6082748" y="58081"/>
                </a:moveTo>
                <a:cubicBezTo>
                  <a:pt x="6029739" y="-7076"/>
                  <a:pt x="5976730" y="-72232"/>
                  <a:pt x="5883965" y="190603"/>
                </a:cubicBezTo>
                <a:cubicBezTo>
                  <a:pt x="5791200" y="453438"/>
                  <a:pt x="5696225" y="1299368"/>
                  <a:pt x="5526156" y="1635090"/>
                </a:cubicBezTo>
                <a:cubicBezTo>
                  <a:pt x="5356086" y="1970812"/>
                  <a:pt x="5062331" y="2215977"/>
                  <a:pt x="4863548" y="2204933"/>
                </a:cubicBezTo>
                <a:cubicBezTo>
                  <a:pt x="4664765" y="2193889"/>
                  <a:pt x="4384261" y="1789699"/>
                  <a:pt x="4333461" y="1568829"/>
                </a:cubicBezTo>
                <a:cubicBezTo>
                  <a:pt x="4282661" y="1347960"/>
                  <a:pt x="4649304" y="875299"/>
                  <a:pt x="4558748" y="879716"/>
                </a:cubicBezTo>
                <a:cubicBezTo>
                  <a:pt x="4468192" y="884133"/>
                  <a:pt x="3790122" y="1595333"/>
                  <a:pt x="3790122" y="1595333"/>
                </a:cubicBezTo>
                <a:cubicBezTo>
                  <a:pt x="3578087" y="1794116"/>
                  <a:pt x="3461026" y="2096707"/>
                  <a:pt x="3286539" y="2072412"/>
                </a:cubicBezTo>
                <a:cubicBezTo>
                  <a:pt x="3112052" y="2048117"/>
                  <a:pt x="2787374" y="1668221"/>
                  <a:pt x="2743200" y="1449560"/>
                </a:cubicBezTo>
                <a:cubicBezTo>
                  <a:pt x="2699026" y="1230899"/>
                  <a:pt x="3220279" y="800204"/>
                  <a:pt x="3021496" y="760447"/>
                </a:cubicBezTo>
                <a:cubicBezTo>
                  <a:pt x="2822713" y="720690"/>
                  <a:pt x="2054087" y="1202185"/>
                  <a:pt x="1550504" y="1211020"/>
                </a:cubicBezTo>
                <a:cubicBezTo>
                  <a:pt x="1046921" y="1219855"/>
                  <a:pt x="523460" y="1016655"/>
                  <a:pt x="0" y="813455"/>
                </a:cubicBezTo>
              </a:path>
            </a:pathLst>
          </a:custGeom>
          <a:noFill/>
          <a:ln w="38100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Freeform 116">
            <a:extLst>
              <a:ext uri="{FF2B5EF4-FFF2-40B4-BE49-F238E27FC236}">
                <a16:creationId xmlns:a16="http://schemas.microsoft.com/office/drawing/2014/main" id="{AC0D9D8D-9754-11B6-71EE-06208A826CE9}"/>
              </a:ext>
            </a:extLst>
          </p:cNvPr>
          <p:cNvSpPr/>
          <p:nvPr/>
        </p:nvSpPr>
        <p:spPr>
          <a:xfrm>
            <a:off x="1357685" y="3220973"/>
            <a:ext cx="2937238" cy="2641260"/>
          </a:xfrm>
          <a:custGeom>
            <a:avLst/>
            <a:gdLst>
              <a:gd name="connsiteX0" fmla="*/ 3034748 w 3034748"/>
              <a:gd name="connsiteY0" fmla="*/ 54599 h 3067102"/>
              <a:gd name="connsiteX1" fmla="*/ 2716696 w 3034748"/>
              <a:gd name="connsiteY1" fmla="*/ 279886 h 3067102"/>
              <a:gd name="connsiteX2" fmla="*/ 2027583 w 3034748"/>
              <a:gd name="connsiteY2" fmla="*/ 2227956 h 3067102"/>
              <a:gd name="connsiteX3" fmla="*/ 1417983 w 3034748"/>
              <a:gd name="connsiteY3" fmla="*/ 3062843 h 3067102"/>
              <a:gd name="connsiteX4" fmla="*/ 0 w 3034748"/>
              <a:gd name="connsiteY4" fmla="*/ 2492999 h 30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4748" h="3067102">
                <a:moveTo>
                  <a:pt x="3034748" y="54599"/>
                </a:moveTo>
                <a:cubicBezTo>
                  <a:pt x="2959652" y="-13871"/>
                  <a:pt x="2884557" y="-82340"/>
                  <a:pt x="2716696" y="279886"/>
                </a:cubicBezTo>
                <a:cubicBezTo>
                  <a:pt x="2548835" y="642112"/>
                  <a:pt x="2244035" y="1764130"/>
                  <a:pt x="2027583" y="2227956"/>
                </a:cubicBezTo>
                <a:cubicBezTo>
                  <a:pt x="1811131" y="2691782"/>
                  <a:pt x="1755913" y="3018669"/>
                  <a:pt x="1417983" y="3062843"/>
                </a:cubicBezTo>
                <a:cubicBezTo>
                  <a:pt x="1080052" y="3107017"/>
                  <a:pt x="540026" y="2800008"/>
                  <a:pt x="0" y="2492999"/>
                </a:cubicBezTo>
              </a:path>
            </a:pathLst>
          </a:custGeom>
          <a:noFill/>
          <a:ln w="38100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7DCE43E-7159-9BF1-1F7A-1F5BDB5800E1}"/>
              </a:ext>
            </a:extLst>
          </p:cNvPr>
          <p:cNvSpPr txBox="1"/>
          <p:nvPr/>
        </p:nvSpPr>
        <p:spPr>
          <a:xfrm>
            <a:off x="9349923" y="4881268"/>
            <a:ext cx="791324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CBAM tariff</a:t>
            </a:r>
          </a:p>
        </p:txBody>
      </p:sp>
      <p:sp>
        <p:nvSpPr>
          <p:cNvPr id="121" name="Freeform 120">
            <a:extLst>
              <a:ext uri="{FF2B5EF4-FFF2-40B4-BE49-F238E27FC236}">
                <a16:creationId xmlns:a16="http://schemas.microsoft.com/office/drawing/2014/main" id="{4E27503D-BA2E-2D18-7B5D-2677B945E61C}"/>
              </a:ext>
            </a:extLst>
          </p:cNvPr>
          <p:cNvSpPr/>
          <p:nvPr/>
        </p:nvSpPr>
        <p:spPr>
          <a:xfrm rot="10800000">
            <a:off x="4439952" y="6090258"/>
            <a:ext cx="1598923" cy="88655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38100">
            <a:solidFill>
              <a:schemeClr val="accent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537179E-7BA0-6658-BF1D-F719E4BCEC2C}"/>
              </a:ext>
            </a:extLst>
          </p:cNvPr>
          <p:cNvSpPr txBox="1"/>
          <p:nvPr/>
        </p:nvSpPr>
        <p:spPr>
          <a:xfrm>
            <a:off x="4492000" y="6209687"/>
            <a:ext cx="1662255" cy="29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B2B due diligence</a:t>
            </a:r>
          </a:p>
        </p:txBody>
      </p:sp>
      <p:sp>
        <p:nvSpPr>
          <p:cNvPr id="123" name="Freeform 122">
            <a:extLst>
              <a:ext uri="{FF2B5EF4-FFF2-40B4-BE49-F238E27FC236}">
                <a16:creationId xmlns:a16="http://schemas.microsoft.com/office/drawing/2014/main" id="{4E8B2C74-E0C8-80E8-E1A4-1411B2C867EC}"/>
              </a:ext>
            </a:extLst>
          </p:cNvPr>
          <p:cNvSpPr/>
          <p:nvPr/>
        </p:nvSpPr>
        <p:spPr>
          <a:xfrm rot="10800000">
            <a:off x="10041790" y="6097537"/>
            <a:ext cx="1598923" cy="88655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8399C58-14E4-EFE1-5A60-38E2EBF7A85C}"/>
              </a:ext>
            </a:extLst>
          </p:cNvPr>
          <p:cNvSpPr txBox="1"/>
          <p:nvPr/>
        </p:nvSpPr>
        <p:spPr>
          <a:xfrm>
            <a:off x="10068846" y="6209687"/>
            <a:ext cx="1662255" cy="29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Consumer choice</a:t>
            </a:r>
          </a:p>
        </p:txBody>
      </p:sp>
      <p:pic>
        <p:nvPicPr>
          <p:cNvPr id="127" name="Picture 6" descr="Digital Certificate Icon Vector Images (over 8,400)">
            <a:extLst>
              <a:ext uri="{FF2B5EF4-FFF2-40B4-BE49-F238E27FC236}">
                <a16:creationId xmlns:a16="http://schemas.microsoft.com/office/drawing/2014/main" id="{C7F35DEE-2BF9-D484-6098-32599AAB5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835" y="4867553"/>
            <a:ext cx="556604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60852817-E09D-504B-12A7-42D24299A783}"/>
              </a:ext>
            </a:extLst>
          </p:cNvPr>
          <p:cNvSpPr txBox="1"/>
          <p:nvPr/>
        </p:nvSpPr>
        <p:spPr>
          <a:xfrm>
            <a:off x="7903502" y="4951946"/>
            <a:ext cx="792741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Battery passport</a:t>
            </a:r>
          </a:p>
        </p:txBody>
      </p:sp>
      <p:sp>
        <p:nvSpPr>
          <p:cNvPr id="130" name="Freeform 129">
            <a:extLst>
              <a:ext uri="{FF2B5EF4-FFF2-40B4-BE49-F238E27FC236}">
                <a16:creationId xmlns:a16="http://schemas.microsoft.com/office/drawing/2014/main" id="{38D0C0E1-EDB9-4D44-ADBC-AFA69883E004}"/>
              </a:ext>
            </a:extLst>
          </p:cNvPr>
          <p:cNvSpPr/>
          <p:nvPr/>
        </p:nvSpPr>
        <p:spPr>
          <a:xfrm rot="10800000">
            <a:off x="7928735" y="4823744"/>
            <a:ext cx="1036327" cy="108974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Freeform 132">
            <a:extLst>
              <a:ext uri="{FF2B5EF4-FFF2-40B4-BE49-F238E27FC236}">
                <a16:creationId xmlns:a16="http://schemas.microsoft.com/office/drawing/2014/main" id="{7635BA3E-6460-04D6-F2FA-F2075E4ADEE3}"/>
              </a:ext>
            </a:extLst>
          </p:cNvPr>
          <p:cNvSpPr/>
          <p:nvPr/>
        </p:nvSpPr>
        <p:spPr>
          <a:xfrm>
            <a:off x="6283010" y="3415347"/>
            <a:ext cx="1244158" cy="1803179"/>
          </a:xfrm>
          <a:custGeom>
            <a:avLst/>
            <a:gdLst>
              <a:gd name="connsiteX0" fmla="*/ 1285461 w 1285461"/>
              <a:gd name="connsiteY0" fmla="*/ 2093900 h 2093900"/>
              <a:gd name="connsiteX1" fmla="*/ 1139687 w 1285461"/>
              <a:gd name="connsiteY1" fmla="*/ 1881865 h 2093900"/>
              <a:gd name="connsiteX2" fmla="*/ 1020417 w 1285461"/>
              <a:gd name="connsiteY2" fmla="*/ 887952 h 2093900"/>
              <a:gd name="connsiteX3" fmla="*/ 1232452 w 1285461"/>
              <a:gd name="connsiteY3" fmla="*/ 56 h 2093900"/>
              <a:gd name="connsiteX4" fmla="*/ 728870 w 1285461"/>
              <a:gd name="connsiteY4" fmla="*/ 927708 h 2093900"/>
              <a:gd name="connsiteX5" fmla="*/ 0 w 1285461"/>
              <a:gd name="connsiteY5" fmla="*/ 1391534 h 209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5461" h="2093900">
                <a:moveTo>
                  <a:pt x="1285461" y="2093900"/>
                </a:moveTo>
                <a:cubicBezTo>
                  <a:pt x="1234661" y="2088378"/>
                  <a:pt x="1183861" y="2082856"/>
                  <a:pt x="1139687" y="1881865"/>
                </a:cubicBezTo>
                <a:cubicBezTo>
                  <a:pt x="1095513" y="1680874"/>
                  <a:pt x="1004956" y="1201587"/>
                  <a:pt x="1020417" y="887952"/>
                </a:cubicBezTo>
                <a:cubicBezTo>
                  <a:pt x="1035878" y="574317"/>
                  <a:pt x="1281043" y="-6570"/>
                  <a:pt x="1232452" y="56"/>
                </a:cubicBezTo>
                <a:cubicBezTo>
                  <a:pt x="1183861" y="6682"/>
                  <a:pt x="934279" y="695795"/>
                  <a:pt x="728870" y="927708"/>
                </a:cubicBezTo>
                <a:cubicBezTo>
                  <a:pt x="523461" y="1159621"/>
                  <a:pt x="261730" y="1275577"/>
                  <a:pt x="0" y="1391534"/>
                </a:cubicBez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Freeform 133">
            <a:extLst>
              <a:ext uri="{FF2B5EF4-FFF2-40B4-BE49-F238E27FC236}">
                <a16:creationId xmlns:a16="http://schemas.microsoft.com/office/drawing/2014/main" id="{5ECAC822-8E56-2567-7B2F-7C86D3B576E6}"/>
              </a:ext>
            </a:extLst>
          </p:cNvPr>
          <p:cNvSpPr/>
          <p:nvPr/>
        </p:nvSpPr>
        <p:spPr>
          <a:xfrm rot="10800000">
            <a:off x="7346291" y="6130801"/>
            <a:ext cx="1598923" cy="88655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E24132A-85BA-0453-AEE0-609EDB856F6C}"/>
              </a:ext>
            </a:extLst>
          </p:cNvPr>
          <p:cNvSpPr txBox="1"/>
          <p:nvPr/>
        </p:nvSpPr>
        <p:spPr>
          <a:xfrm>
            <a:off x="7407120" y="6221853"/>
            <a:ext cx="1662255" cy="29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G2B assessment</a:t>
            </a:r>
          </a:p>
        </p:txBody>
      </p:sp>
      <p:pic>
        <p:nvPicPr>
          <p:cNvPr id="1036" name="Picture 12" descr="compliance&quot; Icon - Download for free – Iconduck">
            <a:extLst>
              <a:ext uri="{FF2B5EF4-FFF2-40B4-BE49-F238E27FC236}">
                <a16:creationId xmlns:a16="http://schemas.microsoft.com/office/drawing/2014/main" id="{8F9B53D5-9F6B-B1CB-D5BA-E05A77748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615" y="826161"/>
            <a:ext cx="278552" cy="297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igital Certificate Icon Vector Images (over 8,400)">
            <a:extLst>
              <a:ext uri="{FF2B5EF4-FFF2-40B4-BE49-F238E27FC236}">
                <a16:creationId xmlns:a16="http://schemas.microsoft.com/office/drawing/2014/main" id="{C2D95CE0-DACF-DB4F-8EE3-6AF8F609C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097" y="2025941"/>
            <a:ext cx="415099" cy="4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Digital Certificate Icon Vector Images (over 8,400)">
            <a:extLst>
              <a:ext uri="{FF2B5EF4-FFF2-40B4-BE49-F238E27FC236}">
                <a16:creationId xmlns:a16="http://schemas.microsoft.com/office/drawing/2014/main" id="{6C3EF78A-B1EC-16F8-B290-A6C866031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763" y="2177198"/>
            <a:ext cx="415099" cy="4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igital Certificate Icon Vector Images (over 8,400)">
            <a:extLst>
              <a:ext uri="{FF2B5EF4-FFF2-40B4-BE49-F238E27FC236}">
                <a16:creationId xmlns:a16="http://schemas.microsoft.com/office/drawing/2014/main" id="{47BD6A40-45D8-A3BD-21F6-E0C4756A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230" y="2069606"/>
            <a:ext cx="415099" cy="4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6" descr="Digital Certificate Icon Vector Images (over 8,400)">
            <a:extLst>
              <a:ext uri="{FF2B5EF4-FFF2-40B4-BE49-F238E27FC236}">
                <a16:creationId xmlns:a16="http://schemas.microsoft.com/office/drawing/2014/main" id="{DB706E21-EE1E-3888-4DED-4DF754D85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712" y="2207397"/>
            <a:ext cx="415099" cy="4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6" descr="Digital Certificate Icon Vector Images (over 8,400)">
            <a:extLst>
              <a:ext uri="{FF2B5EF4-FFF2-40B4-BE49-F238E27FC236}">
                <a16:creationId xmlns:a16="http://schemas.microsoft.com/office/drawing/2014/main" id="{05312565-7182-85B5-D71E-AB406A397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992" y="2196613"/>
            <a:ext cx="415099" cy="4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6" descr="Digital Certificate Icon Vector Images (over 8,400)">
            <a:extLst>
              <a:ext uri="{FF2B5EF4-FFF2-40B4-BE49-F238E27FC236}">
                <a16:creationId xmlns:a16="http://schemas.microsoft.com/office/drawing/2014/main" id="{671D331D-3E2C-6020-8C36-0A00059C1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821" y="4640503"/>
            <a:ext cx="415099" cy="4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6" descr="Digital Certificate Icon Vector Images (over 8,400)">
            <a:extLst>
              <a:ext uri="{FF2B5EF4-FFF2-40B4-BE49-F238E27FC236}">
                <a16:creationId xmlns:a16="http://schemas.microsoft.com/office/drawing/2014/main" id="{AF1841E9-0979-3108-B6DB-F03623CFD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706" y="4650125"/>
            <a:ext cx="415099" cy="4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" descr="Digital Certificate Icon Vector Images (over 8,400)">
            <a:extLst>
              <a:ext uri="{FF2B5EF4-FFF2-40B4-BE49-F238E27FC236}">
                <a16:creationId xmlns:a16="http://schemas.microsoft.com/office/drawing/2014/main" id="{E4C200DA-9039-EF2B-62F8-2F516BE51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459" y="2009591"/>
            <a:ext cx="415099" cy="4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4A992CD3-B717-E2A4-5772-424852B15E44}"/>
              </a:ext>
            </a:extLst>
          </p:cNvPr>
          <p:cNvSpPr txBox="1"/>
          <p:nvPr/>
        </p:nvSpPr>
        <p:spPr>
          <a:xfrm>
            <a:off x="11287345" y="2215949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135B6AB-5970-3588-EC04-75D46CD8DBC4}"/>
              </a:ext>
            </a:extLst>
          </p:cNvPr>
          <p:cNvSpPr txBox="1"/>
          <p:nvPr/>
        </p:nvSpPr>
        <p:spPr>
          <a:xfrm>
            <a:off x="8238247" y="2206908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E2DDF1D-88DE-6DD2-A28A-41EC0451C713}"/>
              </a:ext>
            </a:extLst>
          </p:cNvPr>
          <p:cNvSpPr txBox="1"/>
          <p:nvPr/>
        </p:nvSpPr>
        <p:spPr>
          <a:xfrm>
            <a:off x="6597681" y="2066341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A50E768-D695-84E5-11DF-C402707447F0}"/>
              </a:ext>
            </a:extLst>
          </p:cNvPr>
          <p:cNvSpPr txBox="1"/>
          <p:nvPr/>
        </p:nvSpPr>
        <p:spPr>
          <a:xfrm>
            <a:off x="5170609" y="2183358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2487A5F-BDAD-D5C2-BCAD-D7C3B2A49394}"/>
              </a:ext>
            </a:extLst>
          </p:cNvPr>
          <p:cNvSpPr txBox="1"/>
          <p:nvPr/>
        </p:nvSpPr>
        <p:spPr>
          <a:xfrm>
            <a:off x="3343688" y="2054746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BA08906-B973-D268-2B4B-743C3258840D}"/>
              </a:ext>
            </a:extLst>
          </p:cNvPr>
          <p:cNvSpPr txBox="1"/>
          <p:nvPr/>
        </p:nvSpPr>
        <p:spPr>
          <a:xfrm>
            <a:off x="1897321" y="1923148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D376B0E-7CBB-6B43-4EEE-0C43AC6F0C82}"/>
              </a:ext>
            </a:extLst>
          </p:cNvPr>
          <p:cNvSpPr txBox="1"/>
          <p:nvPr/>
        </p:nvSpPr>
        <p:spPr>
          <a:xfrm>
            <a:off x="1826967" y="4628488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17AD9C3-3ADE-BE1B-8C1F-9878820FBA45}"/>
              </a:ext>
            </a:extLst>
          </p:cNvPr>
          <p:cNvSpPr txBox="1"/>
          <p:nvPr/>
        </p:nvSpPr>
        <p:spPr>
          <a:xfrm>
            <a:off x="3276050" y="4632581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</a:t>
            </a:r>
          </a:p>
        </p:txBody>
      </p:sp>
    </p:spTree>
    <p:extLst>
      <p:ext uri="{BB962C8B-B14F-4D97-AF65-F5344CB8AC3E}">
        <p14:creationId xmlns:p14="http://schemas.microsoft.com/office/powerpoint/2010/main" val="1441650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7EBED-86E4-BAE2-3036-D8DE013BB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elting - Free construction and tools icons">
            <a:extLst>
              <a:ext uri="{FF2B5EF4-FFF2-40B4-BE49-F238E27FC236}">
                <a16:creationId xmlns:a16="http://schemas.microsoft.com/office/drawing/2014/main" id="{953D9D3C-445E-5A49-C9C3-701B962ED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879" y="2451752"/>
            <a:ext cx="502081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Chemical Plant 2 icon - Free vector (SVG) - Free PNG - Copyicon.com">
            <a:extLst>
              <a:ext uri="{FF2B5EF4-FFF2-40B4-BE49-F238E27FC236}">
                <a16:creationId xmlns:a16="http://schemas.microsoft.com/office/drawing/2014/main" id="{F5DE343E-41D5-021B-0C11-E4353DD36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863" y="2396569"/>
            <a:ext cx="669554" cy="558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99AAFA-BC65-A6D8-B682-829652E038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83" y="2322594"/>
            <a:ext cx="864415" cy="7216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602AA7-5AC5-BA16-2B67-076818306078}"/>
              </a:ext>
            </a:extLst>
          </p:cNvPr>
          <p:cNvSpPr txBox="1"/>
          <p:nvPr/>
        </p:nvSpPr>
        <p:spPr>
          <a:xfrm>
            <a:off x="785156" y="2056768"/>
            <a:ext cx="491786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8AFCCC-5996-2218-F312-5C2B72D84830}"/>
              </a:ext>
            </a:extLst>
          </p:cNvPr>
          <p:cNvSpPr txBox="1"/>
          <p:nvPr/>
        </p:nvSpPr>
        <p:spPr>
          <a:xfrm>
            <a:off x="8048005" y="2044720"/>
            <a:ext cx="13259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Manufacturer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FC6833-F52A-BFC1-74AD-532448661B79}"/>
              </a:ext>
            </a:extLst>
          </p:cNvPr>
          <p:cNvSpPr txBox="1"/>
          <p:nvPr/>
        </p:nvSpPr>
        <p:spPr>
          <a:xfrm>
            <a:off x="4595969" y="2032242"/>
            <a:ext cx="618907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Refiner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BCD893-7D4F-7922-86CC-E3AAC4E190B1}"/>
              </a:ext>
            </a:extLst>
          </p:cNvPr>
          <p:cNvSpPr txBox="1"/>
          <p:nvPr/>
        </p:nvSpPr>
        <p:spPr>
          <a:xfrm>
            <a:off x="9205737" y="2044721"/>
            <a:ext cx="1356129" cy="2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9691A8-0951-7CAE-C76F-2377A3343ACC}"/>
              </a:ext>
            </a:extLst>
          </p:cNvPr>
          <p:cNvSpPr txBox="1"/>
          <p:nvPr/>
        </p:nvSpPr>
        <p:spPr>
          <a:xfrm>
            <a:off x="10815752" y="2024179"/>
            <a:ext cx="690901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Recycler</a:t>
            </a:r>
          </a:p>
        </p:txBody>
      </p:sp>
      <p:pic>
        <p:nvPicPr>
          <p:cNvPr id="15" name="Picture 6" descr="Factory Icon in Material Design">
            <a:extLst>
              <a:ext uri="{FF2B5EF4-FFF2-40B4-BE49-F238E27FC236}">
                <a16:creationId xmlns:a16="http://schemas.microsoft.com/office/drawing/2014/main" id="{10ECA934-6A2B-DA1E-C08E-0A7173DF9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452" y="2388499"/>
            <a:ext cx="679221" cy="567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4" descr="Car manufacturing - Free industry icons">
            <a:extLst>
              <a:ext uri="{FF2B5EF4-FFF2-40B4-BE49-F238E27FC236}">
                <a16:creationId xmlns:a16="http://schemas.microsoft.com/office/drawing/2014/main" id="{3BDF9888-5DC4-0A91-8892-CC62D94E8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5576" y="2474833"/>
            <a:ext cx="575809" cy="48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0" descr="Recycle symbol - Free arrows icons">
            <a:extLst>
              <a:ext uri="{FF2B5EF4-FFF2-40B4-BE49-F238E27FC236}">
                <a16:creationId xmlns:a16="http://schemas.microsoft.com/office/drawing/2014/main" id="{491D6409-3303-BBCE-5182-1513058F8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0284" y="2421796"/>
            <a:ext cx="597851" cy="53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737E50C-1C5D-CC68-18D9-F5E88D040AEB}"/>
              </a:ext>
            </a:extLst>
          </p:cNvPr>
          <p:cNvSpPr txBox="1"/>
          <p:nvPr/>
        </p:nvSpPr>
        <p:spPr>
          <a:xfrm>
            <a:off x="3362226" y="2039030"/>
            <a:ext cx="654877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Smelter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2F6949-B9B6-FFC6-B9ED-03398D2D21DB}"/>
              </a:ext>
            </a:extLst>
          </p:cNvPr>
          <p:cNvSpPr txBox="1"/>
          <p:nvPr/>
        </p:nvSpPr>
        <p:spPr>
          <a:xfrm>
            <a:off x="6901443" y="2032243"/>
            <a:ext cx="1112515" cy="2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Fabricator</a:t>
            </a:r>
          </a:p>
        </p:txBody>
      </p:sp>
      <p:pic>
        <p:nvPicPr>
          <p:cNvPr id="1030" name="Picture 6" descr="2,500+ Gravel Icon Stock Illustrations, Royalty-Free Vector Graphics &amp; Clip  Art - iStock">
            <a:extLst>
              <a:ext uri="{FF2B5EF4-FFF2-40B4-BE49-F238E27FC236}">
                <a16:creationId xmlns:a16="http://schemas.microsoft.com/office/drawing/2014/main" id="{56E12404-B950-EBD0-10DE-1091B82BED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4" t="15270" r="15934" b="16995"/>
          <a:stretch/>
        </p:blipFill>
        <p:spPr bwMode="auto">
          <a:xfrm>
            <a:off x="823963" y="3209402"/>
            <a:ext cx="434791" cy="434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got - Free business icons">
            <a:extLst>
              <a:ext uri="{FF2B5EF4-FFF2-40B4-BE49-F238E27FC236}">
                <a16:creationId xmlns:a16="http://schemas.microsoft.com/office/drawing/2014/main" id="{6D775B95-DDCD-4C52-8535-E181E77BA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709" y="3253359"/>
            <a:ext cx="434792" cy="43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F91E254-7D12-E1C4-92B6-5417EC2E0DCD}"/>
              </a:ext>
            </a:extLst>
          </p:cNvPr>
          <p:cNvSpPr txBox="1"/>
          <p:nvPr/>
        </p:nvSpPr>
        <p:spPr>
          <a:xfrm>
            <a:off x="560657" y="2939782"/>
            <a:ext cx="942016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Concentrate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348AC3-AF4C-2917-EE96-610FC7A80EE1}"/>
              </a:ext>
            </a:extLst>
          </p:cNvPr>
          <p:cNvSpPr txBox="1"/>
          <p:nvPr/>
        </p:nvSpPr>
        <p:spPr>
          <a:xfrm>
            <a:off x="8417228" y="2954979"/>
            <a:ext cx="742384" cy="2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Battery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929499-EF3B-CB39-06B8-C6A209F76CEE}"/>
              </a:ext>
            </a:extLst>
          </p:cNvPr>
          <p:cNvSpPr txBox="1"/>
          <p:nvPr/>
        </p:nvSpPr>
        <p:spPr>
          <a:xfrm>
            <a:off x="4676924" y="2977921"/>
            <a:ext cx="758428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Cathodes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BA66C9-880F-E52D-B787-985D28E75DB5}"/>
              </a:ext>
            </a:extLst>
          </p:cNvPr>
          <p:cNvSpPr txBox="1"/>
          <p:nvPr/>
        </p:nvSpPr>
        <p:spPr>
          <a:xfrm>
            <a:off x="9551262" y="2950550"/>
            <a:ext cx="941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BC01EF-E979-06C4-2698-59765D60EB6B}"/>
              </a:ext>
            </a:extLst>
          </p:cNvPr>
          <p:cNvSpPr txBox="1"/>
          <p:nvPr/>
        </p:nvSpPr>
        <p:spPr>
          <a:xfrm>
            <a:off x="10960284" y="2969527"/>
            <a:ext cx="506754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Scrap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6C33CC-D9B7-BB07-C8D9-48CF65A89C17}"/>
              </a:ext>
            </a:extLst>
          </p:cNvPr>
          <p:cNvSpPr txBox="1"/>
          <p:nvPr/>
        </p:nvSpPr>
        <p:spPr>
          <a:xfrm>
            <a:off x="3318719" y="2983739"/>
            <a:ext cx="562383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Blister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A405BB-80A6-1971-E190-FB49990F9C92}"/>
              </a:ext>
            </a:extLst>
          </p:cNvPr>
          <p:cNvSpPr txBox="1"/>
          <p:nvPr/>
        </p:nvSpPr>
        <p:spPr>
          <a:xfrm>
            <a:off x="7229769" y="2964125"/>
            <a:ext cx="463104" cy="2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Foil</a:t>
            </a:r>
          </a:p>
        </p:txBody>
      </p:sp>
      <p:pic>
        <p:nvPicPr>
          <p:cNvPr id="1040" name="Picture 16" descr="Bullion, gold, ingot, meta, metal, nugget, precious icon - Download on  Iconfinder">
            <a:extLst>
              <a:ext uri="{FF2B5EF4-FFF2-40B4-BE49-F238E27FC236}">
                <a16:creationId xmlns:a16="http://schemas.microsoft.com/office/drawing/2014/main" id="{B3FF4CC4-D6A5-DCDB-16E4-9F539E8DA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917" y="3232338"/>
            <a:ext cx="502081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Aluminum foil icon 37133487 Vector Art at Vecteezy">
            <a:extLst>
              <a:ext uri="{FF2B5EF4-FFF2-40B4-BE49-F238E27FC236}">
                <a16:creationId xmlns:a16="http://schemas.microsoft.com/office/drawing/2014/main" id="{9D7006BF-7897-191F-8649-3040C3ABC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529" y="3379860"/>
            <a:ext cx="470344" cy="295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0" descr="ev battery outline icon Stock Vector | Adobe Stock">
            <a:extLst>
              <a:ext uri="{FF2B5EF4-FFF2-40B4-BE49-F238E27FC236}">
                <a16:creationId xmlns:a16="http://schemas.microsoft.com/office/drawing/2014/main" id="{3EF45D44-CD1D-971E-7C7E-9E50672B1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540742" y="3309083"/>
            <a:ext cx="412986" cy="41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Electric car - Free transport icons">
            <a:extLst>
              <a:ext uri="{FF2B5EF4-FFF2-40B4-BE49-F238E27FC236}">
                <a16:creationId xmlns:a16="http://schemas.microsoft.com/office/drawing/2014/main" id="{B35D6EFC-6288-209B-C0A8-2ED830222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3950" y="3205349"/>
            <a:ext cx="541665" cy="54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Scrap Metal Stock Illustrations – 6,699 Scrap Metal Stock Illustrations,  Vectors &amp; Clipart - Dreamstime">
            <a:extLst>
              <a:ext uri="{FF2B5EF4-FFF2-40B4-BE49-F238E27FC236}">
                <a16:creationId xmlns:a16="http://schemas.microsoft.com/office/drawing/2014/main" id="{CF4487FA-631D-7AEF-DBA3-2E5E2A85A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0284" y="3220150"/>
            <a:ext cx="616162" cy="48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F6C30D8A-C8D4-CE72-BE61-FE6114F55BDE}"/>
              </a:ext>
            </a:extLst>
          </p:cNvPr>
          <p:cNvSpPr txBox="1"/>
          <p:nvPr/>
        </p:nvSpPr>
        <p:spPr>
          <a:xfrm>
            <a:off x="409169" y="3617511"/>
            <a:ext cx="1170343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Consignment ID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A1D341B-B6B1-D92E-58C2-57387CC83473}"/>
              </a:ext>
            </a:extLst>
          </p:cNvPr>
          <p:cNvSpPr txBox="1"/>
          <p:nvPr/>
        </p:nvSpPr>
        <p:spPr>
          <a:xfrm>
            <a:off x="3217969" y="3655240"/>
            <a:ext cx="68950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ID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AF082C3-2C9C-1198-D1BD-F76EC8A7E8DE}"/>
              </a:ext>
            </a:extLst>
          </p:cNvPr>
          <p:cNvSpPr txBox="1"/>
          <p:nvPr/>
        </p:nvSpPr>
        <p:spPr>
          <a:xfrm>
            <a:off x="4629016" y="3688241"/>
            <a:ext cx="68950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ID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49551DD-2B4B-0C00-738B-851D6C360128}"/>
              </a:ext>
            </a:extLst>
          </p:cNvPr>
          <p:cNvSpPr txBox="1"/>
          <p:nvPr/>
        </p:nvSpPr>
        <p:spPr>
          <a:xfrm>
            <a:off x="7054629" y="3668180"/>
            <a:ext cx="68950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ID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AC6D582-A52B-576D-B124-915E53ABDFF4}"/>
              </a:ext>
            </a:extLst>
          </p:cNvPr>
          <p:cNvSpPr txBox="1"/>
          <p:nvPr/>
        </p:nvSpPr>
        <p:spPr>
          <a:xfrm>
            <a:off x="8354871" y="3655240"/>
            <a:ext cx="769654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Serial No.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F155794-71C0-8E30-4CE3-05E4CD3905D0}"/>
              </a:ext>
            </a:extLst>
          </p:cNvPr>
          <p:cNvSpPr txBox="1"/>
          <p:nvPr/>
        </p:nvSpPr>
        <p:spPr>
          <a:xfrm>
            <a:off x="9683861" y="3664744"/>
            <a:ext cx="389853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VIN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8C9630D-B23D-AFE2-C355-970CA32CB604}"/>
              </a:ext>
            </a:extLst>
          </p:cNvPr>
          <p:cNvSpPr txBox="1"/>
          <p:nvPr/>
        </p:nvSpPr>
        <p:spPr>
          <a:xfrm>
            <a:off x="10941838" y="3623300"/>
            <a:ext cx="68950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ID</a:t>
            </a:r>
          </a:p>
        </p:txBody>
      </p:sp>
      <p:pic>
        <p:nvPicPr>
          <p:cNvPr id="140" name="Picture 28" descr="Vector Design Extrusion Icon Style | Premium Vector">
            <a:extLst>
              <a:ext uri="{FF2B5EF4-FFF2-40B4-BE49-F238E27FC236}">
                <a16:creationId xmlns:a16="http://schemas.microsoft.com/office/drawing/2014/main" id="{21C95A74-1FD1-C8A4-BF3C-C5D542BD8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698" y="2384445"/>
            <a:ext cx="597851" cy="599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5" name="Straight Arrow Connector 56">
            <a:extLst>
              <a:ext uri="{FF2B5EF4-FFF2-40B4-BE49-F238E27FC236}">
                <a16:creationId xmlns:a16="http://schemas.microsoft.com/office/drawing/2014/main" id="{97AE629F-9250-9C42-F75E-D59DB16F40ED}"/>
              </a:ext>
            </a:extLst>
          </p:cNvPr>
          <p:cNvCxnSpPr>
            <a:cxnSpLocks/>
            <a:stCxn id="1030" idx="3"/>
            <a:endCxn id="1026" idx="1"/>
          </p:cNvCxnSpPr>
          <p:nvPr/>
        </p:nvCxnSpPr>
        <p:spPr>
          <a:xfrm flipV="1">
            <a:off x="1258754" y="2703649"/>
            <a:ext cx="2154125" cy="72319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A308B1F1-0E2E-4AF1-B563-BAC97F46A705}"/>
              </a:ext>
            </a:extLst>
          </p:cNvPr>
          <p:cNvSpPr txBox="1"/>
          <p:nvPr/>
        </p:nvSpPr>
        <p:spPr>
          <a:xfrm>
            <a:off x="1846152" y="3150965"/>
            <a:ext cx="856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</a:t>
            </a:r>
          </a:p>
        </p:txBody>
      </p:sp>
      <p:cxnSp>
        <p:nvCxnSpPr>
          <p:cNvPr id="186" name="Straight Arrow Connector 56">
            <a:extLst>
              <a:ext uri="{FF2B5EF4-FFF2-40B4-BE49-F238E27FC236}">
                <a16:creationId xmlns:a16="http://schemas.microsoft.com/office/drawing/2014/main" id="{0DB80C0F-C166-4B85-64B3-CFAF728A3C36}"/>
              </a:ext>
            </a:extLst>
          </p:cNvPr>
          <p:cNvCxnSpPr>
            <a:cxnSpLocks/>
            <a:stCxn id="1032" idx="3"/>
            <a:endCxn id="140" idx="1"/>
          </p:cNvCxnSpPr>
          <p:nvPr/>
        </p:nvCxnSpPr>
        <p:spPr>
          <a:xfrm flipV="1">
            <a:off x="5247501" y="2684391"/>
            <a:ext cx="1913197" cy="78710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CAB1F36D-EE27-DBC3-63F9-77DB0B154466}"/>
              </a:ext>
            </a:extLst>
          </p:cNvPr>
          <p:cNvSpPr txBox="1"/>
          <p:nvPr/>
        </p:nvSpPr>
        <p:spPr>
          <a:xfrm>
            <a:off x="5717845" y="3215010"/>
            <a:ext cx="631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 </a:t>
            </a:r>
          </a:p>
        </p:txBody>
      </p:sp>
      <p:cxnSp>
        <p:nvCxnSpPr>
          <p:cNvPr id="192" name="Straight Arrow Connector 56">
            <a:extLst>
              <a:ext uri="{FF2B5EF4-FFF2-40B4-BE49-F238E27FC236}">
                <a16:creationId xmlns:a16="http://schemas.microsoft.com/office/drawing/2014/main" id="{EEF7648C-0ECA-132F-49F3-C8BFD8CA3A1E}"/>
              </a:ext>
            </a:extLst>
          </p:cNvPr>
          <p:cNvCxnSpPr>
            <a:cxnSpLocks/>
            <a:stCxn id="1040" idx="3"/>
            <a:endCxn id="2" idx="1"/>
          </p:cNvCxnSpPr>
          <p:nvPr/>
        </p:nvCxnSpPr>
        <p:spPr>
          <a:xfrm flipV="1">
            <a:off x="3898998" y="2676058"/>
            <a:ext cx="664865" cy="808177"/>
          </a:xfrm>
          <a:prstGeom prst="bentConnector3">
            <a:avLst>
              <a:gd name="adj1" fmla="val 67434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56">
            <a:extLst>
              <a:ext uri="{FF2B5EF4-FFF2-40B4-BE49-F238E27FC236}">
                <a16:creationId xmlns:a16="http://schemas.microsoft.com/office/drawing/2014/main" id="{D565F23B-85D2-27C3-D7DA-05DD3612509B}"/>
              </a:ext>
            </a:extLst>
          </p:cNvPr>
          <p:cNvCxnSpPr>
            <a:cxnSpLocks/>
            <a:stCxn id="1042" idx="3"/>
          </p:cNvCxnSpPr>
          <p:nvPr/>
        </p:nvCxnSpPr>
        <p:spPr>
          <a:xfrm flipV="1">
            <a:off x="7692873" y="2755034"/>
            <a:ext cx="856600" cy="772781"/>
          </a:xfrm>
          <a:prstGeom prst="bentConnector3">
            <a:avLst>
              <a:gd name="adj1" fmla="val 60524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56">
            <a:extLst>
              <a:ext uri="{FF2B5EF4-FFF2-40B4-BE49-F238E27FC236}">
                <a16:creationId xmlns:a16="http://schemas.microsoft.com/office/drawing/2014/main" id="{B58DD9C0-EDF2-E3BF-4CC5-696DDB4FB9E0}"/>
              </a:ext>
            </a:extLst>
          </p:cNvPr>
          <p:cNvCxnSpPr>
            <a:cxnSpLocks/>
            <a:stCxn id="53" idx="0"/>
            <a:endCxn id="16" idx="1"/>
          </p:cNvCxnSpPr>
          <p:nvPr/>
        </p:nvCxnSpPr>
        <p:spPr>
          <a:xfrm flipV="1">
            <a:off x="8953026" y="2715190"/>
            <a:ext cx="782550" cy="799684"/>
          </a:xfrm>
          <a:prstGeom prst="bentConnector3">
            <a:avLst>
              <a:gd name="adj1" fmla="val 6152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56">
            <a:extLst>
              <a:ext uri="{FF2B5EF4-FFF2-40B4-BE49-F238E27FC236}">
                <a16:creationId xmlns:a16="http://schemas.microsoft.com/office/drawing/2014/main" id="{F2B2D80A-CDAA-A162-402D-09469DB52837}"/>
              </a:ext>
            </a:extLst>
          </p:cNvPr>
          <p:cNvCxnSpPr>
            <a:cxnSpLocks/>
            <a:stCxn id="1046" idx="3"/>
          </p:cNvCxnSpPr>
          <p:nvPr/>
        </p:nvCxnSpPr>
        <p:spPr>
          <a:xfrm flipV="1">
            <a:off x="10285615" y="2679568"/>
            <a:ext cx="853815" cy="797538"/>
          </a:xfrm>
          <a:prstGeom prst="bentConnector3">
            <a:avLst>
              <a:gd name="adj1" fmla="val 57542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A9BB7CD0-AA8E-08B2-DE5D-409CEC299E33}"/>
              </a:ext>
            </a:extLst>
          </p:cNvPr>
          <p:cNvSpPr txBox="1"/>
          <p:nvPr/>
        </p:nvSpPr>
        <p:spPr>
          <a:xfrm>
            <a:off x="3862188" y="3232338"/>
            <a:ext cx="606528" cy="31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2F53947-BF0E-8592-B6F6-D178AEAC29E2}"/>
              </a:ext>
            </a:extLst>
          </p:cNvPr>
          <p:cNvSpPr txBox="1"/>
          <p:nvPr/>
        </p:nvSpPr>
        <p:spPr>
          <a:xfrm>
            <a:off x="7710737" y="3215269"/>
            <a:ext cx="606528" cy="31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11851DA8-126D-0870-E198-27C0E0022F6D}"/>
              </a:ext>
            </a:extLst>
          </p:cNvPr>
          <p:cNvSpPr txBox="1"/>
          <p:nvPr/>
        </p:nvSpPr>
        <p:spPr>
          <a:xfrm>
            <a:off x="8929335" y="3239233"/>
            <a:ext cx="606528" cy="31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9C24051-B89A-F198-A786-5729373FB15E}"/>
              </a:ext>
            </a:extLst>
          </p:cNvPr>
          <p:cNvSpPr txBox="1"/>
          <p:nvPr/>
        </p:nvSpPr>
        <p:spPr>
          <a:xfrm>
            <a:off x="10305397" y="3197037"/>
            <a:ext cx="606528" cy="31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</a:t>
            </a:r>
          </a:p>
        </p:txBody>
      </p:sp>
    </p:spTree>
    <p:extLst>
      <p:ext uri="{BB962C8B-B14F-4D97-AF65-F5344CB8AC3E}">
        <p14:creationId xmlns:p14="http://schemas.microsoft.com/office/powerpoint/2010/main" val="2934393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5A49-4486-2614-8F9C-E9BC16BF6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ounded Rectangle 234">
            <a:extLst>
              <a:ext uri="{FF2B5EF4-FFF2-40B4-BE49-F238E27FC236}">
                <a16:creationId xmlns:a16="http://schemas.microsoft.com/office/drawing/2014/main" id="{B9E11103-C108-5383-70B1-226DC0E08DB2}"/>
              </a:ext>
            </a:extLst>
          </p:cNvPr>
          <p:cNvSpPr/>
          <p:nvPr/>
        </p:nvSpPr>
        <p:spPr>
          <a:xfrm>
            <a:off x="38266" y="3696064"/>
            <a:ext cx="7720282" cy="2951090"/>
          </a:xfrm>
          <a:prstGeom prst="roundRect">
            <a:avLst>
              <a:gd name="adj" fmla="val 8147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6" name="Picture 2" descr="Smelting - Free construction and tools icons">
            <a:extLst>
              <a:ext uri="{FF2B5EF4-FFF2-40B4-BE49-F238E27FC236}">
                <a16:creationId xmlns:a16="http://schemas.microsoft.com/office/drawing/2014/main" id="{5736A9C3-B9D0-10D1-8FE7-F567D4952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879" y="2451752"/>
            <a:ext cx="502081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Chemical Plant 2 icon - Free vector (SVG) - Free PNG - Copyicon.com">
            <a:extLst>
              <a:ext uri="{FF2B5EF4-FFF2-40B4-BE49-F238E27FC236}">
                <a16:creationId xmlns:a16="http://schemas.microsoft.com/office/drawing/2014/main" id="{A6739D86-EA95-55CC-0B97-996CACC62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863" y="2396569"/>
            <a:ext cx="669554" cy="558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20FB85-C526-0028-105A-A375B67F97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83" y="2322594"/>
            <a:ext cx="864415" cy="7216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C09197-2F8A-C6A0-F6CA-C66E542B315B}"/>
              </a:ext>
            </a:extLst>
          </p:cNvPr>
          <p:cNvSpPr txBox="1"/>
          <p:nvPr/>
        </p:nvSpPr>
        <p:spPr>
          <a:xfrm>
            <a:off x="785156" y="2056768"/>
            <a:ext cx="491786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740F6F-6F86-4046-EB94-E3FF2007BD06}"/>
              </a:ext>
            </a:extLst>
          </p:cNvPr>
          <p:cNvSpPr txBox="1"/>
          <p:nvPr/>
        </p:nvSpPr>
        <p:spPr>
          <a:xfrm>
            <a:off x="8048005" y="2044720"/>
            <a:ext cx="13259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Manufacturer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A416B8-08B2-7941-D181-0D867780F85C}"/>
              </a:ext>
            </a:extLst>
          </p:cNvPr>
          <p:cNvSpPr txBox="1"/>
          <p:nvPr/>
        </p:nvSpPr>
        <p:spPr>
          <a:xfrm>
            <a:off x="4595969" y="2032242"/>
            <a:ext cx="618907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Refiner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901AA9-7844-1076-63ED-27EB263D49EB}"/>
              </a:ext>
            </a:extLst>
          </p:cNvPr>
          <p:cNvSpPr txBox="1"/>
          <p:nvPr/>
        </p:nvSpPr>
        <p:spPr>
          <a:xfrm>
            <a:off x="9205737" y="2044721"/>
            <a:ext cx="1356129" cy="2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364946-49E6-77EE-23B6-5329A067703C}"/>
              </a:ext>
            </a:extLst>
          </p:cNvPr>
          <p:cNvSpPr txBox="1"/>
          <p:nvPr/>
        </p:nvSpPr>
        <p:spPr>
          <a:xfrm>
            <a:off x="10815752" y="2024179"/>
            <a:ext cx="690901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Recycler</a:t>
            </a:r>
          </a:p>
        </p:txBody>
      </p:sp>
      <p:pic>
        <p:nvPicPr>
          <p:cNvPr id="15" name="Picture 6" descr="Factory Icon in Material Design">
            <a:extLst>
              <a:ext uri="{FF2B5EF4-FFF2-40B4-BE49-F238E27FC236}">
                <a16:creationId xmlns:a16="http://schemas.microsoft.com/office/drawing/2014/main" id="{F4CC5396-A395-33B6-7FC6-877B2DC20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452" y="2388499"/>
            <a:ext cx="679221" cy="567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4" descr="Car manufacturing - Free industry icons">
            <a:extLst>
              <a:ext uri="{FF2B5EF4-FFF2-40B4-BE49-F238E27FC236}">
                <a16:creationId xmlns:a16="http://schemas.microsoft.com/office/drawing/2014/main" id="{4879F8BD-3C41-8268-FAD6-301449ADB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5576" y="2474833"/>
            <a:ext cx="575809" cy="48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0" descr="Recycle symbol - Free arrows icons">
            <a:extLst>
              <a:ext uri="{FF2B5EF4-FFF2-40B4-BE49-F238E27FC236}">
                <a16:creationId xmlns:a16="http://schemas.microsoft.com/office/drawing/2014/main" id="{5AA0B345-4633-E4B1-97C5-11CC55401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0284" y="2421796"/>
            <a:ext cx="597851" cy="53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C76D0BB-C549-9205-FC4F-FDAD16401354}"/>
              </a:ext>
            </a:extLst>
          </p:cNvPr>
          <p:cNvSpPr txBox="1"/>
          <p:nvPr/>
        </p:nvSpPr>
        <p:spPr>
          <a:xfrm>
            <a:off x="3362226" y="2039030"/>
            <a:ext cx="654877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Smelter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72F9EF-69D9-ECEC-7600-A70BAFB6AF27}"/>
              </a:ext>
            </a:extLst>
          </p:cNvPr>
          <p:cNvSpPr txBox="1"/>
          <p:nvPr/>
        </p:nvSpPr>
        <p:spPr>
          <a:xfrm>
            <a:off x="6901443" y="2032243"/>
            <a:ext cx="1112515" cy="2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Fabricator</a:t>
            </a:r>
          </a:p>
        </p:txBody>
      </p:sp>
      <p:pic>
        <p:nvPicPr>
          <p:cNvPr id="1030" name="Picture 6" descr="2,500+ Gravel Icon Stock Illustrations, Royalty-Free Vector Graphics &amp; Clip  Art - iStock">
            <a:extLst>
              <a:ext uri="{FF2B5EF4-FFF2-40B4-BE49-F238E27FC236}">
                <a16:creationId xmlns:a16="http://schemas.microsoft.com/office/drawing/2014/main" id="{20DF3FB8-589D-2806-D171-B23355B03E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4" t="15270" r="15934" b="16995"/>
          <a:stretch/>
        </p:blipFill>
        <p:spPr bwMode="auto">
          <a:xfrm>
            <a:off x="823963" y="3209402"/>
            <a:ext cx="434791" cy="434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got - Free business icons">
            <a:extLst>
              <a:ext uri="{FF2B5EF4-FFF2-40B4-BE49-F238E27FC236}">
                <a16:creationId xmlns:a16="http://schemas.microsoft.com/office/drawing/2014/main" id="{BC22DAC4-B013-012D-45FF-E0F3537C6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709" y="3253359"/>
            <a:ext cx="434792" cy="43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9FE2366-4463-689F-A14D-78801ED0DE89}"/>
              </a:ext>
            </a:extLst>
          </p:cNvPr>
          <p:cNvSpPr txBox="1"/>
          <p:nvPr/>
        </p:nvSpPr>
        <p:spPr>
          <a:xfrm>
            <a:off x="560657" y="2939782"/>
            <a:ext cx="942016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Concentrate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9BCAD8-D43C-FAC5-E5A2-CA26770888C8}"/>
              </a:ext>
            </a:extLst>
          </p:cNvPr>
          <p:cNvSpPr txBox="1"/>
          <p:nvPr/>
        </p:nvSpPr>
        <p:spPr>
          <a:xfrm>
            <a:off x="8417228" y="2954979"/>
            <a:ext cx="742384" cy="2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Battery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955A5-5007-AEBE-84A7-E4C80EA95A27}"/>
              </a:ext>
            </a:extLst>
          </p:cNvPr>
          <p:cNvSpPr txBox="1"/>
          <p:nvPr/>
        </p:nvSpPr>
        <p:spPr>
          <a:xfrm>
            <a:off x="4676924" y="2977921"/>
            <a:ext cx="758428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Cathodes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72F0E8-2B37-CA4F-C5F3-0ACABD19A304}"/>
              </a:ext>
            </a:extLst>
          </p:cNvPr>
          <p:cNvSpPr txBox="1"/>
          <p:nvPr/>
        </p:nvSpPr>
        <p:spPr>
          <a:xfrm>
            <a:off x="9551262" y="2950550"/>
            <a:ext cx="941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D4FD19-CC91-DAC7-5A33-0425D04FC726}"/>
              </a:ext>
            </a:extLst>
          </p:cNvPr>
          <p:cNvSpPr txBox="1"/>
          <p:nvPr/>
        </p:nvSpPr>
        <p:spPr>
          <a:xfrm>
            <a:off x="10960284" y="2969527"/>
            <a:ext cx="506754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Scrap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A29A714-7375-6F29-7359-C851744888DE}"/>
              </a:ext>
            </a:extLst>
          </p:cNvPr>
          <p:cNvSpPr txBox="1"/>
          <p:nvPr/>
        </p:nvSpPr>
        <p:spPr>
          <a:xfrm>
            <a:off x="3318719" y="2983739"/>
            <a:ext cx="562383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Blister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8A5FEC-A268-5C5A-C7EA-276AC1E49AE1}"/>
              </a:ext>
            </a:extLst>
          </p:cNvPr>
          <p:cNvSpPr txBox="1"/>
          <p:nvPr/>
        </p:nvSpPr>
        <p:spPr>
          <a:xfrm>
            <a:off x="7229769" y="2964125"/>
            <a:ext cx="463104" cy="2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Foil</a:t>
            </a:r>
          </a:p>
        </p:txBody>
      </p:sp>
      <p:pic>
        <p:nvPicPr>
          <p:cNvPr id="1040" name="Picture 16" descr="Bullion, gold, ingot, meta, metal, nugget, precious icon - Download on  Iconfinder">
            <a:extLst>
              <a:ext uri="{FF2B5EF4-FFF2-40B4-BE49-F238E27FC236}">
                <a16:creationId xmlns:a16="http://schemas.microsoft.com/office/drawing/2014/main" id="{28AD01E8-C7BF-1135-6986-16A9EC3C0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917" y="3232338"/>
            <a:ext cx="502081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Aluminum foil icon 37133487 Vector Art at Vecteezy">
            <a:extLst>
              <a:ext uri="{FF2B5EF4-FFF2-40B4-BE49-F238E27FC236}">
                <a16:creationId xmlns:a16="http://schemas.microsoft.com/office/drawing/2014/main" id="{E3EA4752-FC98-99D4-2DD8-C10DA11D2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529" y="3379860"/>
            <a:ext cx="470344" cy="295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0" descr="ev battery outline icon Stock Vector | Adobe Stock">
            <a:extLst>
              <a:ext uri="{FF2B5EF4-FFF2-40B4-BE49-F238E27FC236}">
                <a16:creationId xmlns:a16="http://schemas.microsoft.com/office/drawing/2014/main" id="{BF08C2FD-1031-4E69-321F-815EEC4D9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540742" y="3309083"/>
            <a:ext cx="412986" cy="41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Electric car - Free transport icons">
            <a:extLst>
              <a:ext uri="{FF2B5EF4-FFF2-40B4-BE49-F238E27FC236}">
                <a16:creationId xmlns:a16="http://schemas.microsoft.com/office/drawing/2014/main" id="{677FF890-A2B1-B28D-F1FE-3697D0601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3950" y="3205349"/>
            <a:ext cx="541665" cy="54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Scrap Metal Stock Illustrations – 6,699 Scrap Metal Stock Illustrations,  Vectors &amp; Clipart - Dreamstime">
            <a:extLst>
              <a:ext uri="{FF2B5EF4-FFF2-40B4-BE49-F238E27FC236}">
                <a16:creationId xmlns:a16="http://schemas.microsoft.com/office/drawing/2014/main" id="{391D00B0-96E5-F92E-AFEF-B173A80C1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0284" y="3220150"/>
            <a:ext cx="616162" cy="48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497BDA6A-9B07-AE96-5C62-2876DD7ED569}"/>
              </a:ext>
            </a:extLst>
          </p:cNvPr>
          <p:cNvSpPr txBox="1"/>
          <p:nvPr/>
        </p:nvSpPr>
        <p:spPr>
          <a:xfrm>
            <a:off x="409169" y="3617511"/>
            <a:ext cx="1170343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Consignment ID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14D9FB3-5382-99B2-0306-DB3E3ECA2E0F}"/>
              </a:ext>
            </a:extLst>
          </p:cNvPr>
          <p:cNvSpPr txBox="1"/>
          <p:nvPr/>
        </p:nvSpPr>
        <p:spPr>
          <a:xfrm>
            <a:off x="3217969" y="3655240"/>
            <a:ext cx="68950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ID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476614A-A06A-E1B7-936C-8996ADB66B30}"/>
              </a:ext>
            </a:extLst>
          </p:cNvPr>
          <p:cNvSpPr txBox="1"/>
          <p:nvPr/>
        </p:nvSpPr>
        <p:spPr>
          <a:xfrm>
            <a:off x="4629016" y="3688241"/>
            <a:ext cx="68950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ID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3229323-B027-0256-6869-276973621CA0}"/>
              </a:ext>
            </a:extLst>
          </p:cNvPr>
          <p:cNvSpPr txBox="1"/>
          <p:nvPr/>
        </p:nvSpPr>
        <p:spPr>
          <a:xfrm>
            <a:off x="7054629" y="3668180"/>
            <a:ext cx="68950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ID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4CA5F50-194C-C223-6C13-9534059E5459}"/>
              </a:ext>
            </a:extLst>
          </p:cNvPr>
          <p:cNvSpPr txBox="1"/>
          <p:nvPr/>
        </p:nvSpPr>
        <p:spPr>
          <a:xfrm>
            <a:off x="8354871" y="3655240"/>
            <a:ext cx="769654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Serial No.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90A29AF-3EC8-5330-5289-51902DE02402}"/>
              </a:ext>
            </a:extLst>
          </p:cNvPr>
          <p:cNvSpPr txBox="1"/>
          <p:nvPr/>
        </p:nvSpPr>
        <p:spPr>
          <a:xfrm>
            <a:off x="9683861" y="3664744"/>
            <a:ext cx="389853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VIN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CB13B4C-3614-4607-C8B8-86ECAC242063}"/>
              </a:ext>
            </a:extLst>
          </p:cNvPr>
          <p:cNvSpPr txBox="1"/>
          <p:nvPr/>
        </p:nvSpPr>
        <p:spPr>
          <a:xfrm>
            <a:off x="10941838" y="3623300"/>
            <a:ext cx="68950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ID</a:t>
            </a:r>
          </a:p>
        </p:txBody>
      </p:sp>
      <p:pic>
        <p:nvPicPr>
          <p:cNvPr id="140" name="Picture 28" descr="Vector Design Extrusion Icon Style | Premium Vector">
            <a:extLst>
              <a:ext uri="{FF2B5EF4-FFF2-40B4-BE49-F238E27FC236}">
                <a16:creationId xmlns:a16="http://schemas.microsoft.com/office/drawing/2014/main" id="{D88872FF-A226-0D45-1BEF-B87A8CE18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698" y="2384445"/>
            <a:ext cx="597851" cy="599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Picture 10" descr="Database Icons - Free SVG &amp; PNG Database Images - Noun Project">
            <a:extLst>
              <a:ext uri="{FF2B5EF4-FFF2-40B4-BE49-F238E27FC236}">
                <a16:creationId xmlns:a16="http://schemas.microsoft.com/office/drawing/2014/main" id="{889E92F7-4E46-F2EE-76B3-DC24A3B85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924" y="4482794"/>
            <a:ext cx="658722" cy="660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8F7A832B-653F-28AA-3F3C-148816068F1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53804" y="5427298"/>
            <a:ext cx="541665" cy="483589"/>
          </a:xfrm>
          <a:prstGeom prst="rect">
            <a:avLst/>
          </a:prstGeom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0115104D-D038-D408-6194-0D9BA4AC130A}"/>
              </a:ext>
            </a:extLst>
          </p:cNvPr>
          <p:cNvSpPr txBox="1"/>
          <p:nvPr/>
        </p:nvSpPr>
        <p:spPr>
          <a:xfrm>
            <a:off x="4594017" y="5945115"/>
            <a:ext cx="951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Authority</a:t>
            </a:r>
          </a:p>
        </p:txBody>
      </p:sp>
      <p:pic>
        <p:nvPicPr>
          <p:cNvPr id="162" name="Picture 10" descr="Database Icons - Free SVG &amp; PNG Database Images - Noun Project">
            <a:extLst>
              <a:ext uri="{FF2B5EF4-FFF2-40B4-BE49-F238E27FC236}">
                <a16:creationId xmlns:a16="http://schemas.microsoft.com/office/drawing/2014/main" id="{2B242DA8-4461-066C-00CE-6FA9F254F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979" y="4482794"/>
            <a:ext cx="658722" cy="660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DF05994B-AF45-3A2C-6DE1-CD8B1C2AF84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8348" y="5465935"/>
            <a:ext cx="541665" cy="483589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C96AA335-5F80-3B48-EDDE-3FB05EF5AFA0}"/>
              </a:ext>
            </a:extLst>
          </p:cNvPr>
          <p:cNvSpPr txBox="1"/>
          <p:nvPr/>
        </p:nvSpPr>
        <p:spPr>
          <a:xfrm>
            <a:off x="542803" y="5983752"/>
            <a:ext cx="951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Authority</a:t>
            </a:r>
          </a:p>
        </p:txBody>
      </p:sp>
      <p:cxnSp>
        <p:nvCxnSpPr>
          <p:cNvPr id="165" name="Straight Arrow Connector 56">
            <a:extLst>
              <a:ext uri="{FF2B5EF4-FFF2-40B4-BE49-F238E27FC236}">
                <a16:creationId xmlns:a16="http://schemas.microsoft.com/office/drawing/2014/main" id="{EDECE536-E354-73A1-7C00-213E4C744139}"/>
              </a:ext>
            </a:extLst>
          </p:cNvPr>
          <p:cNvCxnSpPr>
            <a:cxnSpLocks/>
          </p:cNvCxnSpPr>
          <p:nvPr/>
        </p:nvCxnSpPr>
        <p:spPr>
          <a:xfrm flipH="1">
            <a:off x="935895" y="3899179"/>
            <a:ext cx="1" cy="59627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56">
            <a:extLst>
              <a:ext uri="{FF2B5EF4-FFF2-40B4-BE49-F238E27FC236}">
                <a16:creationId xmlns:a16="http://schemas.microsoft.com/office/drawing/2014/main" id="{08AA3F92-D832-DF90-DEB8-9D5A8AB585EF}"/>
              </a:ext>
            </a:extLst>
          </p:cNvPr>
          <p:cNvCxnSpPr>
            <a:cxnSpLocks/>
            <a:stCxn id="163" idx="0"/>
            <a:endCxn id="162" idx="2"/>
          </p:cNvCxnSpPr>
          <p:nvPr/>
        </p:nvCxnSpPr>
        <p:spPr>
          <a:xfrm flipH="1" flipV="1">
            <a:off x="994340" y="5143763"/>
            <a:ext cx="4841" cy="32217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739849C8-6E36-DE5C-878A-AFD1B56AB50B}"/>
              </a:ext>
            </a:extLst>
          </p:cNvPr>
          <p:cNvSpPr txBox="1"/>
          <p:nvPr/>
        </p:nvSpPr>
        <p:spPr>
          <a:xfrm>
            <a:off x="1053390" y="5177991"/>
            <a:ext cx="1168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Quota Mgt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A3EAE16-4917-BF20-8A9B-CCC41FE73DF3}"/>
              </a:ext>
            </a:extLst>
          </p:cNvPr>
          <p:cNvSpPr txBox="1"/>
          <p:nvPr/>
        </p:nvSpPr>
        <p:spPr>
          <a:xfrm>
            <a:off x="-45719" y="3959371"/>
            <a:ext cx="960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Stocks &amp; flows</a:t>
            </a:r>
          </a:p>
        </p:txBody>
      </p:sp>
      <p:cxnSp>
        <p:nvCxnSpPr>
          <p:cNvPr id="175" name="Straight Arrow Connector 56">
            <a:extLst>
              <a:ext uri="{FF2B5EF4-FFF2-40B4-BE49-F238E27FC236}">
                <a16:creationId xmlns:a16="http://schemas.microsoft.com/office/drawing/2014/main" id="{C15FB26E-25EA-041F-A057-7FBA8032C644}"/>
              </a:ext>
            </a:extLst>
          </p:cNvPr>
          <p:cNvCxnSpPr>
            <a:cxnSpLocks/>
            <a:stCxn id="1030" idx="3"/>
            <a:endCxn id="1026" idx="1"/>
          </p:cNvCxnSpPr>
          <p:nvPr/>
        </p:nvCxnSpPr>
        <p:spPr>
          <a:xfrm flipV="1">
            <a:off x="1258754" y="2703649"/>
            <a:ext cx="2154125" cy="72319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A9F5CA0A-8CF0-FBD2-0CA6-DAD986A8E561}"/>
              </a:ext>
            </a:extLst>
          </p:cNvPr>
          <p:cNvSpPr txBox="1"/>
          <p:nvPr/>
        </p:nvSpPr>
        <p:spPr>
          <a:xfrm>
            <a:off x="1744177" y="2903472"/>
            <a:ext cx="856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 + </a:t>
            </a: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</a:t>
            </a:r>
            <a:endParaRPr kumimoji="0" lang="en-A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0" name="Straight Arrow Connector 56">
            <a:extLst>
              <a:ext uri="{FF2B5EF4-FFF2-40B4-BE49-F238E27FC236}">
                <a16:creationId xmlns:a16="http://schemas.microsoft.com/office/drawing/2014/main" id="{CED6EAEC-2A8F-839A-A11F-99A3AF2BC346}"/>
              </a:ext>
            </a:extLst>
          </p:cNvPr>
          <p:cNvCxnSpPr>
            <a:cxnSpLocks/>
          </p:cNvCxnSpPr>
          <p:nvPr/>
        </p:nvCxnSpPr>
        <p:spPr>
          <a:xfrm flipH="1" flipV="1">
            <a:off x="5064956" y="5092089"/>
            <a:ext cx="4841" cy="32217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F6F97B1B-5108-3007-F5FB-8B75CC04632D}"/>
              </a:ext>
            </a:extLst>
          </p:cNvPr>
          <p:cNvSpPr txBox="1"/>
          <p:nvPr/>
        </p:nvSpPr>
        <p:spPr>
          <a:xfrm>
            <a:off x="5119165" y="5150960"/>
            <a:ext cx="1168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Quota Mgt</a:t>
            </a:r>
          </a:p>
        </p:txBody>
      </p:sp>
      <p:cxnSp>
        <p:nvCxnSpPr>
          <p:cNvPr id="186" name="Straight Arrow Connector 56">
            <a:extLst>
              <a:ext uri="{FF2B5EF4-FFF2-40B4-BE49-F238E27FC236}">
                <a16:creationId xmlns:a16="http://schemas.microsoft.com/office/drawing/2014/main" id="{81E16EB9-7F7A-58DA-4F61-BD27A6FB7EBE}"/>
              </a:ext>
            </a:extLst>
          </p:cNvPr>
          <p:cNvCxnSpPr>
            <a:cxnSpLocks/>
            <a:stCxn id="1032" idx="3"/>
            <a:endCxn id="140" idx="1"/>
          </p:cNvCxnSpPr>
          <p:nvPr/>
        </p:nvCxnSpPr>
        <p:spPr>
          <a:xfrm flipV="1">
            <a:off x="5247501" y="2684391"/>
            <a:ext cx="1913197" cy="78710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789434BD-8469-11D9-D845-88CD2732EA76}"/>
              </a:ext>
            </a:extLst>
          </p:cNvPr>
          <p:cNvSpPr txBox="1"/>
          <p:nvPr/>
        </p:nvSpPr>
        <p:spPr>
          <a:xfrm>
            <a:off x="5619666" y="2968960"/>
            <a:ext cx="947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 + </a:t>
            </a: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</a:t>
            </a:r>
            <a:endParaRPr kumimoji="0" lang="en-A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92" name="Straight Arrow Connector 56">
            <a:extLst>
              <a:ext uri="{FF2B5EF4-FFF2-40B4-BE49-F238E27FC236}">
                <a16:creationId xmlns:a16="http://schemas.microsoft.com/office/drawing/2014/main" id="{47E13514-C2F2-7DF9-ADDA-C4F3054BEA4F}"/>
              </a:ext>
            </a:extLst>
          </p:cNvPr>
          <p:cNvCxnSpPr>
            <a:cxnSpLocks/>
            <a:stCxn id="1040" idx="3"/>
            <a:endCxn id="2" idx="1"/>
          </p:cNvCxnSpPr>
          <p:nvPr/>
        </p:nvCxnSpPr>
        <p:spPr>
          <a:xfrm flipV="1">
            <a:off x="3898998" y="2676058"/>
            <a:ext cx="664865" cy="808177"/>
          </a:xfrm>
          <a:prstGeom prst="bentConnector3">
            <a:avLst>
              <a:gd name="adj1" fmla="val 67434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56">
            <a:extLst>
              <a:ext uri="{FF2B5EF4-FFF2-40B4-BE49-F238E27FC236}">
                <a16:creationId xmlns:a16="http://schemas.microsoft.com/office/drawing/2014/main" id="{B2378F52-F974-ADFB-071F-122B07F10C87}"/>
              </a:ext>
            </a:extLst>
          </p:cNvPr>
          <p:cNvCxnSpPr>
            <a:cxnSpLocks/>
            <a:stCxn id="1042" idx="3"/>
          </p:cNvCxnSpPr>
          <p:nvPr/>
        </p:nvCxnSpPr>
        <p:spPr>
          <a:xfrm flipV="1">
            <a:off x="7692873" y="2755034"/>
            <a:ext cx="856600" cy="772781"/>
          </a:xfrm>
          <a:prstGeom prst="bentConnector3">
            <a:avLst>
              <a:gd name="adj1" fmla="val 60524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56">
            <a:extLst>
              <a:ext uri="{FF2B5EF4-FFF2-40B4-BE49-F238E27FC236}">
                <a16:creationId xmlns:a16="http://schemas.microsoft.com/office/drawing/2014/main" id="{5EEA7080-8BB3-0907-FCF3-201AA910B5B7}"/>
              </a:ext>
            </a:extLst>
          </p:cNvPr>
          <p:cNvCxnSpPr>
            <a:cxnSpLocks/>
            <a:stCxn id="53" idx="0"/>
            <a:endCxn id="16" idx="1"/>
          </p:cNvCxnSpPr>
          <p:nvPr/>
        </p:nvCxnSpPr>
        <p:spPr>
          <a:xfrm flipV="1">
            <a:off x="8953026" y="2715190"/>
            <a:ext cx="782550" cy="799684"/>
          </a:xfrm>
          <a:prstGeom prst="bentConnector3">
            <a:avLst>
              <a:gd name="adj1" fmla="val 6152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56">
            <a:extLst>
              <a:ext uri="{FF2B5EF4-FFF2-40B4-BE49-F238E27FC236}">
                <a16:creationId xmlns:a16="http://schemas.microsoft.com/office/drawing/2014/main" id="{992E3ECF-0F9A-B789-F875-3AE6B34E84B6}"/>
              </a:ext>
            </a:extLst>
          </p:cNvPr>
          <p:cNvCxnSpPr>
            <a:cxnSpLocks/>
            <a:stCxn id="1046" idx="3"/>
          </p:cNvCxnSpPr>
          <p:nvPr/>
        </p:nvCxnSpPr>
        <p:spPr>
          <a:xfrm flipV="1">
            <a:off x="10285615" y="2679568"/>
            <a:ext cx="853815" cy="797538"/>
          </a:xfrm>
          <a:prstGeom prst="bentConnector3">
            <a:avLst>
              <a:gd name="adj1" fmla="val 57542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B05CB3B4-F6CA-B575-49F9-888BE4BC9AFB}"/>
              </a:ext>
            </a:extLst>
          </p:cNvPr>
          <p:cNvSpPr txBox="1"/>
          <p:nvPr/>
        </p:nvSpPr>
        <p:spPr>
          <a:xfrm>
            <a:off x="3862188" y="3232338"/>
            <a:ext cx="606528" cy="31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55E043D6-7095-853F-F548-77319679E088}"/>
              </a:ext>
            </a:extLst>
          </p:cNvPr>
          <p:cNvSpPr txBox="1"/>
          <p:nvPr/>
        </p:nvSpPr>
        <p:spPr>
          <a:xfrm>
            <a:off x="7710737" y="3215269"/>
            <a:ext cx="606528" cy="31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9A07C44F-8487-8586-1EC0-4ED754EA5EDE}"/>
              </a:ext>
            </a:extLst>
          </p:cNvPr>
          <p:cNvSpPr txBox="1"/>
          <p:nvPr/>
        </p:nvSpPr>
        <p:spPr>
          <a:xfrm>
            <a:off x="8929335" y="3239233"/>
            <a:ext cx="606528" cy="31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68E963F4-CF14-B7D3-DCF5-68F4F5E38BE4}"/>
              </a:ext>
            </a:extLst>
          </p:cNvPr>
          <p:cNvSpPr txBox="1"/>
          <p:nvPr/>
        </p:nvSpPr>
        <p:spPr>
          <a:xfrm>
            <a:off x="10305397" y="3197037"/>
            <a:ext cx="606528" cy="31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</a:t>
            </a:r>
          </a:p>
        </p:txBody>
      </p:sp>
      <p:cxnSp>
        <p:nvCxnSpPr>
          <p:cNvPr id="225" name="Straight Arrow Connector 56">
            <a:extLst>
              <a:ext uri="{FF2B5EF4-FFF2-40B4-BE49-F238E27FC236}">
                <a16:creationId xmlns:a16="http://schemas.microsoft.com/office/drawing/2014/main" id="{86FDE21A-9F45-66D8-2127-92C41906E411}"/>
              </a:ext>
            </a:extLst>
          </p:cNvPr>
          <p:cNvCxnSpPr>
            <a:cxnSpLocks/>
          </p:cNvCxnSpPr>
          <p:nvPr/>
        </p:nvCxnSpPr>
        <p:spPr>
          <a:xfrm flipH="1">
            <a:off x="1105248" y="3899179"/>
            <a:ext cx="1" cy="596274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3C9A7CA2-6A48-D8DB-FC9C-71DFEC988F0B}"/>
              </a:ext>
            </a:extLst>
          </p:cNvPr>
          <p:cNvSpPr txBox="1"/>
          <p:nvPr/>
        </p:nvSpPr>
        <p:spPr>
          <a:xfrm>
            <a:off x="1113554" y="4010458"/>
            <a:ext cx="116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Guarantee of origin (</a:t>
            </a: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cxnSp>
        <p:nvCxnSpPr>
          <p:cNvPr id="227" name="Straight Arrow Connector 56">
            <a:extLst>
              <a:ext uri="{FF2B5EF4-FFF2-40B4-BE49-F238E27FC236}">
                <a16:creationId xmlns:a16="http://schemas.microsoft.com/office/drawing/2014/main" id="{3207FD5D-257B-3311-3700-A604E72129BC}"/>
              </a:ext>
            </a:extLst>
          </p:cNvPr>
          <p:cNvCxnSpPr>
            <a:cxnSpLocks/>
          </p:cNvCxnSpPr>
          <p:nvPr/>
        </p:nvCxnSpPr>
        <p:spPr>
          <a:xfrm flipH="1">
            <a:off x="4955242" y="3934824"/>
            <a:ext cx="1" cy="59627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5231EDE7-544C-D707-1B10-5B539A5232D2}"/>
              </a:ext>
            </a:extLst>
          </p:cNvPr>
          <p:cNvSpPr txBox="1"/>
          <p:nvPr/>
        </p:nvSpPr>
        <p:spPr>
          <a:xfrm>
            <a:off x="3973628" y="3995016"/>
            <a:ext cx="960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Stocks &amp; flows</a:t>
            </a:r>
          </a:p>
        </p:txBody>
      </p:sp>
      <p:cxnSp>
        <p:nvCxnSpPr>
          <p:cNvPr id="229" name="Straight Arrow Connector 56">
            <a:extLst>
              <a:ext uri="{FF2B5EF4-FFF2-40B4-BE49-F238E27FC236}">
                <a16:creationId xmlns:a16="http://schemas.microsoft.com/office/drawing/2014/main" id="{CD396751-64CA-BAE7-D06D-795FD9219FE2}"/>
              </a:ext>
            </a:extLst>
          </p:cNvPr>
          <p:cNvCxnSpPr>
            <a:cxnSpLocks/>
          </p:cNvCxnSpPr>
          <p:nvPr/>
        </p:nvCxnSpPr>
        <p:spPr>
          <a:xfrm flipH="1">
            <a:off x="5124595" y="3934824"/>
            <a:ext cx="1" cy="596274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335554E0-7FBA-9657-40C3-2171CC516CCD}"/>
              </a:ext>
            </a:extLst>
          </p:cNvPr>
          <p:cNvSpPr txBox="1"/>
          <p:nvPr/>
        </p:nvSpPr>
        <p:spPr>
          <a:xfrm>
            <a:off x="5132901" y="4046103"/>
            <a:ext cx="116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Guarantee of origin (</a:t>
            </a: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41686462-1F14-C741-FA66-6CA4EF015794}"/>
              </a:ext>
            </a:extLst>
          </p:cNvPr>
          <p:cNvSpPr txBox="1"/>
          <p:nvPr/>
        </p:nvSpPr>
        <p:spPr>
          <a:xfrm>
            <a:off x="2717606" y="6252892"/>
            <a:ext cx="1513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Mass-Balance</a:t>
            </a:r>
          </a:p>
        </p:txBody>
      </p:sp>
    </p:spTree>
    <p:extLst>
      <p:ext uri="{BB962C8B-B14F-4D97-AF65-F5344CB8AC3E}">
        <p14:creationId xmlns:p14="http://schemas.microsoft.com/office/powerpoint/2010/main" val="2905919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E754-A412-5C02-2526-A9756A80B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40F401-FEF0-E8AD-3030-9DEA45AD4D9C}"/>
              </a:ext>
            </a:extLst>
          </p:cNvPr>
          <p:cNvSpPr/>
          <p:nvPr/>
        </p:nvSpPr>
        <p:spPr>
          <a:xfrm>
            <a:off x="38266" y="3696064"/>
            <a:ext cx="7720282" cy="2951090"/>
          </a:xfrm>
          <a:prstGeom prst="roundRect">
            <a:avLst>
              <a:gd name="adj" fmla="val 8147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6" name="Picture 2" descr="Smelting - Free construction and tools icons">
            <a:extLst>
              <a:ext uri="{FF2B5EF4-FFF2-40B4-BE49-F238E27FC236}">
                <a16:creationId xmlns:a16="http://schemas.microsoft.com/office/drawing/2014/main" id="{8E26425D-519C-5CB0-9026-A65B43DBE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879" y="2451752"/>
            <a:ext cx="502081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Chemical Plant 2 icon - Free vector (SVG) - Free PNG - Copyicon.com">
            <a:extLst>
              <a:ext uri="{FF2B5EF4-FFF2-40B4-BE49-F238E27FC236}">
                <a16:creationId xmlns:a16="http://schemas.microsoft.com/office/drawing/2014/main" id="{A3BCF306-28CB-898B-4007-79D29867B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863" y="2396569"/>
            <a:ext cx="669554" cy="558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33AC6F-7BAA-8D01-5B63-8E2DB2B62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83" y="2322594"/>
            <a:ext cx="864415" cy="7216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E3B771-5E3F-6BB0-8D20-16C894A660A2}"/>
              </a:ext>
            </a:extLst>
          </p:cNvPr>
          <p:cNvSpPr txBox="1"/>
          <p:nvPr/>
        </p:nvSpPr>
        <p:spPr>
          <a:xfrm>
            <a:off x="785156" y="2056768"/>
            <a:ext cx="491786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36DD2F-8ACF-B905-EC40-84F8743B24D3}"/>
              </a:ext>
            </a:extLst>
          </p:cNvPr>
          <p:cNvSpPr txBox="1"/>
          <p:nvPr/>
        </p:nvSpPr>
        <p:spPr>
          <a:xfrm>
            <a:off x="8048005" y="2044720"/>
            <a:ext cx="13259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Manufacturer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8AE77-14DF-2B7B-9C25-671EE794FD0A}"/>
              </a:ext>
            </a:extLst>
          </p:cNvPr>
          <p:cNvSpPr txBox="1"/>
          <p:nvPr/>
        </p:nvSpPr>
        <p:spPr>
          <a:xfrm>
            <a:off x="4595969" y="2032242"/>
            <a:ext cx="618907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Refiner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DEDEB3-54C3-D38E-02BA-78FFE749E37A}"/>
              </a:ext>
            </a:extLst>
          </p:cNvPr>
          <p:cNvSpPr txBox="1"/>
          <p:nvPr/>
        </p:nvSpPr>
        <p:spPr>
          <a:xfrm>
            <a:off x="9205737" y="2044721"/>
            <a:ext cx="1356129" cy="2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212324-EAC2-375E-6FE6-EDB7764E4702}"/>
              </a:ext>
            </a:extLst>
          </p:cNvPr>
          <p:cNvSpPr txBox="1"/>
          <p:nvPr/>
        </p:nvSpPr>
        <p:spPr>
          <a:xfrm>
            <a:off x="10815752" y="2024179"/>
            <a:ext cx="690901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Recycler</a:t>
            </a:r>
          </a:p>
        </p:txBody>
      </p:sp>
      <p:pic>
        <p:nvPicPr>
          <p:cNvPr id="15" name="Picture 6" descr="Factory Icon in Material Design">
            <a:extLst>
              <a:ext uri="{FF2B5EF4-FFF2-40B4-BE49-F238E27FC236}">
                <a16:creationId xmlns:a16="http://schemas.microsoft.com/office/drawing/2014/main" id="{3071F13A-E36D-04CA-BD47-04495559B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452" y="2388499"/>
            <a:ext cx="679221" cy="567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4" descr="Car manufacturing - Free industry icons">
            <a:extLst>
              <a:ext uri="{FF2B5EF4-FFF2-40B4-BE49-F238E27FC236}">
                <a16:creationId xmlns:a16="http://schemas.microsoft.com/office/drawing/2014/main" id="{3DA02691-6C43-8A42-FC61-5C1B7F1DF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5576" y="2474833"/>
            <a:ext cx="575809" cy="48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0" descr="Recycle symbol - Free arrows icons">
            <a:extLst>
              <a:ext uri="{FF2B5EF4-FFF2-40B4-BE49-F238E27FC236}">
                <a16:creationId xmlns:a16="http://schemas.microsoft.com/office/drawing/2014/main" id="{B9F4B1BF-36D7-0D04-46B7-66DAAE408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0284" y="2421796"/>
            <a:ext cx="597851" cy="53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B3AB367-9528-E8DD-5C2E-40FDA94B6C8F}"/>
              </a:ext>
            </a:extLst>
          </p:cNvPr>
          <p:cNvSpPr txBox="1"/>
          <p:nvPr/>
        </p:nvSpPr>
        <p:spPr>
          <a:xfrm>
            <a:off x="3362226" y="2039030"/>
            <a:ext cx="654877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Smelter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297075-62BC-F68F-82E4-D8C7A1F45628}"/>
              </a:ext>
            </a:extLst>
          </p:cNvPr>
          <p:cNvSpPr txBox="1"/>
          <p:nvPr/>
        </p:nvSpPr>
        <p:spPr>
          <a:xfrm>
            <a:off x="6901443" y="2032243"/>
            <a:ext cx="1112515" cy="2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Fabricator</a:t>
            </a:r>
          </a:p>
        </p:txBody>
      </p:sp>
      <p:pic>
        <p:nvPicPr>
          <p:cNvPr id="1030" name="Picture 6" descr="2,500+ Gravel Icon Stock Illustrations, Royalty-Free Vector Graphics &amp; Clip  Art - iStock">
            <a:extLst>
              <a:ext uri="{FF2B5EF4-FFF2-40B4-BE49-F238E27FC236}">
                <a16:creationId xmlns:a16="http://schemas.microsoft.com/office/drawing/2014/main" id="{F9F52183-824B-4F46-CBFE-B9AA1CDBF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4" t="15270" r="15934" b="16995"/>
          <a:stretch/>
        </p:blipFill>
        <p:spPr bwMode="auto">
          <a:xfrm>
            <a:off x="823963" y="3209402"/>
            <a:ext cx="434791" cy="434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got - Free business icons">
            <a:extLst>
              <a:ext uri="{FF2B5EF4-FFF2-40B4-BE49-F238E27FC236}">
                <a16:creationId xmlns:a16="http://schemas.microsoft.com/office/drawing/2014/main" id="{7435B53D-7EEE-F357-9092-07198C73E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709" y="3253359"/>
            <a:ext cx="434792" cy="43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2D834BE6-13EB-E3B3-77EE-F8FD4F4774AB}"/>
              </a:ext>
            </a:extLst>
          </p:cNvPr>
          <p:cNvSpPr txBox="1"/>
          <p:nvPr/>
        </p:nvSpPr>
        <p:spPr>
          <a:xfrm>
            <a:off x="560657" y="2939782"/>
            <a:ext cx="942016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Concentrate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F382E5-75BF-5626-29B0-83FD832B71E3}"/>
              </a:ext>
            </a:extLst>
          </p:cNvPr>
          <p:cNvSpPr txBox="1"/>
          <p:nvPr/>
        </p:nvSpPr>
        <p:spPr>
          <a:xfrm>
            <a:off x="8417228" y="2954979"/>
            <a:ext cx="742384" cy="2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Battery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28E18B-A36A-A03B-575F-49CB3002A3E4}"/>
              </a:ext>
            </a:extLst>
          </p:cNvPr>
          <p:cNvSpPr txBox="1"/>
          <p:nvPr/>
        </p:nvSpPr>
        <p:spPr>
          <a:xfrm>
            <a:off x="4676924" y="2977921"/>
            <a:ext cx="758428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Cathodes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4F26E1-109D-DBA4-EF20-37D69D5B63AB}"/>
              </a:ext>
            </a:extLst>
          </p:cNvPr>
          <p:cNvSpPr txBox="1"/>
          <p:nvPr/>
        </p:nvSpPr>
        <p:spPr>
          <a:xfrm>
            <a:off x="9551262" y="2950550"/>
            <a:ext cx="941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337999-6D97-546F-0AB6-2F2E6134AE21}"/>
              </a:ext>
            </a:extLst>
          </p:cNvPr>
          <p:cNvSpPr txBox="1"/>
          <p:nvPr/>
        </p:nvSpPr>
        <p:spPr>
          <a:xfrm>
            <a:off x="10960284" y="2969527"/>
            <a:ext cx="506754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Scrap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9E210D-5AB3-8F8A-FE8E-9D2BBC23D920}"/>
              </a:ext>
            </a:extLst>
          </p:cNvPr>
          <p:cNvSpPr txBox="1"/>
          <p:nvPr/>
        </p:nvSpPr>
        <p:spPr>
          <a:xfrm>
            <a:off x="3318719" y="2983739"/>
            <a:ext cx="562383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Blister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768F7A-76FB-43D6-D8E9-14C4362ADB5B}"/>
              </a:ext>
            </a:extLst>
          </p:cNvPr>
          <p:cNvSpPr txBox="1"/>
          <p:nvPr/>
        </p:nvSpPr>
        <p:spPr>
          <a:xfrm>
            <a:off x="7229769" y="2964125"/>
            <a:ext cx="463104" cy="2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Foil</a:t>
            </a:r>
          </a:p>
        </p:txBody>
      </p:sp>
      <p:pic>
        <p:nvPicPr>
          <p:cNvPr id="1040" name="Picture 16" descr="Bullion, gold, ingot, meta, metal, nugget, precious icon - Download on  Iconfinder">
            <a:extLst>
              <a:ext uri="{FF2B5EF4-FFF2-40B4-BE49-F238E27FC236}">
                <a16:creationId xmlns:a16="http://schemas.microsoft.com/office/drawing/2014/main" id="{B91E6DE5-F2DD-C795-FC2E-702E7C46B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917" y="3232338"/>
            <a:ext cx="502081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Aluminum foil icon 37133487 Vector Art at Vecteezy">
            <a:extLst>
              <a:ext uri="{FF2B5EF4-FFF2-40B4-BE49-F238E27FC236}">
                <a16:creationId xmlns:a16="http://schemas.microsoft.com/office/drawing/2014/main" id="{A0364327-99E8-183E-231F-05F068A2B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529" y="3379860"/>
            <a:ext cx="470344" cy="295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0" descr="ev battery outline icon Stock Vector | Adobe Stock">
            <a:extLst>
              <a:ext uri="{FF2B5EF4-FFF2-40B4-BE49-F238E27FC236}">
                <a16:creationId xmlns:a16="http://schemas.microsoft.com/office/drawing/2014/main" id="{83AB5DA5-80CA-0056-C558-33B855A9F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540742" y="3309083"/>
            <a:ext cx="412986" cy="41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Electric car - Free transport icons">
            <a:extLst>
              <a:ext uri="{FF2B5EF4-FFF2-40B4-BE49-F238E27FC236}">
                <a16:creationId xmlns:a16="http://schemas.microsoft.com/office/drawing/2014/main" id="{C5C4FCBD-1F5B-BB2F-80FE-C12BE6C45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3950" y="3205349"/>
            <a:ext cx="541665" cy="54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Scrap Metal Stock Illustrations – 6,699 Scrap Metal Stock Illustrations,  Vectors &amp; Clipart - Dreamstime">
            <a:extLst>
              <a:ext uri="{FF2B5EF4-FFF2-40B4-BE49-F238E27FC236}">
                <a16:creationId xmlns:a16="http://schemas.microsoft.com/office/drawing/2014/main" id="{B9F5C60F-FCBE-7EC4-1901-42C5FF421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0284" y="3220150"/>
            <a:ext cx="616162" cy="48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4AC45BA5-313B-21AC-91B2-2C46A6C66661}"/>
              </a:ext>
            </a:extLst>
          </p:cNvPr>
          <p:cNvSpPr txBox="1"/>
          <p:nvPr/>
        </p:nvSpPr>
        <p:spPr>
          <a:xfrm>
            <a:off x="409169" y="3617511"/>
            <a:ext cx="1170343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Consignment ID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C7A4897-9EA4-4A40-62BE-7D2BEA403DFD}"/>
              </a:ext>
            </a:extLst>
          </p:cNvPr>
          <p:cNvSpPr txBox="1"/>
          <p:nvPr/>
        </p:nvSpPr>
        <p:spPr>
          <a:xfrm>
            <a:off x="3217969" y="3655240"/>
            <a:ext cx="68950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ID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DC79908-D62F-692A-49AA-038F23B87BA6}"/>
              </a:ext>
            </a:extLst>
          </p:cNvPr>
          <p:cNvSpPr txBox="1"/>
          <p:nvPr/>
        </p:nvSpPr>
        <p:spPr>
          <a:xfrm>
            <a:off x="4629016" y="3688241"/>
            <a:ext cx="68950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ID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ADEE632-ED1F-BCE1-A965-7CC683C7E163}"/>
              </a:ext>
            </a:extLst>
          </p:cNvPr>
          <p:cNvSpPr txBox="1"/>
          <p:nvPr/>
        </p:nvSpPr>
        <p:spPr>
          <a:xfrm>
            <a:off x="7054629" y="3668180"/>
            <a:ext cx="68950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ID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BC4AD9E-19C8-BEE2-D769-7B526D5A4DD1}"/>
              </a:ext>
            </a:extLst>
          </p:cNvPr>
          <p:cNvSpPr txBox="1"/>
          <p:nvPr/>
        </p:nvSpPr>
        <p:spPr>
          <a:xfrm>
            <a:off x="8354871" y="3655240"/>
            <a:ext cx="769654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Serial No.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CF955D7-3857-394E-2798-91F9436A3A05}"/>
              </a:ext>
            </a:extLst>
          </p:cNvPr>
          <p:cNvSpPr txBox="1"/>
          <p:nvPr/>
        </p:nvSpPr>
        <p:spPr>
          <a:xfrm>
            <a:off x="9683861" y="3664744"/>
            <a:ext cx="389853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VIN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F0BDE26-3EF6-FA10-D821-2DE68ADD27B1}"/>
              </a:ext>
            </a:extLst>
          </p:cNvPr>
          <p:cNvSpPr txBox="1"/>
          <p:nvPr/>
        </p:nvSpPr>
        <p:spPr>
          <a:xfrm>
            <a:off x="10941838" y="3623300"/>
            <a:ext cx="68950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ID</a:t>
            </a:r>
          </a:p>
        </p:txBody>
      </p:sp>
      <p:pic>
        <p:nvPicPr>
          <p:cNvPr id="1050" name="Picture 26" descr="Trader - Free business and finance icons">
            <a:extLst>
              <a:ext uri="{FF2B5EF4-FFF2-40B4-BE49-F238E27FC236}">
                <a16:creationId xmlns:a16="http://schemas.microsoft.com/office/drawing/2014/main" id="{5D0783CB-9101-8381-64B9-63B4FB2A7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539" y="2393316"/>
            <a:ext cx="629475" cy="6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Picture 28" descr="Vector Design Extrusion Icon Style | Premium Vector">
            <a:extLst>
              <a:ext uri="{FF2B5EF4-FFF2-40B4-BE49-F238E27FC236}">
                <a16:creationId xmlns:a16="http://schemas.microsoft.com/office/drawing/2014/main" id="{8B47985E-4FCB-3D0C-BAB1-1A7E0DFEF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698" y="2384445"/>
            <a:ext cx="597851" cy="599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7995C83C-94FE-99CB-045A-8EDAF6F8D32E}"/>
              </a:ext>
            </a:extLst>
          </p:cNvPr>
          <p:cNvSpPr txBox="1"/>
          <p:nvPr/>
        </p:nvSpPr>
        <p:spPr>
          <a:xfrm>
            <a:off x="2085254" y="2036007"/>
            <a:ext cx="56964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Trader</a:t>
            </a:r>
          </a:p>
        </p:txBody>
      </p:sp>
      <p:pic>
        <p:nvPicPr>
          <p:cNvPr id="142" name="Picture 26" descr="Trader - Free business and finance icons">
            <a:extLst>
              <a:ext uri="{FF2B5EF4-FFF2-40B4-BE49-F238E27FC236}">
                <a16:creationId xmlns:a16="http://schemas.microsoft.com/office/drawing/2014/main" id="{D7516ACF-664C-6123-5714-6152DDFE1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0714" y="2377396"/>
            <a:ext cx="629475" cy="6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" name="TextBox 142">
            <a:extLst>
              <a:ext uri="{FF2B5EF4-FFF2-40B4-BE49-F238E27FC236}">
                <a16:creationId xmlns:a16="http://schemas.microsoft.com/office/drawing/2014/main" id="{A7D33087-1404-99BB-8276-D19D2C61CFD1}"/>
              </a:ext>
            </a:extLst>
          </p:cNvPr>
          <p:cNvSpPr txBox="1"/>
          <p:nvPr/>
        </p:nvSpPr>
        <p:spPr>
          <a:xfrm>
            <a:off x="5830894" y="2055129"/>
            <a:ext cx="56964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Trader</a:t>
            </a:r>
          </a:p>
        </p:txBody>
      </p:sp>
      <p:pic>
        <p:nvPicPr>
          <p:cNvPr id="159" name="Picture 10" descr="Database Icons - Free SVG &amp; PNG Database Images - Noun Project">
            <a:extLst>
              <a:ext uri="{FF2B5EF4-FFF2-40B4-BE49-F238E27FC236}">
                <a16:creationId xmlns:a16="http://schemas.microsoft.com/office/drawing/2014/main" id="{7C3C8EDA-769D-C767-DBCB-2D5C310C9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924" y="4482794"/>
            <a:ext cx="658722" cy="660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60E5916D-4FE8-C389-83E5-C1776219ED1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53804" y="5427298"/>
            <a:ext cx="541665" cy="483589"/>
          </a:xfrm>
          <a:prstGeom prst="rect">
            <a:avLst/>
          </a:prstGeom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9124158E-03AD-8761-D760-F1869707BB31}"/>
              </a:ext>
            </a:extLst>
          </p:cNvPr>
          <p:cNvSpPr txBox="1"/>
          <p:nvPr/>
        </p:nvSpPr>
        <p:spPr>
          <a:xfrm>
            <a:off x="4594017" y="5945115"/>
            <a:ext cx="951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Authority</a:t>
            </a:r>
          </a:p>
        </p:txBody>
      </p:sp>
      <p:pic>
        <p:nvPicPr>
          <p:cNvPr id="162" name="Picture 10" descr="Database Icons - Free SVG &amp; PNG Database Images - Noun Project">
            <a:extLst>
              <a:ext uri="{FF2B5EF4-FFF2-40B4-BE49-F238E27FC236}">
                <a16:creationId xmlns:a16="http://schemas.microsoft.com/office/drawing/2014/main" id="{38869345-38F9-784B-9602-08099D886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979" y="4482794"/>
            <a:ext cx="658722" cy="660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3BF4586E-01E4-BA43-310A-F29A52FFD1C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8348" y="5465935"/>
            <a:ext cx="541665" cy="483589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7A7498D7-3E31-D391-BC7B-A892D0F4C99A}"/>
              </a:ext>
            </a:extLst>
          </p:cNvPr>
          <p:cNvSpPr txBox="1"/>
          <p:nvPr/>
        </p:nvSpPr>
        <p:spPr>
          <a:xfrm>
            <a:off x="542803" y="5983752"/>
            <a:ext cx="951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Authority</a:t>
            </a:r>
          </a:p>
        </p:txBody>
      </p:sp>
      <p:cxnSp>
        <p:nvCxnSpPr>
          <p:cNvPr id="165" name="Straight Arrow Connector 56">
            <a:extLst>
              <a:ext uri="{FF2B5EF4-FFF2-40B4-BE49-F238E27FC236}">
                <a16:creationId xmlns:a16="http://schemas.microsoft.com/office/drawing/2014/main" id="{13BFE016-B951-6EE5-BBDC-EACF4AFB647E}"/>
              </a:ext>
            </a:extLst>
          </p:cNvPr>
          <p:cNvCxnSpPr>
            <a:cxnSpLocks/>
          </p:cNvCxnSpPr>
          <p:nvPr/>
        </p:nvCxnSpPr>
        <p:spPr>
          <a:xfrm flipH="1">
            <a:off x="935895" y="3899179"/>
            <a:ext cx="1" cy="59627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56">
            <a:extLst>
              <a:ext uri="{FF2B5EF4-FFF2-40B4-BE49-F238E27FC236}">
                <a16:creationId xmlns:a16="http://schemas.microsoft.com/office/drawing/2014/main" id="{F8684DED-FF0B-D742-F5D3-F861E1867CCE}"/>
              </a:ext>
            </a:extLst>
          </p:cNvPr>
          <p:cNvCxnSpPr>
            <a:cxnSpLocks/>
            <a:stCxn id="163" idx="0"/>
            <a:endCxn id="162" idx="2"/>
          </p:cNvCxnSpPr>
          <p:nvPr/>
        </p:nvCxnSpPr>
        <p:spPr>
          <a:xfrm flipH="1" flipV="1">
            <a:off x="994340" y="5143763"/>
            <a:ext cx="4841" cy="32217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5CA4F0E2-D709-66E8-4EC3-F0C39C38F4E3}"/>
              </a:ext>
            </a:extLst>
          </p:cNvPr>
          <p:cNvSpPr txBox="1"/>
          <p:nvPr/>
        </p:nvSpPr>
        <p:spPr>
          <a:xfrm>
            <a:off x="1053390" y="5177991"/>
            <a:ext cx="1168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Quota Mgt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30EA6A47-F43E-4DE6-82F0-AA422DBFB394}"/>
              </a:ext>
            </a:extLst>
          </p:cNvPr>
          <p:cNvSpPr txBox="1"/>
          <p:nvPr/>
        </p:nvSpPr>
        <p:spPr>
          <a:xfrm>
            <a:off x="-45719" y="3959371"/>
            <a:ext cx="960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Stocks &amp; flows</a:t>
            </a:r>
          </a:p>
        </p:txBody>
      </p:sp>
      <p:cxnSp>
        <p:nvCxnSpPr>
          <p:cNvPr id="175" name="Straight Arrow Connector 56">
            <a:extLst>
              <a:ext uri="{FF2B5EF4-FFF2-40B4-BE49-F238E27FC236}">
                <a16:creationId xmlns:a16="http://schemas.microsoft.com/office/drawing/2014/main" id="{D5E4885C-D1C7-409A-A40C-82A3EB81DC0C}"/>
              </a:ext>
            </a:extLst>
          </p:cNvPr>
          <p:cNvCxnSpPr>
            <a:cxnSpLocks/>
            <a:stCxn id="1030" idx="3"/>
            <a:endCxn id="1050" idx="1"/>
          </p:cNvCxnSpPr>
          <p:nvPr/>
        </p:nvCxnSpPr>
        <p:spPr>
          <a:xfrm flipV="1">
            <a:off x="1258754" y="2709128"/>
            <a:ext cx="822785" cy="71771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C99D4F69-662C-FF58-AF24-CAFA7E6A3F04}"/>
              </a:ext>
            </a:extLst>
          </p:cNvPr>
          <p:cNvSpPr txBox="1"/>
          <p:nvPr/>
        </p:nvSpPr>
        <p:spPr>
          <a:xfrm>
            <a:off x="1653111" y="3004595"/>
            <a:ext cx="856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 + </a:t>
            </a: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</a:t>
            </a:r>
            <a:endParaRPr kumimoji="0" lang="en-A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0" name="Straight Arrow Connector 56">
            <a:extLst>
              <a:ext uri="{FF2B5EF4-FFF2-40B4-BE49-F238E27FC236}">
                <a16:creationId xmlns:a16="http://schemas.microsoft.com/office/drawing/2014/main" id="{E6449215-52DE-1B3C-33D7-0B1619769EBB}"/>
              </a:ext>
            </a:extLst>
          </p:cNvPr>
          <p:cNvCxnSpPr>
            <a:cxnSpLocks/>
          </p:cNvCxnSpPr>
          <p:nvPr/>
        </p:nvCxnSpPr>
        <p:spPr>
          <a:xfrm flipH="1" flipV="1">
            <a:off x="5064956" y="5092089"/>
            <a:ext cx="4841" cy="32217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899B3644-C433-374A-7E86-8EF36D493F62}"/>
              </a:ext>
            </a:extLst>
          </p:cNvPr>
          <p:cNvSpPr txBox="1"/>
          <p:nvPr/>
        </p:nvSpPr>
        <p:spPr>
          <a:xfrm>
            <a:off x="5119165" y="5150960"/>
            <a:ext cx="1168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Quota Mgt</a:t>
            </a:r>
          </a:p>
        </p:txBody>
      </p:sp>
      <p:cxnSp>
        <p:nvCxnSpPr>
          <p:cNvPr id="186" name="Straight Arrow Connector 56">
            <a:extLst>
              <a:ext uri="{FF2B5EF4-FFF2-40B4-BE49-F238E27FC236}">
                <a16:creationId xmlns:a16="http://schemas.microsoft.com/office/drawing/2014/main" id="{01A7C5F0-65F2-46C4-D365-12EB03787C20}"/>
              </a:ext>
            </a:extLst>
          </p:cNvPr>
          <p:cNvCxnSpPr>
            <a:cxnSpLocks/>
            <a:stCxn id="1032" idx="3"/>
            <a:endCxn id="142" idx="1"/>
          </p:cNvCxnSpPr>
          <p:nvPr/>
        </p:nvCxnSpPr>
        <p:spPr>
          <a:xfrm flipV="1">
            <a:off x="5247501" y="2693208"/>
            <a:ext cx="643213" cy="7782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C354311E-10C7-38FE-0CF8-B6DDAD350000}"/>
              </a:ext>
            </a:extLst>
          </p:cNvPr>
          <p:cNvSpPr txBox="1"/>
          <p:nvPr/>
        </p:nvSpPr>
        <p:spPr>
          <a:xfrm>
            <a:off x="5591494" y="3046771"/>
            <a:ext cx="947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 + </a:t>
            </a: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</a:t>
            </a:r>
            <a:endParaRPr kumimoji="0" lang="en-A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92" name="Straight Arrow Connector 56">
            <a:extLst>
              <a:ext uri="{FF2B5EF4-FFF2-40B4-BE49-F238E27FC236}">
                <a16:creationId xmlns:a16="http://schemas.microsoft.com/office/drawing/2014/main" id="{BAB5900B-7296-CF01-F0F8-B6169AD04A41}"/>
              </a:ext>
            </a:extLst>
          </p:cNvPr>
          <p:cNvCxnSpPr>
            <a:cxnSpLocks/>
            <a:stCxn id="1040" idx="3"/>
            <a:endCxn id="2" idx="1"/>
          </p:cNvCxnSpPr>
          <p:nvPr/>
        </p:nvCxnSpPr>
        <p:spPr>
          <a:xfrm flipV="1">
            <a:off x="3898998" y="2676058"/>
            <a:ext cx="664865" cy="808177"/>
          </a:xfrm>
          <a:prstGeom prst="bentConnector3">
            <a:avLst>
              <a:gd name="adj1" fmla="val 67434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56">
            <a:extLst>
              <a:ext uri="{FF2B5EF4-FFF2-40B4-BE49-F238E27FC236}">
                <a16:creationId xmlns:a16="http://schemas.microsoft.com/office/drawing/2014/main" id="{DD94F105-C972-93E4-59C4-120810461207}"/>
              </a:ext>
            </a:extLst>
          </p:cNvPr>
          <p:cNvCxnSpPr>
            <a:cxnSpLocks/>
            <a:stCxn id="1042" idx="3"/>
          </p:cNvCxnSpPr>
          <p:nvPr/>
        </p:nvCxnSpPr>
        <p:spPr>
          <a:xfrm flipV="1">
            <a:off x="7692873" y="2755034"/>
            <a:ext cx="856600" cy="772781"/>
          </a:xfrm>
          <a:prstGeom prst="bentConnector3">
            <a:avLst>
              <a:gd name="adj1" fmla="val 60524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56">
            <a:extLst>
              <a:ext uri="{FF2B5EF4-FFF2-40B4-BE49-F238E27FC236}">
                <a16:creationId xmlns:a16="http://schemas.microsoft.com/office/drawing/2014/main" id="{EA608858-6C82-9DAB-8D83-447F9A1DA5F6}"/>
              </a:ext>
            </a:extLst>
          </p:cNvPr>
          <p:cNvCxnSpPr>
            <a:cxnSpLocks/>
            <a:stCxn id="53" idx="0"/>
            <a:endCxn id="16" idx="1"/>
          </p:cNvCxnSpPr>
          <p:nvPr/>
        </p:nvCxnSpPr>
        <p:spPr>
          <a:xfrm flipV="1">
            <a:off x="8953026" y="2715190"/>
            <a:ext cx="782550" cy="799684"/>
          </a:xfrm>
          <a:prstGeom prst="bentConnector3">
            <a:avLst>
              <a:gd name="adj1" fmla="val 6152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56">
            <a:extLst>
              <a:ext uri="{FF2B5EF4-FFF2-40B4-BE49-F238E27FC236}">
                <a16:creationId xmlns:a16="http://schemas.microsoft.com/office/drawing/2014/main" id="{9D8F80A0-7DF5-57F9-4824-D99BB3D0C88C}"/>
              </a:ext>
            </a:extLst>
          </p:cNvPr>
          <p:cNvCxnSpPr>
            <a:cxnSpLocks/>
            <a:stCxn id="1046" idx="3"/>
          </p:cNvCxnSpPr>
          <p:nvPr/>
        </p:nvCxnSpPr>
        <p:spPr>
          <a:xfrm flipV="1">
            <a:off x="10285615" y="2679568"/>
            <a:ext cx="853815" cy="797538"/>
          </a:xfrm>
          <a:prstGeom prst="bentConnector3">
            <a:avLst>
              <a:gd name="adj1" fmla="val 57542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B164C059-4CC3-500C-F158-29789ADFC3D8}"/>
              </a:ext>
            </a:extLst>
          </p:cNvPr>
          <p:cNvSpPr txBox="1"/>
          <p:nvPr/>
        </p:nvSpPr>
        <p:spPr>
          <a:xfrm>
            <a:off x="3862188" y="3232338"/>
            <a:ext cx="606528" cy="31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298D4859-686A-4002-EAC3-F910D1275A68}"/>
              </a:ext>
            </a:extLst>
          </p:cNvPr>
          <p:cNvSpPr txBox="1"/>
          <p:nvPr/>
        </p:nvSpPr>
        <p:spPr>
          <a:xfrm>
            <a:off x="7710737" y="3215269"/>
            <a:ext cx="606528" cy="31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E3F96B00-F63D-5726-D376-70F44409A09D}"/>
              </a:ext>
            </a:extLst>
          </p:cNvPr>
          <p:cNvSpPr txBox="1"/>
          <p:nvPr/>
        </p:nvSpPr>
        <p:spPr>
          <a:xfrm>
            <a:off x="8929335" y="3239233"/>
            <a:ext cx="606528" cy="31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96ECF620-C9EB-A613-48BB-BBD09D109CE1}"/>
              </a:ext>
            </a:extLst>
          </p:cNvPr>
          <p:cNvSpPr txBox="1"/>
          <p:nvPr/>
        </p:nvSpPr>
        <p:spPr>
          <a:xfrm>
            <a:off x="10305397" y="3197037"/>
            <a:ext cx="606528" cy="31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</a:t>
            </a:r>
          </a:p>
        </p:txBody>
      </p:sp>
      <p:cxnSp>
        <p:nvCxnSpPr>
          <p:cNvPr id="214" name="Straight Arrow Connector 56">
            <a:extLst>
              <a:ext uri="{FF2B5EF4-FFF2-40B4-BE49-F238E27FC236}">
                <a16:creationId xmlns:a16="http://schemas.microsoft.com/office/drawing/2014/main" id="{D88A8D81-6775-D7A8-2C1C-1427B01E3CFD}"/>
              </a:ext>
            </a:extLst>
          </p:cNvPr>
          <p:cNvCxnSpPr>
            <a:cxnSpLocks/>
            <a:stCxn id="1050" idx="3"/>
            <a:endCxn id="1026" idx="1"/>
          </p:cNvCxnSpPr>
          <p:nvPr/>
        </p:nvCxnSpPr>
        <p:spPr>
          <a:xfrm flipV="1">
            <a:off x="2711014" y="2703649"/>
            <a:ext cx="701865" cy="547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56">
            <a:extLst>
              <a:ext uri="{FF2B5EF4-FFF2-40B4-BE49-F238E27FC236}">
                <a16:creationId xmlns:a16="http://schemas.microsoft.com/office/drawing/2014/main" id="{D0425DC3-8870-4684-E3E2-39A2FAC23C8F}"/>
              </a:ext>
            </a:extLst>
          </p:cNvPr>
          <p:cNvCxnSpPr>
            <a:cxnSpLocks/>
            <a:stCxn id="142" idx="3"/>
            <a:endCxn id="140" idx="1"/>
          </p:cNvCxnSpPr>
          <p:nvPr/>
        </p:nvCxnSpPr>
        <p:spPr>
          <a:xfrm flipV="1">
            <a:off x="6520189" y="2684391"/>
            <a:ext cx="640509" cy="881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56">
            <a:extLst>
              <a:ext uri="{FF2B5EF4-FFF2-40B4-BE49-F238E27FC236}">
                <a16:creationId xmlns:a16="http://schemas.microsoft.com/office/drawing/2014/main" id="{D7374B38-BFC7-C665-8964-7F44B50703A7}"/>
              </a:ext>
            </a:extLst>
          </p:cNvPr>
          <p:cNvCxnSpPr>
            <a:cxnSpLocks/>
          </p:cNvCxnSpPr>
          <p:nvPr/>
        </p:nvCxnSpPr>
        <p:spPr>
          <a:xfrm flipH="1">
            <a:off x="1105248" y="3899179"/>
            <a:ext cx="1" cy="596274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F7448822-0B8F-F205-C6C0-AA8AD1EA9440}"/>
              </a:ext>
            </a:extLst>
          </p:cNvPr>
          <p:cNvSpPr txBox="1"/>
          <p:nvPr/>
        </p:nvSpPr>
        <p:spPr>
          <a:xfrm>
            <a:off x="1113554" y="4010458"/>
            <a:ext cx="116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Guarantee of origin (</a:t>
            </a: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cxnSp>
        <p:nvCxnSpPr>
          <p:cNvPr id="227" name="Straight Arrow Connector 56">
            <a:extLst>
              <a:ext uri="{FF2B5EF4-FFF2-40B4-BE49-F238E27FC236}">
                <a16:creationId xmlns:a16="http://schemas.microsoft.com/office/drawing/2014/main" id="{D9F4AE45-759D-4F05-ECDB-BD0B8E0F9246}"/>
              </a:ext>
            </a:extLst>
          </p:cNvPr>
          <p:cNvCxnSpPr>
            <a:cxnSpLocks/>
          </p:cNvCxnSpPr>
          <p:nvPr/>
        </p:nvCxnSpPr>
        <p:spPr>
          <a:xfrm flipH="1">
            <a:off x="4955242" y="3934824"/>
            <a:ext cx="1" cy="59627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6F8F11B1-C6EE-C9B6-D000-9BAE21E895DF}"/>
              </a:ext>
            </a:extLst>
          </p:cNvPr>
          <p:cNvSpPr txBox="1"/>
          <p:nvPr/>
        </p:nvSpPr>
        <p:spPr>
          <a:xfrm>
            <a:off x="3973628" y="3995016"/>
            <a:ext cx="960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Stocks &amp; flows</a:t>
            </a:r>
          </a:p>
        </p:txBody>
      </p:sp>
      <p:cxnSp>
        <p:nvCxnSpPr>
          <p:cNvPr id="229" name="Straight Arrow Connector 56">
            <a:extLst>
              <a:ext uri="{FF2B5EF4-FFF2-40B4-BE49-F238E27FC236}">
                <a16:creationId xmlns:a16="http://schemas.microsoft.com/office/drawing/2014/main" id="{FA58E7E7-D22D-14C7-370C-D60FF30EABA6}"/>
              </a:ext>
            </a:extLst>
          </p:cNvPr>
          <p:cNvCxnSpPr>
            <a:cxnSpLocks/>
          </p:cNvCxnSpPr>
          <p:nvPr/>
        </p:nvCxnSpPr>
        <p:spPr>
          <a:xfrm flipH="1">
            <a:off x="5124595" y="3934824"/>
            <a:ext cx="1" cy="596274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575E7074-99BF-46FB-061C-D047BAA2200A}"/>
              </a:ext>
            </a:extLst>
          </p:cNvPr>
          <p:cNvSpPr txBox="1"/>
          <p:nvPr/>
        </p:nvSpPr>
        <p:spPr>
          <a:xfrm>
            <a:off x="5132901" y="4046103"/>
            <a:ext cx="116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Guarantee of origin (</a:t>
            </a: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31" name="Rounded Rectangular Callout 230">
            <a:extLst>
              <a:ext uri="{FF2B5EF4-FFF2-40B4-BE49-F238E27FC236}">
                <a16:creationId xmlns:a16="http://schemas.microsoft.com/office/drawing/2014/main" id="{61F59850-B0A0-D071-3D35-54E2FA6467D4}"/>
              </a:ext>
            </a:extLst>
          </p:cNvPr>
          <p:cNvSpPr/>
          <p:nvPr/>
        </p:nvSpPr>
        <p:spPr>
          <a:xfrm>
            <a:off x="2495285" y="4566027"/>
            <a:ext cx="1133321" cy="612648"/>
          </a:xfrm>
          <a:prstGeom prst="wedgeRoundRectCallout">
            <a:avLst>
              <a:gd name="adj1" fmla="val -7197"/>
              <a:gd name="adj2" fmla="val -347422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Redacted DPP &amp; GO</a:t>
            </a:r>
          </a:p>
        </p:txBody>
      </p:sp>
      <p:sp>
        <p:nvSpPr>
          <p:cNvPr id="232" name="Rounded Rectangular Callout 231">
            <a:extLst>
              <a:ext uri="{FF2B5EF4-FFF2-40B4-BE49-F238E27FC236}">
                <a16:creationId xmlns:a16="http://schemas.microsoft.com/office/drawing/2014/main" id="{0B813D9B-5BEF-F33B-13A7-132106D83F60}"/>
              </a:ext>
            </a:extLst>
          </p:cNvPr>
          <p:cNvSpPr/>
          <p:nvPr/>
        </p:nvSpPr>
        <p:spPr>
          <a:xfrm>
            <a:off x="6349001" y="4466588"/>
            <a:ext cx="1133321" cy="612648"/>
          </a:xfrm>
          <a:prstGeom prst="wedgeRoundRectCallout">
            <a:avLst>
              <a:gd name="adj1" fmla="val -7197"/>
              <a:gd name="adj2" fmla="val -347422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Redacted DPP &amp; 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AD4A56-7397-A5B9-0898-599F53B5C653}"/>
              </a:ext>
            </a:extLst>
          </p:cNvPr>
          <p:cNvSpPr txBox="1"/>
          <p:nvPr/>
        </p:nvSpPr>
        <p:spPr>
          <a:xfrm>
            <a:off x="2384455" y="6267000"/>
            <a:ext cx="2415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Mass-Balance </a:t>
            </a:r>
            <a:r>
              <a:rPr lang="en-AU" sz="1600" b="1" dirty="0">
                <a:solidFill>
                  <a:prstClr val="black"/>
                </a:solidFill>
                <a:latin typeface="Calibri" panose="020F0502020204030204"/>
              </a:rPr>
              <a:t>+</a:t>
            </a: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redaction</a:t>
            </a:r>
          </a:p>
        </p:txBody>
      </p:sp>
    </p:spTree>
    <p:extLst>
      <p:ext uri="{BB962C8B-B14F-4D97-AF65-F5344CB8AC3E}">
        <p14:creationId xmlns:p14="http://schemas.microsoft.com/office/powerpoint/2010/main" val="198719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695D6-8B26-85F9-6B26-4ADB80F61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424B906-8EB9-8F9C-4976-71A7208EED2C}"/>
              </a:ext>
            </a:extLst>
          </p:cNvPr>
          <p:cNvSpPr/>
          <p:nvPr/>
        </p:nvSpPr>
        <p:spPr>
          <a:xfrm>
            <a:off x="187612" y="40945"/>
            <a:ext cx="10192718" cy="2370181"/>
          </a:xfrm>
          <a:prstGeom prst="roundRect">
            <a:avLst>
              <a:gd name="adj" fmla="val 8147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C7C41F9-4F32-67FE-53FA-F5356F659D88}"/>
              </a:ext>
            </a:extLst>
          </p:cNvPr>
          <p:cNvSpPr/>
          <p:nvPr/>
        </p:nvSpPr>
        <p:spPr>
          <a:xfrm>
            <a:off x="38266" y="3696064"/>
            <a:ext cx="7720282" cy="2951090"/>
          </a:xfrm>
          <a:prstGeom prst="roundRect">
            <a:avLst>
              <a:gd name="adj" fmla="val 8147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6" name="Picture 2" descr="Smelting - Free construction and tools icons">
            <a:extLst>
              <a:ext uri="{FF2B5EF4-FFF2-40B4-BE49-F238E27FC236}">
                <a16:creationId xmlns:a16="http://schemas.microsoft.com/office/drawing/2014/main" id="{E33BC4F6-5A92-6511-2C09-5FCCFC2AF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879" y="2451752"/>
            <a:ext cx="502081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Chemical Plant 2 icon - Free vector (SVG) - Free PNG - Copyicon.com">
            <a:extLst>
              <a:ext uri="{FF2B5EF4-FFF2-40B4-BE49-F238E27FC236}">
                <a16:creationId xmlns:a16="http://schemas.microsoft.com/office/drawing/2014/main" id="{72EDFA0D-6E75-9ABE-F3AB-160FC7C49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863" y="2396569"/>
            <a:ext cx="669554" cy="558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138686-E73A-2F1B-CCC6-A800CA4DF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83" y="2322594"/>
            <a:ext cx="864415" cy="7216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469D17-557A-19B1-3EF8-4304E64C783D}"/>
              </a:ext>
            </a:extLst>
          </p:cNvPr>
          <p:cNvSpPr txBox="1"/>
          <p:nvPr/>
        </p:nvSpPr>
        <p:spPr>
          <a:xfrm>
            <a:off x="785156" y="2056768"/>
            <a:ext cx="491786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2A9619-4A58-2CBB-8AE4-2CA578771569}"/>
              </a:ext>
            </a:extLst>
          </p:cNvPr>
          <p:cNvSpPr txBox="1"/>
          <p:nvPr/>
        </p:nvSpPr>
        <p:spPr>
          <a:xfrm>
            <a:off x="8048005" y="2044720"/>
            <a:ext cx="13259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Manufacturer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4A9054-2FE0-2A61-ADD2-67080A563AC9}"/>
              </a:ext>
            </a:extLst>
          </p:cNvPr>
          <p:cNvSpPr txBox="1"/>
          <p:nvPr/>
        </p:nvSpPr>
        <p:spPr>
          <a:xfrm>
            <a:off x="4595969" y="2032242"/>
            <a:ext cx="618907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Refiner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AA9026-2010-F4D0-7E1A-0F860B0C2B4E}"/>
              </a:ext>
            </a:extLst>
          </p:cNvPr>
          <p:cNvSpPr txBox="1"/>
          <p:nvPr/>
        </p:nvSpPr>
        <p:spPr>
          <a:xfrm>
            <a:off x="9205737" y="2044721"/>
            <a:ext cx="1356129" cy="2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26156E-8B4C-EE24-5902-63D1D91FE7FA}"/>
              </a:ext>
            </a:extLst>
          </p:cNvPr>
          <p:cNvSpPr txBox="1"/>
          <p:nvPr/>
        </p:nvSpPr>
        <p:spPr>
          <a:xfrm>
            <a:off x="10815752" y="2024179"/>
            <a:ext cx="690901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Recycler</a:t>
            </a:r>
          </a:p>
        </p:txBody>
      </p:sp>
      <p:pic>
        <p:nvPicPr>
          <p:cNvPr id="15" name="Picture 6" descr="Factory Icon in Material Design">
            <a:extLst>
              <a:ext uri="{FF2B5EF4-FFF2-40B4-BE49-F238E27FC236}">
                <a16:creationId xmlns:a16="http://schemas.microsoft.com/office/drawing/2014/main" id="{D8124FC9-3AFE-1DF3-AB7D-DC44EA34A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452" y="2388499"/>
            <a:ext cx="679221" cy="567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4" descr="Car manufacturing - Free industry icons">
            <a:extLst>
              <a:ext uri="{FF2B5EF4-FFF2-40B4-BE49-F238E27FC236}">
                <a16:creationId xmlns:a16="http://schemas.microsoft.com/office/drawing/2014/main" id="{3D641251-EF91-889E-7F74-80D770E74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5576" y="2474833"/>
            <a:ext cx="575809" cy="48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0" descr="Recycle symbol - Free arrows icons">
            <a:extLst>
              <a:ext uri="{FF2B5EF4-FFF2-40B4-BE49-F238E27FC236}">
                <a16:creationId xmlns:a16="http://schemas.microsoft.com/office/drawing/2014/main" id="{5B3BE7B5-6BD8-A76D-A140-DB74B48F4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0284" y="2421796"/>
            <a:ext cx="597851" cy="53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55286EF-D8E2-06EB-2C13-661EBA1906E3}"/>
              </a:ext>
            </a:extLst>
          </p:cNvPr>
          <p:cNvSpPr txBox="1"/>
          <p:nvPr/>
        </p:nvSpPr>
        <p:spPr>
          <a:xfrm>
            <a:off x="3362226" y="2039030"/>
            <a:ext cx="654877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Smelter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65ACC1-8669-C7BC-730B-CFB5D14260D7}"/>
              </a:ext>
            </a:extLst>
          </p:cNvPr>
          <p:cNvSpPr txBox="1"/>
          <p:nvPr/>
        </p:nvSpPr>
        <p:spPr>
          <a:xfrm>
            <a:off x="6901443" y="2032243"/>
            <a:ext cx="1112515" cy="2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Fabricator</a:t>
            </a:r>
          </a:p>
        </p:txBody>
      </p:sp>
      <p:pic>
        <p:nvPicPr>
          <p:cNvPr id="1030" name="Picture 6" descr="2,500+ Gravel Icon Stock Illustrations, Royalty-Free Vector Graphics &amp; Clip  Art - iStock">
            <a:extLst>
              <a:ext uri="{FF2B5EF4-FFF2-40B4-BE49-F238E27FC236}">
                <a16:creationId xmlns:a16="http://schemas.microsoft.com/office/drawing/2014/main" id="{87E33CCA-8B40-3F5F-D4C0-10765E650E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4" t="15270" r="15934" b="16995"/>
          <a:stretch/>
        </p:blipFill>
        <p:spPr bwMode="auto">
          <a:xfrm>
            <a:off x="823963" y="3209402"/>
            <a:ext cx="434791" cy="434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got - Free business icons">
            <a:extLst>
              <a:ext uri="{FF2B5EF4-FFF2-40B4-BE49-F238E27FC236}">
                <a16:creationId xmlns:a16="http://schemas.microsoft.com/office/drawing/2014/main" id="{57570233-4E23-BA6D-9345-36A031353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709" y="3253359"/>
            <a:ext cx="434792" cy="43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0" descr="Database Icons - Free SVG &amp; PNG Database Images - Noun Project">
            <a:extLst>
              <a:ext uri="{FF2B5EF4-FFF2-40B4-BE49-F238E27FC236}">
                <a16:creationId xmlns:a16="http://schemas.microsoft.com/office/drawing/2014/main" id="{DCBB4DFC-75D8-22F9-281F-0219FAA2F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8" y="1003924"/>
            <a:ext cx="658722" cy="660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A4B6FA5-D5E9-A889-74F5-5217508016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0527" y="185596"/>
            <a:ext cx="541665" cy="48358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299C7448-EF0B-FA55-39AD-0B2B6F3F9F27}"/>
              </a:ext>
            </a:extLst>
          </p:cNvPr>
          <p:cNvSpPr txBox="1"/>
          <p:nvPr/>
        </p:nvSpPr>
        <p:spPr>
          <a:xfrm>
            <a:off x="560657" y="2939782"/>
            <a:ext cx="942016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Concentrate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D8057A-2875-D549-0F6C-F8F46F5C5222}"/>
              </a:ext>
            </a:extLst>
          </p:cNvPr>
          <p:cNvSpPr txBox="1"/>
          <p:nvPr/>
        </p:nvSpPr>
        <p:spPr>
          <a:xfrm>
            <a:off x="8417228" y="2954979"/>
            <a:ext cx="742384" cy="2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Battery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E0BB95-B23E-C89B-EC50-BDE56796DB36}"/>
              </a:ext>
            </a:extLst>
          </p:cNvPr>
          <p:cNvSpPr txBox="1"/>
          <p:nvPr/>
        </p:nvSpPr>
        <p:spPr>
          <a:xfrm>
            <a:off x="4676924" y="2977921"/>
            <a:ext cx="758428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Cathodes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EEA942-7550-D080-A1EA-042D65ECE31A}"/>
              </a:ext>
            </a:extLst>
          </p:cNvPr>
          <p:cNvSpPr txBox="1"/>
          <p:nvPr/>
        </p:nvSpPr>
        <p:spPr>
          <a:xfrm>
            <a:off x="9551262" y="2950550"/>
            <a:ext cx="941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6E5788-B327-7AE5-CFB6-63F069D99EA8}"/>
              </a:ext>
            </a:extLst>
          </p:cNvPr>
          <p:cNvSpPr txBox="1"/>
          <p:nvPr/>
        </p:nvSpPr>
        <p:spPr>
          <a:xfrm>
            <a:off x="10960284" y="2969527"/>
            <a:ext cx="506754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Scrap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E82D49-0D8F-6D7F-7595-94042D192E4C}"/>
              </a:ext>
            </a:extLst>
          </p:cNvPr>
          <p:cNvSpPr txBox="1"/>
          <p:nvPr/>
        </p:nvSpPr>
        <p:spPr>
          <a:xfrm>
            <a:off x="3318719" y="2983739"/>
            <a:ext cx="562383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Blister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7B6B37-C1AB-92AD-11E9-F901A119D3A8}"/>
              </a:ext>
            </a:extLst>
          </p:cNvPr>
          <p:cNvSpPr txBox="1"/>
          <p:nvPr/>
        </p:nvSpPr>
        <p:spPr>
          <a:xfrm>
            <a:off x="7229769" y="2964125"/>
            <a:ext cx="463104" cy="2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Foil</a:t>
            </a:r>
          </a:p>
        </p:txBody>
      </p:sp>
      <p:pic>
        <p:nvPicPr>
          <p:cNvPr id="1040" name="Picture 16" descr="Bullion, gold, ingot, meta, metal, nugget, precious icon - Download on  Iconfinder">
            <a:extLst>
              <a:ext uri="{FF2B5EF4-FFF2-40B4-BE49-F238E27FC236}">
                <a16:creationId xmlns:a16="http://schemas.microsoft.com/office/drawing/2014/main" id="{7C11A577-A404-2696-F905-D40FFEA88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917" y="3232338"/>
            <a:ext cx="502081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Aluminum foil icon 37133487 Vector Art at Vecteezy">
            <a:extLst>
              <a:ext uri="{FF2B5EF4-FFF2-40B4-BE49-F238E27FC236}">
                <a16:creationId xmlns:a16="http://schemas.microsoft.com/office/drawing/2014/main" id="{B86E3231-5342-C4DC-83B2-9A5FBD334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529" y="3379860"/>
            <a:ext cx="470344" cy="295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0" descr="ev battery outline icon Stock Vector | Adobe Stock">
            <a:extLst>
              <a:ext uri="{FF2B5EF4-FFF2-40B4-BE49-F238E27FC236}">
                <a16:creationId xmlns:a16="http://schemas.microsoft.com/office/drawing/2014/main" id="{0D0C6AC3-D35B-A4EB-AA26-81373491B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540742" y="3309083"/>
            <a:ext cx="412986" cy="41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Electric car - Free transport icons">
            <a:extLst>
              <a:ext uri="{FF2B5EF4-FFF2-40B4-BE49-F238E27FC236}">
                <a16:creationId xmlns:a16="http://schemas.microsoft.com/office/drawing/2014/main" id="{0F2A7665-608B-2AC3-2706-2058A8EB1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3950" y="3205349"/>
            <a:ext cx="541665" cy="54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Scrap Metal Stock Illustrations – 6,699 Scrap Metal Stock Illustrations,  Vectors &amp; Clipart - Dreamstime">
            <a:extLst>
              <a:ext uri="{FF2B5EF4-FFF2-40B4-BE49-F238E27FC236}">
                <a16:creationId xmlns:a16="http://schemas.microsoft.com/office/drawing/2014/main" id="{4BC3DBF4-80CC-0CD8-92A6-1030AE3AE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0284" y="3220150"/>
            <a:ext cx="616162" cy="48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AAEDCBC-9152-149E-B365-67423F552D84}"/>
              </a:ext>
            </a:extLst>
          </p:cNvPr>
          <p:cNvCxnSpPr>
            <a:cxnSpLocks/>
            <a:stCxn id="10" idx="0"/>
            <a:endCxn id="38" idx="3"/>
          </p:cNvCxnSpPr>
          <p:nvPr/>
        </p:nvCxnSpPr>
        <p:spPr>
          <a:xfrm rot="16200000" flipV="1">
            <a:off x="5272105" y="-2566976"/>
            <a:ext cx="710312" cy="8513082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6">
            <a:extLst>
              <a:ext uri="{FF2B5EF4-FFF2-40B4-BE49-F238E27FC236}">
                <a16:creationId xmlns:a16="http://schemas.microsoft.com/office/drawing/2014/main" id="{D82549C3-9E97-1FF2-1568-71BE0B6E6275}"/>
              </a:ext>
            </a:extLst>
          </p:cNvPr>
          <p:cNvCxnSpPr>
            <a:cxnSpLocks/>
            <a:stCxn id="7" idx="0"/>
            <a:endCxn id="38" idx="2"/>
          </p:cNvCxnSpPr>
          <p:nvPr/>
        </p:nvCxnSpPr>
        <p:spPr>
          <a:xfrm flipV="1">
            <a:off x="1031049" y="1664894"/>
            <a:ext cx="10311" cy="39187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40A3A22-0D8E-340E-826F-C89D65634B31}"/>
              </a:ext>
            </a:extLst>
          </p:cNvPr>
          <p:cNvSpPr txBox="1"/>
          <p:nvPr/>
        </p:nvSpPr>
        <p:spPr>
          <a:xfrm>
            <a:off x="1312192" y="153626"/>
            <a:ext cx="1168926" cy="457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Regional Supply Shed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0A08ED2-FE9C-5D70-EC07-210CFD71F7BE}"/>
              </a:ext>
            </a:extLst>
          </p:cNvPr>
          <p:cNvSpPr txBox="1"/>
          <p:nvPr/>
        </p:nvSpPr>
        <p:spPr>
          <a:xfrm>
            <a:off x="3725569" y="1052595"/>
            <a:ext cx="1168926" cy="2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Claim $$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3F36F5-4800-4589-9F17-AF1E6E16A443}"/>
              </a:ext>
            </a:extLst>
          </p:cNvPr>
          <p:cNvSpPr txBox="1"/>
          <p:nvPr/>
        </p:nvSpPr>
        <p:spPr>
          <a:xfrm>
            <a:off x="1105249" y="1691174"/>
            <a:ext cx="1168926" cy="2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Book $$</a:t>
            </a:r>
          </a:p>
        </p:txBody>
      </p:sp>
      <p:cxnSp>
        <p:nvCxnSpPr>
          <p:cNvPr id="128" name="Straight Arrow Connector 56">
            <a:extLst>
              <a:ext uri="{FF2B5EF4-FFF2-40B4-BE49-F238E27FC236}">
                <a16:creationId xmlns:a16="http://schemas.microsoft.com/office/drawing/2014/main" id="{985FA5E6-04B8-113A-8C9B-B94B8DCB3BCF}"/>
              </a:ext>
            </a:extLst>
          </p:cNvPr>
          <p:cNvCxnSpPr>
            <a:cxnSpLocks/>
            <a:stCxn id="41" idx="1"/>
            <a:endCxn id="3" idx="1"/>
          </p:cNvCxnSpPr>
          <p:nvPr/>
        </p:nvCxnSpPr>
        <p:spPr>
          <a:xfrm rot="10800000" flipV="1">
            <a:off x="621183" y="427390"/>
            <a:ext cx="149344" cy="2256031"/>
          </a:xfrm>
          <a:prstGeom prst="bentConnector3">
            <a:avLst>
              <a:gd name="adj1" fmla="val 253069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AE405F4B-BD5E-AFA3-FC4F-0D9953EC59B9}"/>
              </a:ext>
            </a:extLst>
          </p:cNvPr>
          <p:cNvSpPr txBox="1"/>
          <p:nvPr/>
        </p:nvSpPr>
        <p:spPr>
          <a:xfrm rot="16200000">
            <a:off x="206876" y="1302341"/>
            <a:ext cx="660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Audit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0998461-A3F9-A51A-1390-39C4640CBFD5}"/>
              </a:ext>
            </a:extLst>
          </p:cNvPr>
          <p:cNvSpPr txBox="1"/>
          <p:nvPr/>
        </p:nvSpPr>
        <p:spPr>
          <a:xfrm>
            <a:off x="409169" y="3617511"/>
            <a:ext cx="1170343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Consignment ID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CA7C7B0-9DF4-63FF-C33C-676567FDA45A}"/>
              </a:ext>
            </a:extLst>
          </p:cNvPr>
          <p:cNvSpPr txBox="1"/>
          <p:nvPr/>
        </p:nvSpPr>
        <p:spPr>
          <a:xfrm>
            <a:off x="3217969" y="3655240"/>
            <a:ext cx="68950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ID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8F4272C-74D5-A941-0124-20D76AE6A3E7}"/>
              </a:ext>
            </a:extLst>
          </p:cNvPr>
          <p:cNvSpPr txBox="1"/>
          <p:nvPr/>
        </p:nvSpPr>
        <p:spPr>
          <a:xfrm>
            <a:off x="4629016" y="3688241"/>
            <a:ext cx="68950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ID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80102B8-7870-0AD6-BF63-E92DD55C171B}"/>
              </a:ext>
            </a:extLst>
          </p:cNvPr>
          <p:cNvSpPr txBox="1"/>
          <p:nvPr/>
        </p:nvSpPr>
        <p:spPr>
          <a:xfrm>
            <a:off x="7054629" y="3668180"/>
            <a:ext cx="68950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ID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EFE7831-FF89-2D44-1615-1FC3344FDC80}"/>
              </a:ext>
            </a:extLst>
          </p:cNvPr>
          <p:cNvSpPr txBox="1"/>
          <p:nvPr/>
        </p:nvSpPr>
        <p:spPr>
          <a:xfrm>
            <a:off x="8354871" y="3655240"/>
            <a:ext cx="769654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Serial No.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CFDB428-58A2-5D04-7B73-7E17F30E4879}"/>
              </a:ext>
            </a:extLst>
          </p:cNvPr>
          <p:cNvSpPr txBox="1"/>
          <p:nvPr/>
        </p:nvSpPr>
        <p:spPr>
          <a:xfrm>
            <a:off x="9683861" y="3664744"/>
            <a:ext cx="389853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VIN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D166DD8-C35A-3675-1D5C-8B35A29BEBE5}"/>
              </a:ext>
            </a:extLst>
          </p:cNvPr>
          <p:cNvSpPr txBox="1"/>
          <p:nvPr/>
        </p:nvSpPr>
        <p:spPr>
          <a:xfrm>
            <a:off x="10941838" y="3623300"/>
            <a:ext cx="68950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 ID</a:t>
            </a:r>
          </a:p>
        </p:txBody>
      </p:sp>
      <p:pic>
        <p:nvPicPr>
          <p:cNvPr id="1050" name="Picture 26" descr="Trader - Free business and finance icons">
            <a:extLst>
              <a:ext uri="{FF2B5EF4-FFF2-40B4-BE49-F238E27FC236}">
                <a16:creationId xmlns:a16="http://schemas.microsoft.com/office/drawing/2014/main" id="{A1CFD8E9-1D37-7E2A-B419-50BF17E81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539" y="2393316"/>
            <a:ext cx="629475" cy="6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Picture 28" descr="Vector Design Extrusion Icon Style | Premium Vector">
            <a:extLst>
              <a:ext uri="{FF2B5EF4-FFF2-40B4-BE49-F238E27FC236}">
                <a16:creationId xmlns:a16="http://schemas.microsoft.com/office/drawing/2014/main" id="{4BDE0562-E8F3-3AE1-C5CE-5BDD4FFDC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698" y="2384445"/>
            <a:ext cx="597851" cy="599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EA50BE8D-6E4F-49BD-ECCC-88D7E6DC46F6}"/>
              </a:ext>
            </a:extLst>
          </p:cNvPr>
          <p:cNvSpPr txBox="1"/>
          <p:nvPr/>
        </p:nvSpPr>
        <p:spPr>
          <a:xfrm>
            <a:off x="2085254" y="2036007"/>
            <a:ext cx="56964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Trader</a:t>
            </a:r>
          </a:p>
        </p:txBody>
      </p:sp>
      <p:pic>
        <p:nvPicPr>
          <p:cNvPr id="142" name="Picture 26" descr="Trader - Free business and finance icons">
            <a:extLst>
              <a:ext uri="{FF2B5EF4-FFF2-40B4-BE49-F238E27FC236}">
                <a16:creationId xmlns:a16="http://schemas.microsoft.com/office/drawing/2014/main" id="{9B8345CD-CE9D-72B0-D460-B215DB866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0714" y="2377396"/>
            <a:ext cx="629475" cy="63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" name="TextBox 142">
            <a:extLst>
              <a:ext uri="{FF2B5EF4-FFF2-40B4-BE49-F238E27FC236}">
                <a16:creationId xmlns:a16="http://schemas.microsoft.com/office/drawing/2014/main" id="{72777E62-E163-7D4E-3F2D-3474DD2FE790}"/>
              </a:ext>
            </a:extLst>
          </p:cNvPr>
          <p:cNvSpPr txBox="1"/>
          <p:nvPr/>
        </p:nvSpPr>
        <p:spPr>
          <a:xfrm>
            <a:off x="5830894" y="2055129"/>
            <a:ext cx="569645" cy="26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Trader</a:t>
            </a:r>
          </a:p>
        </p:txBody>
      </p:sp>
      <p:cxnSp>
        <p:nvCxnSpPr>
          <p:cNvPr id="153" name="Straight Arrow Connector 56">
            <a:extLst>
              <a:ext uri="{FF2B5EF4-FFF2-40B4-BE49-F238E27FC236}">
                <a16:creationId xmlns:a16="http://schemas.microsoft.com/office/drawing/2014/main" id="{F6986FE7-2419-3F95-7EED-1E976BAA4FD2}"/>
              </a:ext>
            </a:extLst>
          </p:cNvPr>
          <p:cNvCxnSpPr>
            <a:cxnSpLocks/>
            <a:stCxn id="41" idx="2"/>
            <a:endCxn id="38" idx="0"/>
          </p:cNvCxnSpPr>
          <p:nvPr/>
        </p:nvCxnSpPr>
        <p:spPr>
          <a:xfrm flipH="1">
            <a:off x="1041359" y="669185"/>
            <a:ext cx="1" cy="33473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ED268785-733D-5B1B-647E-D12A7F35D4A9}"/>
              </a:ext>
            </a:extLst>
          </p:cNvPr>
          <p:cNvSpPr txBox="1"/>
          <p:nvPr/>
        </p:nvSpPr>
        <p:spPr>
          <a:xfrm>
            <a:off x="1201153" y="668830"/>
            <a:ext cx="1168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Quota Mgt</a:t>
            </a:r>
          </a:p>
        </p:txBody>
      </p:sp>
      <p:pic>
        <p:nvPicPr>
          <p:cNvPr id="159" name="Picture 10" descr="Database Icons - Free SVG &amp; PNG Database Images - Noun Project">
            <a:extLst>
              <a:ext uri="{FF2B5EF4-FFF2-40B4-BE49-F238E27FC236}">
                <a16:creationId xmlns:a16="http://schemas.microsoft.com/office/drawing/2014/main" id="{323F0B27-140C-E0C3-98F8-0C6363121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924" y="4482794"/>
            <a:ext cx="658722" cy="660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22FEA60D-78DC-6E5B-CE8A-255DB55B030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3804" y="5427298"/>
            <a:ext cx="541665" cy="483589"/>
          </a:xfrm>
          <a:prstGeom prst="rect">
            <a:avLst/>
          </a:prstGeom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275ADAB8-9D84-1BDB-741C-29E723EA1787}"/>
              </a:ext>
            </a:extLst>
          </p:cNvPr>
          <p:cNvSpPr txBox="1"/>
          <p:nvPr/>
        </p:nvSpPr>
        <p:spPr>
          <a:xfrm>
            <a:off x="4594017" y="5945115"/>
            <a:ext cx="951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Authority</a:t>
            </a:r>
          </a:p>
        </p:txBody>
      </p:sp>
      <p:pic>
        <p:nvPicPr>
          <p:cNvPr id="162" name="Picture 10" descr="Database Icons - Free SVG &amp; PNG Database Images - Noun Project">
            <a:extLst>
              <a:ext uri="{FF2B5EF4-FFF2-40B4-BE49-F238E27FC236}">
                <a16:creationId xmlns:a16="http://schemas.microsoft.com/office/drawing/2014/main" id="{AF97F848-1F3C-6AE5-53C8-2E8C4A764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979" y="4482794"/>
            <a:ext cx="658722" cy="660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33CFAA61-218B-DA6F-000A-3679E91793D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8348" y="5465935"/>
            <a:ext cx="541665" cy="483589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AE889A90-33D8-183C-7944-E4F2B8BB9A2B}"/>
              </a:ext>
            </a:extLst>
          </p:cNvPr>
          <p:cNvSpPr txBox="1"/>
          <p:nvPr/>
        </p:nvSpPr>
        <p:spPr>
          <a:xfrm>
            <a:off x="542803" y="5983752"/>
            <a:ext cx="951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Authority</a:t>
            </a:r>
          </a:p>
        </p:txBody>
      </p:sp>
      <p:cxnSp>
        <p:nvCxnSpPr>
          <p:cNvPr id="165" name="Straight Arrow Connector 56">
            <a:extLst>
              <a:ext uri="{FF2B5EF4-FFF2-40B4-BE49-F238E27FC236}">
                <a16:creationId xmlns:a16="http://schemas.microsoft.com/office/drawing/2014/main" id="{EC4F940C-C127-278F-28E3-A89439057A16}"/>
              </a:ext>
            </a:extLst>
          </p:cNvPr>
          <p:cNvCxnSpPr>
            <a:cxnSpLocks/>
          </p:cNvCxnSpPr>
          <p:nvPr/>
        </p:nvCxnSpPr>
        <p:spPr>
          <a:xfrm flipH="1">
            <a:off x="935895" y="3899179"/>
            <a:ext cx="1" cy="59627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56">
            <a:extLst>
              <a:ext uri="{FF2B5EF4-FFF2-40B4-BE49-F238E27FC236}">
                <a16:creationId xmlns:a16="http://schemas.microsoft.com/office/drawing/2014/main" id="{4362277C-27BC-4601-5F4C-A766131A7F94}"/>
              </a:ext>
            </a:extLst>
          </p:cNvPr>
          <p:cNvCxnSpPr>
            <a:cxnSpLocks/>
            <a:stCxn id="163" idx="0"/>
            <a:endCxn id="162" idx="2"/>
          </p:cNvCxnSpPr>
          <p:nvPr/>
        </p:nvCxnSpPr>
        <p:spPr>
          <a:xfrm flipH="1" flipV="1">
            <a:off x="994340" y="5143763"/>
            <a:ext cx="4841" cy="32217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3D52EDEA-8FB8-FCCA-EEDD-E9CAAA61A6AB}"/>
              </a:ext>
            </a:extLst>
          </p:cNvPr>
          <p:cNvSpPr txBox="1"/>
          <p:nvPr/>
        </p:nvSpPr>
        <p:spPr>
          <a:xfrm>
            <a:off x="1053390" y="5177991"/>
            <a:ext cx="1168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Quota Mgt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A825720-B833-DC55-AF96-1139F3D08287}"/>
              </a:ext>
            </a:extLst>
          </p:cNvPr>
          <p:cNvSpPr txBox="1"/>
          <p:nvPr/>
        </p:nvSpPr>
        <p:spPr>
          <a:xfrm>
            <a:off x="-45719" y="3959371"/>
            <a:ext cx="960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Stocks &amp; flows</a:t>
            </a:r>
          </a:p>
        </p:txBody>
      </p:sp>
      <p:cxnSp>
        <p:nvCxnSpPr>
          <p:cNvPr id="175" name="Straight Arrow Connector 56">
            <a:extLst>
              <a:ext uri="{FF2B5EF4-FFF2-40B4-BE49-F238E27FC236}">
                <a16:creationId xmlns:a16="http://schemas.microsoft.com/office/drawing/2014/main" id="{20C116F1-A2A9-A21E-5858-D01EACD60D3A}"/>
              </a:ext>
            </a:extLst>
          </p:cNvPr>
          <p:cNvCxnSpPr>
            <a:cxnSpLocks/>
            <a:stCxn id="1030" idx="3"/>
            <a:endCxn id="1050" idx="1"/>
          </p:cNvCxnSpPr>
          <p:nvPr/>
        </p:nvCxnSpPr>
        <p:spPr>
          <a:xfrm flipV="1">
            <a:off x="1258754" y="2709128"/>
            <a:ext cx="822785" cy="71771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02BC75B4-4042-3435-2DB7-3E6453EDC994}"/>
              </a:ext>
            </a:extLst>
          </p:cNvPr>
          <p:cNvSpPr txBox="1"/>
          <p:nvPr/>
        </p:nvSpPr>
        <p:spPr>
          <a:xfrm>
            <a:off x="1653111" y="3004595"/>
            <a:ext cx="856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 + </a:t>
            </a: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</a:t>
            </a:r>
            <a:endParaRPr kumimoji="0" lang="en-A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0" name="Straight Arrow Connector 56">
            <a:extLst>
              <a:ext uri="{FF2B5EF4-FFF2-40B4-BE49-F238E27FC236}">
                <a16:creationId xmlns:a16="http://schemas.microsoft.com/office/drawing/2014/main" id="{13D8831C-3AD5-86EE-7E2B-16C84D894B59}"/>
              </a:ext>
            </a:extLst>
          </p:cNvPr>
          <p:cNvCxnSpPr>
            <a:cxnSpLocks/>
          </p:cNvCxnSpPr>
          <p:nvPr/>
        </p:nvCxnSpPr>
        <p:spPr>
          <a:xfrm flipH="1" flipV="1">
            <a:off x="5064956" y="5092089"/>
            <a:ext cx="4841" cy="32217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8AB45D92-1099-8724-FE0D-5C04C8E788CE}"/>
              </a:ext>
            </a:extLst>
          </p:cNvPr>
          <p:cNvSpPr txBox="1"/>
          <p:nvPr/>
        </p:nvSpPr>
        <p:spPr>
          <a:xfrm>
            <a:off x="5119165" y="5150960"/>
            <a:ext cx="1168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Quota Mgt</a:t>
            </a:r>
          </a:p>
        </p:txBody>
      </p:sp>
      <p:cxnSp>
        <p:nvCxnSpPr>
          <p:cNvPr id="186" name="Straight Arrow Connector 56">
            <a:extLst>
              <a:ext uri="{FF2B5EF4-FFF2-40B4-BE49-F238E27FC236}">
                <a16:creationId xmlns:a16="http://schemas.microsoft.com/office/drawing/2014/main" id="{A408EC6A-2857-5E3A-16E4-F9A270AF8DAA}"/>
              </a:ext>
            </a:extLst>
          </p:cNvPr>
          <p:cNvCxnSpPr>
            <a:cxnSpLocks/>
            <a:stCxn id="1032" idx="3"/>
            <a:endCxn id="142" idx="1"/>
          </p:cNvCxnSpPr>
          <p:nvPr/>
        </p:nvCxnSpPr>
        <p:spPr>
          <a:xfrm flipV="1">
            <a:off x="5247501" y="2693208"/>
            <a:ext cx="643213" cy="7782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DD0880FA-1C32-5A36-21EA-C1FFD543265F}"/>
              </a:ext>
            </a:extLst>
          </p:cNvPr>
          <p:cNvSpPr txBox="1"/>
          <p:nvPr/>
        </p:nvSpPr>
        <p:spPr>
          <a:xfrm>
            <a:off x="5591494" y="3046771"/>
            <a:ext cx="947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 + </a:t>
            </a: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</a:t>
            </a:r>
            <a:endParaRPr kumimoji="0" lang="en-A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92" name="Straight Arrow Connector 56">
            <a:extLst>
              <a:ext uri="{FF2B5EF4-FFF2-40B4-BE49-F238E27FC236}">
                <a16:creationId xmlns:a16="http://schemas.microsoft.com/office/drawing/2014/main" id="{DE36B615-A27E-57A8-2172-6CB0FDDB8F79}"/>
              </a:ext>
            </a:extLst>
          </p:cNvPr>
          <p:cNvCxnSpPr>
            <a:cxnSpLocks/>
            <a:stCxn id="1040" idx="3"/>
            <a:endCxn id="2" idx="1"/>
          </p:cNvCxnSpPr>
          <p:nvPr/>
        </p:nvCxnSpPr>
        <p:spPr>
          <a:xfrm flipV="1">
            <a:off x="3898998" y="2676058"/>
            <a:ext cx="664865" cy="808177"/>
          </a:xfrm>
          <a:prstGeom prst="bentConnector3">
            <a:avLst>
              <a:gd name="adj1" fmla="val 67434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56">
            <a:extLst>
              <a:ext uri="{FF2B5EF4-FFF2-40B4-BE49-F238E27FC236}">
                <a16:creationId xmlns:a16="http://schemas.microsoft.com/office/drawing/2014/main" id="{9EB5C4A1-8B43-8976-E467-93ED967DCF63}"/>
              </a:ext>
            </a:extLst>
          </p:cNvPr>
          <p:cNvCxnSpPr>
            <a:cxnSpLocks/>
            <a:stCxn id="1042" idx="3"/>
          </p:cNvCxnSpPr>
          <p:nvPr/>
        </p:nvCxnSpPr>
        <p:spPr>
          <a:xfrm flipV="1">
            <a:off x="7692873" y="2755034"/>
            <a:ext cx="856600" cy="772781"/>
          </a:xfrm>
          <a:prstGeom prst="bentConnector3">
            <a:avLst>
              <a:gd name="adj1" fmla="val 60524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56">
            <a:extLst>
              <a:ext uri="{FF2B5EF4-FFF2-40B4-BE49-F238E27FC236}">
                <a16:creationId xmlns:a16="http://schemas.microsoft.com/office/drawing/2014/main" id="{DA3F99D3-B8A7-9A23-1160-6E67134943BF}"/>
              </a:ext>
            </a:extLst>
          </p:cNvPr>
          <p:cNvCxnSpPr>
            <a:cxnSpLocks/>
            <a:stCxn id="53" idx="0"/>
            <a:endCxn id="16" idx="1"/>
          </p:cNvCxnSpPr>
          <p:nvPr/>
        </p:nvCxnSpPr>
        <p:spPr>
          <a:xfrm flipV="1">
            <a:off x="8953026" y="2715190"/>
            <a:ext cx="782550" cy="799684"/>
          </a:xfrm>
          <a:prstGeom prst="bentConnector3">
            <a:avLst>
              <a:gd name="adj1" fmla="val 6152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56">
            <a:extLst>
              <a:ext uri="{FF2B5EF4-FFF2-40B4-BE49-F238E27FC236}">
                <a16:creationId xmlns:a16="http://schemas.microsoft.com/office/drawing/2014/main" id="{F3BFFF35-334C-81F3-3F8E-D2C27E6302F1}"/>
              </a:ext>
            </a:extLst>
          </p:cNvPr>
          <p:cNvCxnSpPr>
            <a:cxnSpLocks/>
            <a:stCxn id="1046" idx="3"/>
          </p:cNvCxnSpPr>
          <p:nvPr/>
        </p:nvCxnSpPr>
        <p:spPr>
          <a:xfrm flipV="1">
            <a:off x="10285615" y="2679568"/>
            <a:ext cx="853815" cy="797538"/>
          </a:xfrm>
          <a:prstGeom prst="bentConnector3">
            <a:avLst>
              <a:gd name="adj1" fmla="val 57542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1CC520C0-C375-2A72-E29E-1885360F5D51}"/>
              </a:ext>
            </a:extLst>
          </p:cNvPr>
          <p:cNvSpPr txBox="1"/>
          <p:nvPr/>
        </p:nvSpPr>
        <p:spPr>
          <a:xfrm>
            <a:off x="3862188" y="3232338"/>
            <a:ext cx="606528" cy="31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AAC6291B-3121-7EE0-3FC7-1D9FEBE7EF73}"/>
              </a:ext>
            </a:extLst>
          </p:cNvPr>
          <p:cNvSpPr txBox="1"/>
          <p:nvPr/>
        </p:nvSpPr>
        <p:spPr>
          <a:xfrm>
            <a:off x="7710737" y="3215269"/>
            <a:ext cx="606528" cy="31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E1DB82C0-5D35-DAA8-CF58-C81E1E6557EB}"/>
              </a:ext>
            </a:extLst>
          </p:cNvPr>
          <p:cNvSpPr txBox="1"/>
          <p:nvPr/>
        </p:nvSpPr>
        <p:spPr>
          <a:xfrm>
            <a:off x="8929335" y="3239233"/>
            <a:ext cx="606528" cy="31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A1370B3B-2AC0-383C-A333-84ECF6AA521F}"/>
              </a:ext>
            </a:extLst>
          </p:cNvPr>
          <p:cNvSpPr txBox="1"/>
          <p:nvPr/>
        </p:nvSpPr>
        <p:spPr>
          <a:xfrm>
            <a:off x="10305397" y="3197037"/>
            <a:ext cx="606528" cy="31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DPP</a:t>
            </a:r>
          </a:p>
        </p:txBody>
      </p:sp>
      <p:cxnSp>
        <p:nvCxnSpPr>
          <p:cNvPr id="214" name="Straight Arrow Connector 56">
            <a:extLst>
              <a:ext uri="{FF2B5EF4-FFF2-40B4-BE49-F238E27FC236}">
                <a16:creationId xmlns:a16="http://schemas.microsoft.com/office/drawing/2014/main" id="{BE192132-AE26-0165-B8C6-AA1AF636F55C}"/>
              </a:ext>
            </a:extLst>
          </p:cNvPr>
          <p:cNvCxnSpPr>
            <a:cxnSpLocks/>
            <a:stCxn id="1050" idx="3"/>
            <a:endCxn id="1026" idx="1"/>
          </p:cNvCxnSpPr>
          <p:nvPr/>
        </p:nvCxnSpPr>
        <p:spPr>
          <a:xfrm flipV="1">
            <a:off x="2711014" y="2703649"/>
            <a:ext cx="701865" cy="547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56">
            <a:extLst>
              <a:ext uri="{FF2B5EF4-FFF2-40B4-BE49-F238E27FC236}">
                <a16:creationId xmlns:a16="http://schemas.microsoft.com/office/drawing/2014/main" id="{2B85EB45-4174-4D18-F531-2CF9DC9B2411}"/>
              </a:ext>
            </a:extLst>
          </p:cNvPr>
          <p:cNvCxnSpPr>
            <a:cxnSpLocks/>
            <a:stCxn id="142" idx="3"/>
            <a:endCxn id="140" idx="1"/>
          </p:cNvCxnSpPr>
          <p:nvPr/>
        </p:nvCxnSpPr>
        <p:spPr>
          <a:xfrm flipV="1">
            <a:off x="6520189" y="2684391"/>
            <a:ext cx="640509" cy="881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56">
            <a:extLst>
              <a:ext uri="{FF2B5EF4-FFF2-40B4-BE49-F238E27FC236}">
                <a16:creationId xmlns:a16="http://schemas.microsoft.com/office/drawing/2014/main" id="{44EBEEFB-6F86-1493-9F53-F0C3C2A01934}"/>
              </a:ext>
            </a:extLst>
          </p:cNvPr>
          <p:cNvCxnSpPr>
            <a:cxnSpLocks/>
          </p:cNvCxnSpPr>
          <p:nvPr/>
        </p:nvCxnSpPr>
        <p:spPr>
          <a:xfrm flipH="1">
            <a:off x="1105248" y="3899179"/>
            <a:ext cx="1" cy="596274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690BE187-7C72-AB20-2C32-005C468E075E}"/>
              </a:ext>
            </a:extLst>
          </p:cNvPr>
          <p:cNvSpPr txBox="1"/>
          <p:nvPr/>
        </p:nvSpPr>
        <p:spPr>
          <a:xfrm>
            <a:off x="1113554" y="4010458"/>
            <a:ext cx="116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Guarantee of origin (</a:t>
            </a: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cxnSp>
        <p:nvCxnSpPr>
          <p:cNvPr id="227" name="Straight Arrow Connector 56">
            <a:extLst>
              <a:ext uri="{FF2B5EF4-FFF2-40B4-BE49-F238E27FC236}">
                <a16:creationId xmlns:a16="http://schemas.microsoft.com/office/drawing/2014/main" id="{3A551F56-C588-136E-87BF-E1486E5EEB37}"/>
              </a:ext>
            </a:extLst>
          </p:cNvPr>
          <p:cNvCxnSpPr>
            <a:cxnSpLocks/>
          </p:cNvCxnSpPr>
          <p:nvPr/>
        </p:nvCxnSpPr>
        <p:spPr>
          <a:xfrm flipH="1">
            <a:off x="4955242" y="3934824"/>
            <a:ext cx="1" cy="59627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BB468262-66E5-A04B-49BD-BDF05D01F63A}"/>
              </a:ext>
            </a:extLst>
          </p:cNvPr>
          <p:cNvSpPr txBox="1"/>
          <p:nvPr/>
        </p:nvSpPr>
        <p:spPr>
          <a:xfrm>
            <a:off x="3973628" y="3995016"/>
            <a:ext cx="960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Stocks &amp; flows</a:t>
            </a:r>
          </a:p>
        </p:txBody>
      </p:sp>
      <p:cxnSp>
        <p:nvCxnSpPr>
          <p:cNvPr id="229" name="Straight Arrow Connector 56">
            <a:extLst>
              <a:ext uri="{FF2B5EF4-FFF2-40B4-BE49-F238E27FC236}">
                <a16:creationId xmlns:a16="http://schemas.microsoft.com/office/drawing/2014/main" id="{AD61E2BB-BB87-F023-41DF-E46D2B9224AC}"/>
              </a:ext>
            </a:extLst>
          </p:cNvPr>
          <p:cNvCxnSpPr>
            <a:cxnSpLocks/>
          </p:cNvCxnSpPr>
          <p:nvPr/>
        </p:nvCxnSpPr>
        <p:spPr>
          <a:xfrm flipH="1">
            <a:off x="5124595" y="3934824"/>
            <a:ext cx="1" cy="596274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0D291F8C-0C59-50DC-C6D0-41BB6DB881C7}"/>
              </a:ext>
            </a:extLst>
          </p:cNvPr>
          <p:cNvSpPr txBox="1"/>
          <p:nvPr/>
        </p:nvSpPr>
        <p:spPr>
          <a:xfrm>
            <a:off x="5132901" y="4046103"/>
            <a:ext cx="116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Guarantee of origin (</a:t>
            </a:r>
            <a:r>
              <a:rPr kumimoji="0" lang="en-A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GoO</a:t>
            </a: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31" name="Rounded Rectangular Callout 230">
            <a:extLst>
              <a:ext uri="{FF2B5EF4-FFF2-40B4-BE49-F238E27FC236}">
                <a16:creationId xmlns:a16="http://schemas.microsoft.com/office/drawing/2014/main" id="{D7BD9809-AC33-79ED-7D23-1F620F7F0215}"/>
              </a:ext>
            </a:extLst>
          </p:cNvPr>
          <p:cNvSpPr/>
          <p:nvPr/>
        </p:nvSpPr>
        <p:spPr>
          <a:xfrm>
            <a:off x="2495285" y="4566027"/>
            <a:ext cx="1133321" cy="612648"/>
          </a:xfrm>
          <a:prstGeom prst="wedgeRoundRectCallout">
            <a:avLst>
              <a:gd name="adj1" fmla="val -7197"/>
              <a:gd name="adj2" fmla="val -347422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Redacted DPP &amp; GO</a:t>
            </a:r>
          </a:p>
        </p:txBody>
      </p:sp>
      <p:sp>
        <p:nvSpPr>
          <p:cNvPr id="232" name="Rounded Rectangular Callout 231">
            <a:extLst>
              <a:ext uri="{FF2B5EF4-FFF2-40B4-BE49-F238E27FC236}">
                <a16:creationId xmlns:a16="http://schemas.microsoft.com/office/drawing/2014/main" id="{C5A2B4CC-600D-C6B1-8D20-87FD111B9FBB}"/>
              </a:ext>
            </a:extLst>
          </p:cNvPr>
          <p:cNvSpPr/>
          <p:nvPr/>
        </p:nvSpPr>
        <p:spPr>
          <a:xfrm>
            <a:off x="6349001" y="4466588"/>
            <a:ext cx="1133321" cy="612648"/>
          </a:xfrm>
          <a:prstGeom prst="wedgeRoundRectCallout">
            <a:avLst>
              <a:gd name="adj1" fmla="val -7197"/>
              <a:gd name="adj2" fmla="val -347422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Redacted DPP &amp; 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27D8C3-8906-2A2E-08F0-1FD40F5BA459}"/>
              </a:ext>
            </a:extLst>
          </p:cNvPr>
          <p:cNvSpPr txBox="1"/>
          <p:nvPr/>
        </p:nvSpPr>
        <p:spPr>
          <a:xfrm>
            <a:off x="2384455" y="6267000"/>
            <a:ext cx="2415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Mass-Balance </a:t>
            </a:r>
            <a:r>
              <a:rPr lang="en-AU" sz="1600" b="1" dirty="0">
                <a:solidFill>
                  <a:prstClr val="black"/>
                </a:solidFill>
                <a:latin typeface="Calibri" panose="020F0502020204030204"/>
              </a:rPr>
              <a:t>+</a:t>
            </a: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redaction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ADFDEB-8BC1-19E8-1C70-53A7425A1C4E}"/>
              </a:ext>
            </a:extLst>
          </p:cNvPr>
          <p:cNvSpPr txBox="1"/>
          <p:nvPr/>
        </p:nvSpPr>
        <p:spPr>
          <a:xfrm>
            <a:off x="4638613" y="95581"/>
            <a:ext cx="24152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Book &amp; Claim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600" b="1" dirty="0">
                <a:solidFill>
                  <a:prstClr val="black"/>
                </a:solidFill>
                <a:latin typeface="Calibri" panose="020F0502020204030204"/>
              </a:rPr>
              <a:t>(Supply Shed)</a:t>
            </a:r>
            <a:endParaRPr kumimoji="0" lang="en-AU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635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117785</TotalTime>
  <Words>1458</Words>
  <Application>Microsoft Macintosh PowerPoint</Application>
  <PresentationFormat>Widescreen</PresentationFormat>
  <Paragraphs>854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Arial Black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CAREC meeting</dc:title>
  <dc:creator>Ian Watt</dc:creator>
  <cp:lastModifiedBy>Steve Capell</cp:lastModifiedBy>
  <cp:revision>299</cp:revision>
  <cp:lastPrinted>2024-02-01T04:18:00Z</cp:lastPrinted>
  <dcterms:created xsi:type="dcterms:W3CDTF">2019-08-14T01:25:40Z</dcterms:created>
  <dcterms:modified xsi:type="dcterms:W3CDTF">2025-05-28T23:30:41Z</dcterms:modified>
</cp:coreProperties>
</file>